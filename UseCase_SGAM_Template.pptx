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35" r:id="rId2"/>
    <p:sldId id="256" r:id="rId3"/>
    <p:sldId id="324" r:id="rId4"/>
    <p:sldId id="336" r:id="rId5"/>
    <p:sldId id="325" r:id="rId6"/>
    <p:sldId id="263" r:id="rId7"/>
    <p:sldId id="264" r:id="rId8"/>
    <p:sldId id="285" r:id="rId9"/>
    <p:sldId id="318" r:id="rId10"/>
    <p:sldId id="301" r:id="rId11"/>
    <p:sldId id="319" r:id="rId12"/>
    <p:sldId id="291" r:id="rId13"/>
    <p:sldId id="317" r:id="rId14"/>
    <p:sldId id="289" r:id="rId15"/>
    <p:sldId id="315" r:id="rId16"/>
    <p:sldId id="287" r:id="rId17"/>
    <p:sldId id="316" r:id="rId18"/>
  </p:sldIdLst>
  <p:sldSz cx="6858000" cy="9144000" type="screen4x3"/>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02"/>
    <p:restoredTop sz="94728"/>
  </p:normalViewPr>
  <p:slideViewPr>
    <p:cSldViewPr>
      <p:cViewPr>
        <p:scale>
          <a:sx n="100" d="100"/>
          <a:sy n="100" d="100"/>
        </p:scale>
        <p:origin x="1748" y="-604"/>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514350" y="2840569"/>
            <a:ext cx="5829300" cy="1960033"/>
          </a:xfrm>
        </p:spPr>
        <p:txBody>
          <a:bodyPr/>
          <a:lstStyle/>
          <a:p>
            <a:r>
              <a:rPr lang="de-DE"/>
              <a:t>Titelmasterformat durch Klicken bearbeiten</a:t>
            </a:r>
          </a:p>
        </p:txBody>
      </p:sp>
      <p:sp>
        <p:nvSpPr>
          <p:cNvPr id="3" name="Untertitel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de-DE"/>
              <a:t>Formatvorlage des Untertitelmasters durch Klicken bearbeiten</a:t>
            </a:r>
          </a:p>
        </p:txBody>
      </p:sp>
      <p:sp>
        <p:nvSpPr>
          <p:cNvPr id="4" name="Datumsplatzhalter 3"/>
          <p:cNvSpPr>
            <a:spLocks noGrp="1"/>
          </p:cNvSpPr>
          <p:nvPr>
            <p:ph type="dt" sz="half" idx="10"/>
          </p:nvPr>
        </p:nvSpPr>
        <p:spPr/>
        <p:txBody>
          <a:bodyPr/>
          <a:lstStyle/>
          <a:p>
            <a:fld id="{1BA50D42-C9CD-4801-B293-61D1F53EC57E}" type="datetimeFigureOut">
              <a:rPr lang="de-DE" smtClean="0"/>
              <a:pPr/>
              <a:t>17.12.2025</a:t>
            </a:fld>
            <a:endParaRPr lang="de-DE" dirty="0"/>
          </a:p>
        </p:txBody>
      </p:sp>
      <p:sp>
        <p:nvSpPr>
          <p:cNvPr id="5" name="Fußzeilenplatzhalter 4"/>
          <p:cNvSpPr>
            <a:spLocks noGrp="1"/>
          </p:cNvSpPr>
          <p:nvPr>
            <p:ph type="ftr" sz="quarter" idx="11"/>
          </p:nvPr>
        </p:nvSpPr>
        <p:spPr/>
        <p:txBody>
          <a:bodyPr/>
          <a:lstStyle/>
          <a:p>
            <a:endParaRPr lang="de-DE" dirty="0"/>
          </a:p>
        </p:txBody>
      </p:sp>
      <p:sp>
        <p:nvSpPr>
          <p:cNvPr id="6" name="Foliennummernplatzhalter 5"/>
          <p:cNvSpPr>
            <a:spLocks noGrp="1"/>
          </p:cNvSpPr>
          <p:nvPr>
            <p:ph type="sldNum" sz="quarter" idx="12"/>
          </p:nvPr>
        </p:nvSpPr>
        <p:spPr/>
        <p:txBody>
          <a:bodyPr/>
          <a:lstStyle/>
          <a:p>
            <a:fld id="{6C6AE60A-B69C-4790-82F7-3882EDF23186}" type="slidenum">
              <a:rPr lang="de-DE" smtClean="0"/>
              <a:pPr/>
              <a:t>‹#›</a:t>
            </a:fld>
            <a:endParaRPr lang="de-DE"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1BA50D42-C9CD-4801-B293-61D1F53EC57E}" type="datetimeFigureOut">
              <a:rPr lang="de-DE" smtClean="0"/>
              <a:pPr/>
              <a:t>17.12.2025</a:t>
            </a:fld>
            <a:endParaRPr lang="de-DE" dirty="0"/>
          </a:p>
        </p:txBody>
      </p:sp>
      <p:sp>
        <p:nvSpPr>
          <p:cNvPr id="5" name="Fußzeilenplatzhalter 4"/>
          <p:cNvSpPr>
            <a:spLocks noGrp="1"/>
          </p:cNvSpPr>
          <p:nvPr>
            <p:ph type="ftr" sz="quarter" idx="11"/>
          </p:nvPr>
        </p:nvSpPr>
        <p:spPr/>
        <p:txBody>
          <a:bodyPr/>
          <a:lstStyle/>
          <a:p>
            <a:endParaRPr lang="de-DE" dirty="0"/>
          </a:p>
        </p:txBody>
      </p:sp>
      <p:sp>
        <p:nvSpPr>
          <p:cNvPr id="6" name="Foliennummernplatzhalter 5"/>
          <p:cNvSpPr>
            <a:spLocks noGrp="1"/>
          </p:cNvSpPr>
          <p:nvPr>
            <p:ph type="sldNum" sz="quarter" idx="12"/>
          </p:nvPr>
        </p:nvSpPr>
        <p:spPr/>
        <p:txBody>
          <a:bodyPr/>
          <a:lstStyle/>
          <a:p>
            <a:fld id="{6C6AE60A-B69C-4790-82F7-3882EDF23186}" type="slidenum">
              <a:rPr lang="de-DE" smtClean="0"/>
              <a:pPr/>
              <a:t>‹#›</a:t>
            </a:fld>
            <a:endParaRPr lang="de-DE"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541735" y="5875867"/>
            <a:ext cx="5829300" cy="1816100"/>
          </a:xfrm>
        </p:spPr>
        <p:txBody>
          <a:bodyPr anchor="t"/>
          <a:lstStyle>
            <a:lvl1pPr algn="l">
              <a:defRPr sz="4000" b="1" cap="all"/>
            </a:lvl1pPr>
          </a:lstStyle>
          <a:p>
            <a:r>
              <a:rPr lang="de-DE"/>
              <a:t>Titelmasterformat durch Klicken bearbeiten</a:t>
            </a:r>
          </a:p>
        </p:txBody>
      </p:sp>
      <p:sp>
        <p:nvSpPr>
          <p:cNvPr id="3" name="Textplatzhalter 2"/>
          <p:cNvSpPr>
            <a:spLocks noGrp="1"/>
          </p:cNvSpPr>
          <p:nvPr>
            <p:ph type="body" idx="1"/>
          </p:nvPr>
        </p:nvSpPr>
        <p:spPr>
          <a:xfrm>
            <a:off x="541735" y="3875620"/>
            <a:ext cx="5829300" cy="2000249"/>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8"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2"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de-DE"/>
              <a:t>Textmasterformate durch Klicken bearbeiten</a:t>
            </a:r>
          </a:p>
        </p:txBody>
      </p:sp>
      <p:sp>
        <p:nvSpPr>
          <p:cNvPr id="4" name="Datumsplatzhalter 3"/>
          <p:cNvSpPr>
            <a:spLocks noGrp="1"/>
          </p:cNvSpPr>
          <p:nvPr>
            <p:ph type="dt" sz="half" idx="10"/>
          </p:nvPr>
        </p:nvSpPr>
        <p:spPr/>
        <p:txBody>
          <a:bodyPr/>
          <a:lstStyle/>
          <a:p>
            <a:fld id="{1BA50D42-C9CD-4801-B293-61D1F53EC57E}" type="datetimeFigureOut">
              <a:rPr lang="de-DE" smtClean="0"/>
              <a:pPr/>
              <a:t>17.12.2025</a:t>
            </a:fld>
            <a:endParaRPr lang="de-DE" dirty="0"/>
          </a:p>
        </p:txBody>
      </p:sp>
      <p:sp>
        <p:nvSpPr>
          <p:cNvPr id="5" name="Fußzeilenplatzhalter 4"/>
          <p:cNvSpPr>
            <a:spLocks noGrp="1"/>
          </p:cNvSpPr>
          <p:nvPr>
            <p:ph type="ftr" sz="quarter" idx="11"/>
          </p:nvPr>
        </p:nvSpPr>
        <p:spPr/>
        <p:txBody>
          <a:bodyPr/>
          <a:lstStyle/>
          <a:p>
            <a:endParaRPr lang="de-DE" dirty="0"/>
          </a:p>
        </p:txBody>
      </p:sp>
      <p:sp>
        <p:nvSpPr>
          <p:cNvPr id="6" name="Foliennummernplatzhalter 5"/>
          <p:cNvSpPr>
            <a:spLocks noGrp="1"/>
          </p:cNvSpPr>
          <p:nvPr>
            <p:ph type="sldNum" sz="quarter" idx="12"/>
          </p:nvPr>
        </p:nvSpPr>
        <p:spPr/>
        <p:txBody>
          <a:bodyPr/>
          <a:lstStyle/>
          <a:p>
            <a:fld id="{6C6AE60A-B69C-4790-82F7-3882EDF23186}" type="slidenum">
              <a:rPr lang="de-DE" smtClean="0"/>
              <a:pPr/>
              <a:t>‹#›</a:t>
            </a:fld>
            <a:endParaRPr lang="de-DE"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342900" y="2133602"/>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3486150" y="2133602"/>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fld id="{1BA50D42-C9CD-4801-B293-61D1F53EC57E}" type="datetimeFigureOut">
              <a:rPr lang="de-DE" smtClean="0"/>
              <a:pPr/>
              <a:t>17.12.2025</a:t>
            </a:fld>
            <a:endParaRPr lang="de-DE" dirty="0"/>
          </a:p>
        </p:txBody>
      </p:sp>
      <p:sp>
        <p:nvSpPr>
          <p:cNvPr id="6" name="Fußzeilenplatzhalter 5"/>
          <p:cNvSpPr>
            <a:spLocks noGrp="1"/>
          </p:cNvSpPr>
          <p:nvPr>
            <p:ph type="ftr" sz="quarter" idx="11"/>
          </p:nvPr>
        </p:nvSpPr>
        <p:spPr/>
        <p:txBody>
          <a:bodyPr/>
          <a:lstStyle/>
          <a:p>
            <a:endParaRPr lang="de-DE" dirty="0"/>
          </a:p>
        </p:txBody>
      </p:sp>
      <p:sp>
        <p:nvSpPr>
          <p:cNvPr id="7" name="Foliennummernplatzhalter 6"/>
          <p:cNvSpPr>
            <a:spLocks noGrp="1"/>
          </p:cNvSpPr>
          <p:nvPr>
            <p:ph type="sldNum" sz="quarter" idx="12"/>
          </p:nvPr>
        </p:nvSpPr>
        <p:spPr/>
        <p:txBody>
          <a:bodyPr/>
          <a:lstStyle/>
          <a:p>
            <a:fld id="{6C6AE60A-B69C-4790-82F7-3882EDF23186}" type="slidenum">
              <a:rPr lang="de-DE" smtClean="0"/>
              <a:pPr/>
              <a:t>‹#›</a:t>
            </a:fld>
            <a:endParaRPr lang="de-DE"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a:t>Titelmasterformat durch Klicken bearbeiten</a:t>
            </a:r>
          </a:p>
        </p:txBody>
      </p:sp>
      <p:sp>
        <p:nvSpPr>
          <p:cNvPr id="3" name="Textplatzhalter 2"/>
          <p:cNvSpPr>
            <a:spLocks noGrp="1"/>
          </p:cNvSpPr>
          <p:nvPr>
            <p:ph type="body" idx="1"/>
          </p:nvPr>
        </p:nvSpPr>
        <p:spPr>
          <a:xfrm>
            <a:off x="342901" y="2046817"/>
            <a:ext cx="3030141" cy="853016"/>
          </a:xfrm>
        </p:spPr>
        <p:txBody>
          <a:bodyPr anchor="b"/>
          <a:lstStyle>
            <a:lvl1pPr marL="0" indent="0">
              <a:buNone/>
              <a:defRPr sz="2400" b="1"/>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de-DE"/>
              <a:t>Textmasterformate durch Klicken bearbeiten</a:t>
            </a:r>
          </a:p>
        </p:txBody>
      </p:sp>
      <p:sp>
        <p:nvSpPr>
          <p:cNvPr id="4" name="Inhaltsplatzhalter 3"/>
          <p:cNvSpPr>
            <a:spLocks noGrp="1"/>
          </p:cNvSpPr>
          <p:nvPr>
            <p:ph sz="half" idx="2"/>
          </p:nvPr>
        </p:nvSpPr>
        <p:spPr>
          <a:xfrm>
            <a:off x="342901"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3483770" y="2046817"/>
            <a:ext cx="3031331" cy="853016"/>
          </a:xfrm>
        </p:spPr>
        <p:txBody>
          <a:bodyPr anchor="b"/>
          <a:lstStyle>
            <a:lvl1pPr marL="0" indent="0">
              <a:buNone/>
              <a:defRPr sz="2400" b="1"/>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de-DE"/>
              <a:t>Textmasterformate durch Klicken bearbeiten</a:t>
            </a:r>
          </a:p>
        </p:txBody>
      </p:sp>
      <p:sp>
        <p:nvSpPr>
          <p:cNvPr id="6" name="Inhaltsplatzhalter 5"/>
          <p:cNvSpPr>
            <a:spLocks noGrp="1"/>
          </p:cNvSpPr>
          <p:nvPr>
            <p:ph sz="quarter" idx="4"/>
          </p:nvPr>
        </p:nvSpPr>
        <p:spPr>
          <a:xfrm>
            <a:off x="3483770"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p:cNvSpPr>
            <a:spLocks noGrp="1"/>
          </p:cNvSpPr>
          <p:nvPr>
            <p:ph type="dt" sz="half" idx="10"/>
          </p:nvPr>
        </p:nvSpPr>
        <p:spPr/>
        <p:txBody>
          <a:bodyPr/>
          <a:lstStyle/>
          <a:p>
            <a:fld id="{1BA50D42-C9CD-4801-B293-61D1F53EC57E}" type="datetimeFigureOut">
              <a:rPr lang="de-DE" smtClean="0"/>
              <a:pPr/>
              <a:t>17.12.2025</a:t>
            </a:fld>
            <a:endParaRPr lang="de-DE" dirty="0"/>
          </a:p>
        </p:txBody>
      </p:sp>
      <p:sp>
        <p:nvSpPr>
          <p:cNvPr id="8" name="Fußzeilenplatzhalter 7"/>
          <p:cNvSpPr>
            <a:spLocks noGrp="1"/>
          </p:cNvSpPr>
          <p:nvPr>
            <p:ph type="ftr" sz="quarter" idx="11"/>
          </p:nvPr>
        </p:nvSpPr>
        <p:spPr/>
        <p:txBody>
          <a:bodyPr/>
          <a:lstStyle/>
          <a:p>
            <a:endParaRPr lang="de-DE" dirty="0"/>
          </a:p>
        </p:txBody>
      </p:sp>
      <p:sp>
        <p:nvSpPr>
          <p:cNvPr id="9" name="Foliennummernplatzhalter 8"/>
          <p:cNvSpPr>
            <a:spLocks noGrp="1"/>
          </p:cNvSpPr>
          <p:nvPr>
            <p:ph type="sldNum" sz="quarter" idx="12"/>
          </p:nvPr>
        </p:nvSpPr>
        <p:spPr/>
        <p:txBody>
          <a:bodyPr/>
          <a:lstStyle/>
          <a:p>
            <a:fld id="{6C6AE60A-B69C-4790-82F7-3882EDF23186}" type="slidenum">
              <a:rPr lang="de-DE" smtClean="0"/>
              <a:pPr/>
              <a:t>‹#›</a:t>
            </a:fld>
            <a:endParaRPr lang="de-DE"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Datumsplatzhalter 2"/>
          <p:cNvSpPr>
            <a:spLocks noGrp="1"/>
          </p:cNvSpPr>
          <p:nvPr>
            <p:ph type="dt" sz="half" idx="10"/>
          </p:nvPr>
        </p:nvSpPr>
        <p:spPr/>
        <p:txBody>
          <a:bodyPr/>
          <a:lstStyle/>
          <a:p>
            <a:fld id="{1BA50D42-C9CD-4801-B293-61D1F53EC57E}" type="datetimeFigureOut">
              <a:rPr lang="de-DE" smtClean="0"/>
              <a:pPr/>
              <a:t>17.12.2025</a:t>
            </a:fld>
            <a:endParaRPr lang="de-DE" dirty="0"/>
          </a:p>
        </p:txBody>
      </p:sp>
      <p:sp>
        <p:nvSpPr>
          <p:cNvPr id="4" name="Fußzeilenplatzhalter 3"/>
          <p:cNvSpPr>
            <a:spLocks noGrp="1"/>
          </p:cNvSpPr>
          <p:nvPr>
            <p:ph type="ftr" sz="quarter" idx="11"/>
          </p:nvPr>
        </p:nvSpPr>
        <p:spPr/>
        <p:txBody>
          <a:bodyPr/>
          <a:lstStyle/>
          <a:p>
            <a:endParaRPr lang="de-DE" dirty="0"/>
          </a:p>
        </p:txBody>
      </p:sp>
      <p:sp>
        <p:nvSpPr>
          <p:cNvPr id="5" name="Foliennummernplatzhalter 4"/>
          <p:cNvSpPr>
            <a:spLocks noGrp="1"/>
          </p:cNvSpPr>
          <p:nvPr>
            <p:ph type="sldNum" sz="quarter" idx="12"/>
          </p:nvPr>
        </p:nvSpPr>
        <p:spPr/>
        <p:txBody>
          <a:bodyPr/>
          <a:lstStyle/>
          <a:p>
            <a:fld id="{6C6AE60A-B69C-4790-82F7-3882EDF23186}" type="slidenum">
              <a:rPr lang="de-DE" smtClean="0"/>
              <a:pPr/>
              <a:t>‹#›</a:t>
            </a:fld>
            <a:endParaRPr lang="de-DE"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1BA50D42-C9CD-4801-B293-61D1F53EC57E}" type="datetimeFigureOut">
              <a:rPr lang="de-DE" smtClean="0"/>
              <a:pPr/>
              <a:t>17.12.2025</a:t>
            </a:fld>
            <a:endParaRPr lang="de-DE" dirty="0"/>
          </a:p>
        </p:txBody>
      </p:sp>
      <p:sp>
        <p:nvSpPr>
          <p:cNvPr id="3" name="Fußzeilenplatzhalter 2"/>
          <p:cNvSpPr>
            <a:spLocks noGrp="1"/>
          </p:cNvSpPr>
          <p:nvPr>
            <p:ph type="ftr" sz="quarter" idx="11"/>
          </p:nvPr>
        </p:nvSpPr>
        <p:spPr/>
        <p:txBody>
          <a:bodyPr/>
          <a:lstStyle/>
          <a:p>
            <a:endParaRPr lang="de-DE" dirty="0"/>
          </a:p>
        </p:txBody>
      </p:sp>
      <p:sp>
        <p:nvSpPr>
          <p:cNvPr id="4" name="Foliennummernplatzhalter 3"/>
          <p:cNvSpPr>
            <a:spLocks noGrp="1"/>
          </p:cNvSpPr>
          <p:nvPr>
            <p:ph type="sldNum" sz="quarter" idx="12"/>
          </p:nvPr>
        </p:nvSpPr>
        <p:spPr/>
        <p:txBody>
          <a:bodyPr/>
          <a:lstStyle/>
          <a:p>
            <a:fld id="{6C6AE60A-B69C-4790-82F7-3882EDF23186}" type="slidenum">
              <a:rPr lang="de-DE" smtClean="0"/>
              <a:pPr/>
              <a:t>‹#›</a:t>
            </a:fld>
            <a:endParaRPr lang="de-DE"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342901" y="364067"/>
            <a:ext cx="2256235" cy="1549400"/>
          </a:xfrm>
        </p:spPr>
        <p:txBody>
          <a:bodyPr anchor="b"/>
          <a:lstStyle>
            <a:lvl1pPr algn="l">
              <a:defRPr sz="2000" b="1"/>
            </a:lvl1pPr>
          </a:lstStyle>
          <a:p>
            <a:r>
              <a:rPr lang="de-DE"/>
              <a:t>Titelmasterformat durch Klicken bearbeiten</a:t>
            </a:r>
          </a:p>
        </p:txBody>
      </p:sp>
      <p:sp>
        <p:nvSpPr>
          <p:cNvPr id="3" name="Inhaltsplatzhalter 2"/>
          <p:cNvSpPr>
            <a:spLocks noGrp="1"/>
          </p:cNvSpPr>
          <p:nvPr>
            <p:ph idx="1"/>
          </p:nvPr>
        </p:nvSpPr>
        <p:spPr>
          <a:xfrm>
            <a:off x="2681288" y="364069"/>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342901" y="1913469"/>
            <a:ext cx="2256235" cy="6254751"/>
          </a:xfrm>
        </p:spPr>
        <p:txBody>
          <a:bodyPr/>
          <a:lstStyle>
            <a:lvl1pPr marL="0" indent="0">
              <a:buNone/>
              <a:defRPr sz="1400"/>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r>
              <a:rPr lang="de-DE"/>
              <a:t>Textmasterformate durch Klicken bearbeiten</a:t>
            </a:r>
          </a:p>
        </p:txBody>
      </p:sp>
      <p:sp>
        <p:nvSpPr>
          <p:cNvPr id="5" name="Datumsplatzhalter 4"/>
          <p:cNvSpPr>
            <a:spLocks noGrp="1"/>
          </p:cNvSpPr>
          <p:nvPr>
            <p:ph type="dt" sz="half" idx="10"/>
          </p:nvPr>
        </p:nvSpPr>
        <p:spPr/>
        <p:txBody>
          <a:bodyPr/>
          <a:lstStyle/>
          <a:p>
            <a:fld id="{1BA50D42-C9CD-4801-B293-61D1F53EC57E}" type="datetimeFigureOut">
              <a:rPr lang="de-DE" smtClean="0"/>
              <a:pPr/>
              <a:t>17.12.2025</a:t>
            </a:fld>
            <a:endParaRPr lang="de-DE" dirty="0"/>
          </a:p>
        </p:txBody>
      </p:sp>
      <p:sp>
        <p:nvSpPr>
          <p:cNvPr id="6" name="Fußzeilenplatzhalter 5"/>
          <p:cNvSpPr>
            <a:spLocks noGrp="1"/>
          </p:cNvSpPr>
          <p:nvPr>
            <p:ph type="ftr" sz="quarter" idx="11"/>
          </p:nvPr>
        </p:nvSpPr>
        <p:spPr/>
        <p:txBody>
          <a:bodyPr/>
          <a:lstStyle/>
          <a:p>
            <a:endParaRPr lang="de-DE" dirty="0"/>
          </a:p>
        </p:txBody>
      </p:sp>
      <p:sp>
        <p:nvSpPr>
          <p:cNvPr id="7" name="Foliennummernplatzhalter 6"/>
          <p:cNvSpPr>
            <a:spLocks noGrp="1"/>
          </p:cNvSpPr>
          <p:nvPr>
            <p:ph type="sldNum" sz="quarter" idx="12"/>
          </p:nvPr>
        </p:nvSpPr>
        <p:spPr/>
        <p:txBody>
          <a:bodyPr/>
          <a:lstStyle/>
          <a:p>
            <a:fld id="{6C6AE60A-B69C-4790-82F7-3882EDF23186}" type="slidenum">
              <a:rPr lang="de-DE" smtClean="0"/>
              <a:pPr/>
              <a:t>‹#›</a:t>
            </a:fld>
            <a:endParaRPr lang="de-DE"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344216" y="6400801"/>
            <a:ext cx="4114800" cy="755651"/>
          </a:xfrm>
        </p:spPr>
        <p:txBody>
          <a:bodyPr anchor="b"/>
          <a:lstStyle>
            <a:lvl1pPr algn="l">
              <a:defRPr sz="2000" b="1"/>
            </a:lvl1pPr>
          </a:lstStyle>
          <a:p>
            <a:r>
              <a:rPr lang="de-DE"/>
              <a:t>Titelmasterformat durch Klicken bearbeiten</a:t>
            </a:r>
          </a:p>
        </p:txBody>
      </p:sp>
      <p:sp>
        <p:nvSpPr>
          <p:cNvPr id="3" name="Bildplatzhalter 2"/>
          <p:cNvSpPr>
            <a:spLocks noGrp="1"/>
          </p:cNvSpPr>
          <p:nvPr>
            <p:ph type="pic" idx="1"/>
          </p:nvPr>
        </p:nvSpPr>
        <p:spPr>
          <a:xfrm>
            <a:off x="1344216" y="817033"/>
            <a:ext cx="4114800" cy="5486400"/>
          </a:xfrm>
        </p:spPr>
        <p:txBody>
          <a:bodyPr/>
          <a:lstStyle>
            <a:lvl1pPr marL="0" indent="0">
              <a:buNone/>
              <a:defRPr sz="3200"/>
            </a:lvl1pPr>
            <a:lvl2pPr marL="457189" indent="0">
              <a:buNone/>
              <a:defRPr sz="2800"/>
            </a:lvl2pPr>
            <a:lvl3pPr marL="914378" indent="0">
              <a:buNone/>
              <a:defRPr sz="2400"/>
            </a:lvl3pPr>
            <a:lvl4pPr marL="1371566" indent="0">
              <a:buNone/>
              <a:defRPr sz="2000"/>
            </a:lvl4pPr>
            <a:lvl5pPr marL="1828754" indent="0">
              <a:buNone/>
              <a:defRPr sz="2000"/>
            </a:lvl5pPr>
            <a:lvl6pPr marL="2285943" indent="0">
              <a:buNone/>
              <a:defRPr sz="2000"/>
            </a:lvl6pPr>
            <a:lvl7pPr marL="2743132" indent="0">
              <a:buNone/>
              <a:defRPr sz="2000"/>
            </a:lvl7pPr>
            <a:lvl8pPr marL="3200320" indent="0">
              <a:buNone/>
              <a:defRPr sz="2000"/>
            </a:lvl8pPr>
            <a:lvl9pPr marL="3657509" indent="0">
              <a:buNone/>
              <a:defRPr sz="2000"/>
            </a:lvl9pPr>
          </a:lstStyle>
          <a:p>
            <a:endParaRPr lang="de-DE" dirty="0"/>
          </a:p>
        </p:txBody>
      </p:sp>
      <p:sp>
        <p:nvSpPr>
          <p:cNvPr id="4" name="Textplatzhalter 3"/>
          <p:cNvSpPr>
            <a:spLocks noGrp="1"/>
          </p:cNvSpPr>
          <p:nvPr>
            <p:ph type="body" sz="half" idx="2"/>
          </p:nvPr>
        </p:nvSpPr>
        <p:spPr>
          <a:xfrm>
            <a:off x="1344216" y="7156452"/>
            <a:ext cx="4114800" cy="1073149"/>
          </a:xfrm>
        </p:spPr>
        <p:txBody>
          <a:bodyPr/>
          <a:lstStyle>
            <a:lvl1pPr marL="0" indent="0">
              <a:buNone/>
              <a:defRPr sz="1400"/>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r>
              <a:rPr lang="de-DE"/>
              <a:t>Textmasterformate durch Klicken bearbeiten</a:t>
            </a:r>
          </a:p>
        </p:txBody>
      </p:sp>
      <p:sp>
        <p:nvSpPr>
          <p:cNvPr id="5" name="Datumsplatzhalter 4"/>
          <p:cNvSpPr>
            <a:spLocks noGrp="1"/>
          </p:cNvSpPr>
          <p:nvPr>
            <p:ph type="dt" sz="half" idx="10"/>
          </p:nvPr>
        </p:nvSpPr>
        <p:spPr/>
        <p:txBody>
          <a:bodyPr/>
          <a:lstStyle/>
          <a:p>
            <a:fld id="{1BA50D42-C9CD-4801-B293-61D1F53EC57E}" type="datetimeFigureOut">
              <a:rPr lang="de-DE" smtClean="0"/>
              <a:pPr/>
              <a:t>17.12.2025</a:t>
            </a:fld>
            <a:endParaRPr lang="de-DE" dirty="0"/>
          </a:p>
        </p:txBody>
      </p:sp>
      <p:sp>
        <p:nvSpPr>
          <p:cNvPr id="6" name="Fußzeilenplatzhalter 5"/>
          <p:cNvSpPr>
            <a:spLocks noGrp="1"/>
          </p:cNvSpPr>
          <p:nvPr>
            <p:ph type="ftr" sz="quarter" idx="11"/>
          </p:nvPr>
        </p:nvSpPr>
        <p:spPr/>
        <p:txBody>
          <a:bodyPr/>
          <a:lstStyle/>
          <a:p>
            <a:endParaRPr lang="de-DE" dirty="0"/>
          </a:p>
        </p:txBody>
      </p:sp>
      <p:sp>
        <p:nvSpPr>
          <p:cNvPr id="7" name="Foliennummernplatzhalter 6"/>
          <p:cNvSpPr>
            <a:spLocks noGrp="1"/>
          </p:cNvSpPr>
          <p:nvPr>
            <p:ph type="sldNum" sz="quarter" idx="12"/>
          </p:nvPr>
        </p:nvSpPr>
        <p:spPr/>
        <p:txBody>
          <a:bodyPr/>
          <a:lstStyle/>
          <a:p>
            <a:fld id="{6C6AE60A-B69C-4790-82F7-3882EDF23186}" type="slidenum">
              <a:rPr lang="de-DE" smtClean="0"/>
              <a:pPr/>
              <a:t>‹#›</a:t>
            </a:fld>
            <a:endParaRPr lang="de-DE"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1BA50D42-C9CD-4801-B293-61D1F53EC57E}" type="datetimeFigureOut">
              <a:rPr lang="de-DE" smtClean="0"/>
              <a:pPr/>
              <a:t>17.12.2025</a:t>
            </a:fld>
            <a:endParaRPr lang="de-DE" dirty="0"/>
          </a:p>
        </p:txBody>
      </p:sp>
      <p:sp>
        <p:nvSpPr>
          <p:cNvPr id="5" name="Fußzeilenplatzhalter 4"/>
          <p:cNvSpPr>
            <a:spLocks noGrp="1"/>
          </p:cNvSpPr>
          <p:nvPr>
            <p:ph type="ftr" sz="quarter" idx="11"/>
          </p:nvPr>
        </p:nvSpPr>
        <p:spPr/>
        <p:txBody>
          <a:bodyPr/>
          <a:lstStyle/>
          <a:p>
            <a:endParaRPr lang="de-DE" dirty="0"/>
          </a:p>
        </p:txBody>
      </p:sp>
      <p:sp>
        <p:nvSpPr>
          <p:cNvPr id="6" name="Foliennummernplatzhalter 5"/>
          <p:cNvSpPr>
            <a:spLocks noGrp="1"/>
          </p:cNvSpPr>
          <p:nvPr>
            <p:ph type="sldNum" sz="quarter" idx="12"/>
          </p:nvPr>
        </p:nvSpPr>
        <p:spPr/>
        <p:txBody>
          <a:bodyPr/>
          <a:lstStyle/>
          <a:p>
            <a:fld id="{6C6AE60A-B69C-4790-82F7-3882EDF23186}" type="slidenum">
              <a:rPr lang="de-DE" smtClean="0"/>
              <a:pPr/>
              <a:t>‹#›</a:t>
            </a:fld>
            <a:endParaRPr lang="de-DE"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4972050" y="366186"/>
            <a:ext cx="1543050" cy="7802033"/>
          </a:xfrm>
        </p:spPr>
        <p:txBody>
          <a:bodyPr vert="eaVert"/>
          <a:lstStyle/>
          <a:p>
            <a:r>
              <a:rPr lang="de-DE"/>
              <a:t>Titel durch Klicken hinzufügen</a:t>
            </a:r>
          </a:p>
        </p:txBody>
      </p:sp>
      <p:sp>
        <p:nvSpPr>
          <p:cNvPr id="3" name="Vertikaler Textplatzhalter 2"/>
          <p:cNvSpPr>
            <a:spLocks noGrp="1"/>
          </p:cNvSpPr>
          <p:nvPr>
            <p:ph type="body" orient="vert" idx="1"/>
          </p:nvPr>
        </p:nvSpPr>
        <p:spPr>
          <a:xfrm>
            <a:off x="342900" y="366186"/>
            <a:ext cx="4514850" cy="7802033"/>
          </a:xfrm>
        </p:spPr>
        <p:txBody>
          <a:bodyPr vert="eaVert"/>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1BA50D42-C9CD-4801-B293-61D1F53EC57E}" type="datetimeFigureOut">
              <a:rPr lang="de-DE" smtClean="0"/>
              <a:pPr/>
              <a:t>17.12.2025</a:t>
            </a:fld>
            <a:endParaRPr lang="de-DE" dirty="0"/>
          </a:p>
        </p:txBody>
      </p:sp>
      <p:sp>
        <p:nvSpPr>
          <p:cNvPr id="5" name="Fußzeilenplatzhalter 4"/>
          <p:cNvSpPr>
            <a:spLocks noGrp="1"/>
          </p:cNvSpPr>
          <p:nvPr>
            <p:ph type="ftr" sz="quarter" idx="11"/>
          </p:nvPr>
        </p:nvSpPr>
        <p:spPr/>
        <p:txBody>
          <a:bodyPr/>
          <a:lstStyle/>
          <a:p>
            <a:endParaRPr lang="de-DE" dirty="0"/>
          </a:p>
        </p:txBody>
      </p:sp>
      <p:sp>
        <p:nvSpPr>
          <p:cNvPr id="6" name="Foliennummernplatzhalter 5"/>
          <p:cNvSpPr>
            <a:spLocks noGrp="1"/>
          </p:cNvSpPr>
          <p:nvPr>
            <p:ph type="sldNum" sz="quarter" idx="12"/>
          </p:nvPr>
        </p:nvSpPr>
        <p:spPr/>
        <p:txBody>
          <a:bodyPr/>
          <a:lstStyle/>
          <a:p>
            <a:fld id="{6C6AE60A-B69C-4790-82F7-3882EDF23186}" type="slidenum">
              <a:rPr lang="de-DE" smtClean="0"/>
              <a:pPr/>
              <a:t>‹#›</a:t>
            </a:fld>
            <a:endParaRPr lang="de-DE"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342900" y="2133602"/>
            <a:ext cx="6172200" cy="6034617"/>
          </a:xfrm>
          <a:prstGeom prst="rect">
            <a:avLst/>
          </a:prstGeom>
        </p:spPr>
        <p:txBody>
          <a:bodyPr vert="horz" lIns="91440" tIns="45720" rIns="91440" bIns="45720" rtlCol="0">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342900" y="8475136"/>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1BA50D42-C9CD-4801-B293-61D1F53EC57E}" type="datetimeFigureOut">
              <a:rPr lang="de-DE" smtClean="0"/>
              <a:pPr/>
              <a:t>17.12.2025</a:t>
            </a:fld>
            <a:endParaRPr lang="de-DE" dirty="0"/>
          </a:p>
        </p:txBody>
      </p:sp>
      <p:sp>
        <p:nvSpPr>
          <p:cNvPr id="5" name="Fußzeilenplatzhalter 4"/>
          <p:cNvSpPr>
            <a:spLocks noGrp="1"/>
          </p:cNvSpPr>
          <p:nvPr>
            <p:ph type="ftr" sz="quarter" idx="3"/>
          </p:nvPr>
        </p:nvSpPr>
        <p:spPr>
          <a:xfrm>
            <a:off x="2343150" y="8475136"/>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dirty="0"/>
          </a:p>
        </p:txBody>
      </p:sp>
      <p:sp>
        <p:nvSpPr>
          <p:cNvPr id="6" name="Foliennummernplatzhalter 5"/>
          <p:cNvSpPr>
            <a:spLocks noGrp="1"/>
          </p:cNvSpPr>
          <p:nvPr>
            <p:ph type="sldNum" sz="quarter" idx="4"/>
          </p:nvPr>
        </p:nvSpPr>
        <p:spPr>
          <a:xfrm>
            <a:off x="4914900" y="8475136"/>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6C6AE60A-B69C-4790-82F7-3882EDF23186}" type="slidenum">
              <a:rPr lang="de-DE" smtClean="0"/>
              <a:pPr/>
              <a:t>‹#›</a:t>
            </a:fld>
            <a:endParaRPr lang="de-DE"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378" rtl="0" eaLnBrk="1" latinLnBrk="0" hangingPunct="1">
        <a:spcBef>
          <a:spcPct val="0"/>
        </a:spcBef>
        <a:buNone/>
        <a:defRPr sz="4400" kern="1200">
          <a:solidFill>
            <a:schemeClr val="tx1"/>
          </a:solidFill>
          <a:latin typeface="+mj-lt"/>
          <a:ea typeface="+mj-ea"/>
          <a:cs typeface="+mj-cs"/>
        </a:defRPr>
      </a:lvl1pPr>
    </p:titleStyle>
    <p:bodyStyle>
      <a:lvl1pPr marL="342892" indent="-342892" algn="l" defTabSz="914378"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1" indent="-285743" algn="l" defTabSz="914378"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2" indent="-228594" algn="l" defTabSz="914378"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8"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5.png"/><Relationship Id="rId7" Type="http://schemas.openxmlformats.org/officeDocument/2006/relationships/image" Target="../media/image28.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8FF962-1F06-8847-B6BC-9562D3D57C68}"/>
              </a:ext>
            </a:extLst>
          </p:cNvPr>
          <p:cNvSpPr>
            <a:spLocks noGrp="1"/>
          </p:cNvSpPr>
          <p:nvPr>
            <p:ph type="title"/>
          </p:nvPr>
        </p:nvSpPr>
        <p:spPr/>
        <p:txBody>
          <a:bodyPr/>
          <a:lstStyle/>
          <a:p>
            <a:r>
              <a:rPr lang="en-GB" dirty="0"/>
              <a:t>Project template use case/SGAM</a:t>
            </a:r>
          </a:p>
        </p:txBody>
      </p:sp>
      <p:sp>
        <p:nvSpPr>
          <p:cNvPr id="3" name="Marcador de contenido 2">
            <a:extLst>
              <a:ext uri="{FF2B5EF4-FFF2-40B4-BE49-F238E27FC236}">
                <a16:creationId xmlns:a16="http://schemas.microsoft.com/office/drawing/2014/main" id="{B016FA1B-B2BC-9443-8133-7BCDC493F4C0}"/>
              </a:ext>
            </a:extLst>
          </p:cNvPr>
          <p:cNvSpPr>
            <a:spLocks noGrp="1"/>
          </p:cNvSpPr>
          <p:nvPr>
            <p:ph idx="1"/>
          </p:nvPr>
        </p:nvSpPr>
        <p:spPr/>
        <p:txBody>
          <a:bodyPr/>
          <a:lstStyle/>
          <a:p>
            <a:r>
              <a:rPr lang="en-GB" dirty="0"/>
              <a:t>Describe the following use case using the tables. </a:t>
            </a:r>
          </a:p>
          <a:p>
            <a:r>
              <a:rPr lang="en-GB" dirty="0"/>
              <a:t>Develop the SGAM model out of the use case</a:t>
            </a:r>
          </a:p>
          <a:p>
            <a:r>
              <a:rPr lang="en-GB" dirty="0"/>
              <a:t>You have certain freedom of interpretation</a:t>
            </a:r>
          </a:p>
          <a:p>
            <a:r>
              <a:rPr lang="en-GB" dirty="0"/>
              <a:t>Short is better than long</a:t>
            </a:r>
          </a:p>
        </p:txBody>
      </p:sp>
    </p:spTree>
    <p:extLst>
      <p:ext uri="{BB962C8B-B14F-4D97-AF65-F5344CB8AC3E}">
        <p14:creationId xmlns:p14="http://schemas.microsoft.com/office/powerpoint/2010/main" val="78928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de-DE" dirty="0" err="1"/>
              <a:t>Use</a:t>
            </a:r>
            <a:r>
              <a:rPr lang="de-DE" dirty="0"/>
              <a:t> </a:t>
            </a:r>
            <a:r>
              <a:rPr lang="de-DE" dirty="0" err="1"/>
              <a:t>case</a:t>
            </a:r>
            <a:r>
              <a:rPr lang="de-DE" dirty="0"/>
              <a:t>/SGAM-Template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165B11-BED3-9B40-B676-FC8039975DA2}"/>
              </a:ext>
            </a:extLst>
          </p:cNvPr>
          <p:cNvSpPr>
            <a:spLocks noGrp="1"/>
          </p:cNvSpPr>
          <p:nvPr>
            <p:ph type="title"/>
          </p:nvPr>
        </p:nvSpPr>
        <p:spPr>
          <a:xfrm>
            <a:off x="342900" y="366184"/>
            <a:ext cx="6172200" cy="605416"/>
          </a:xfrm>
        </p:spPr>
        <p:txBody>
          <a:bodyPr>
            <a:normAutofit fontScale="90000"/>
          </a:bodyPr>
          <a:lstStyle/>
          <a:p>
            <a:r>
              <a:rPr lang="es-ES" sz="2200" dirty="0"/>
              <a:t>Scope and objectives of [</a:t>
            </a:r>
            <a:r>
              <a:rPr lang="en-US" sz="2200" dirty="0"/>
              <a:t>BUC1 </a:t>
            </a:r>
            <a:r>
              <a:rPr lang="en-US" altLang="zh-CN" sz="2200" dirty="0"/>
              <a:t>Unlock renewable generation potential in heritage-protected urban areas</a:t>
            </a:r>
            <a:endParaRPr lang="en-GB" sz="3200" dirty="0"/>
          </a:p>
        </p:txBody>
      </p:sp>
      <p:graphicFrame>
        <p:nvGraphicFramePr>
          <p:cNvPr id="5" name="Marcador de contenido 4">
            <a:extLst>
              <a:ext uri="{FF2B5EF4-FFF2-40B4-BE49-F238E27FC236}">
                <a16:creationId xmlns:a16="http://schemas.microsoft.com/office/drawing/2014/main" id="{31235094-8305-5448-AE1E-6EC0034F6FFA}"/>
              </a:ext>
            </a:extLst>
          </p:cNvPr>
          <p:cNvGraphicFramePr>
            <a:graphicFrameLocks noGrp="1"/>
          </p:cNvGraphicFramePr>
          <p:nvPr>
            <p:ph idx="1"/>
            <p:extLst>
              <p:ext uri="{D42A27DB-BD31-4B8C-83A1-F6EECF244321}">
                <p14:modId xmlns:p14="http://schemas.microsoft.com/office/powerpoint/2010/main" val="1122901560"/>
              </p:ext>
            </p:extLst>
          </p:nvPr>
        </p:nvGraphicFramePr>
        <p:xfrm>
          <a:off x="548680" y="1259632"/>
          <a:ext cx="5424170" cy="6885284"/>
        </p:xfrm>
        <a:graphic>
          <a:graphicData uri="http://schemas.openxmlformats.org/drawingml/2006/table">
            <a:tbl>
              <a:tblPr firstRow="1" firstCol="1" bandRow="1"/>
              <a:tblGrid>
                <a:gridCol w="1152128">
                  <a:extLst>
                    <a:ext uri="{9D8B030D-6E8A-4147-A177-3AD203B41FA5}">
                      <a16:colId xmlns:a16="http://schemas.microsoft.com/office/drawing/2014/main" val="3180323007"/>
                    </a:ext>
                  </a:extLst>
                </a:gridCol>
                <a:gridCol w="4272042">
                  <a:extLst>
                    <a:ext uri="{9D8B030D-6E8A-4147-A177-3AD203B41FA5}">
                      <a16:colId xmlns:a16="http://schemas.microsoft.com/office/drawing/2014/main" val="3161215544"/>
                    </a:ext>
                  </a:extLst>
                </a:gridCol>
              </a:tblGrid>
              <a:tr h="466029">
                <a:tc>
                  <a:txBody>
                    <a:bodyPr/>
                    <a:lstStyle/>
                    <a:p>
                      <a:pPr algn="ctr">
                        <a:spcAft>
                          <a:spcPts val="0"/>
                        </a:spcAft>
                      </a:pPr>
                      <a:r>
                        <a:rPr lang="en-GB" sz="900" b="1" i="1" dirty="0">
                          <a:solidFill>
                            <a:srgbClr val="000000"/>
                          </a:solidFill>
                          <a:effectLst/>
                          <a:latin typeface="Arial" panose="020B0604020202020204" pitchFamily="34" charset="0"/>
                          <a:ea typeface="Century Gothic" panose="020B0502020202020204" pitchFamily="34" charset="0"/>
                          <a:cs typeface="Arial" panose="020B0604020202020204" pitchFamily="34" charset="0"/>
                        </a:rPr>
                        <a:t>Name</a:t>
                      </a:r>
                      <a:endParaRPr lang="es-ES" sz="1000" dirty="0">
                        <a:effectLst/>
                        <a:latin typeface="Arial" panose="020B0604020202020204" pitchFamily="34" charset="0"/>
                        <a:ea typeface="Century Gothic" panose="020B050202020202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rgbClr val="666666"/>
                      </a:solidFill>
                      <a:prstDash val="solid"/>
                      <a:round/>
                      <a:headEnd type="none" w="med" len="med"/>
                      <a:tailEnd type="none" w="med" len="med"/>
                    </a:lnB>
                    <a:solidFill>
                      <a:srgbClr val="FFFFFF"/>
                    </a:solidFill>
                  </a:tcPr>
                </a:tc>
                <a:tc>
                  <a:txBody>
                    <a:bodyPr/>
                    <a:lstStyle/>
                    <a:p>
                      <a:pPr algn="ctr">
                        <a:spcAft>
                          <a:spcPts val="0"/>
                        </a:spcAft>
                      </a:pPr>
                      <a:r>
                        <a:rPr lang="en-GB" sz="1000" b="1" dirty="0">
                          <a:solidFill>
                            <a:srgbClr val="000000"/>
                          </a:solidFill>
                          <a:effectLst/>
                          <a:latin typeface="Arial" panose="020B0604020202020204" pitchFamily="34" charset="0"/>
                          <a:ea typeface="Century Gothic" panose="020B0502020202020204" pitchFamily="34" charset="0"/>
                          <a:cs typeface="Arial" panose="020B0604020202020204" pitchFamily="34" charset="0"/>
                        </a:rPr>
                        <a:t> </a:t>
                      </a:r>
                      <a:r>
                        <a:rPr lang="en-US" altLang="zh-CN" sz="1000" dirty="0"/>
                        <a:t>BUC1: Unlock renewable generation potential in heritage-protected urban areas.</a:t>
                      </a:r>
                      <a:endParaRPr lang="es-ES" sz="1000" dirty="0">
                        <a:effectLst/>
                        <a:latin typeface="Arial" panose="020B0604020202020204" pitchFamily="34" charset="0"/>
                        <a:ea typeface="Century Gothic" panose="020B050202020202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772027403"/>
                  </a:ext>
                </a:extLst>
              </a:tr>
              <a:tr h="345207">
                <a:tc>
                  <a:txBody>
                    <a:bodyPr/>
                    <a:lstStyle/>
                    <a:p>
                      <a:pPr algn="just">
                        <a:spcAft>
                          <a:spcPts val="0"/>
                        </a:spcAft>
                      </a:pPr>
                      <a:r>
                        <a:rPr lang="en-US" altLang="zh-CN" sz="900" b="1" i="1" dirty="0">
                          <a:solidFill>
                            <a:srgbClr val="000000"/>
                          </a:solidFill>
                          <a:effectLst/>
                          <a:latin typeface="Arial" panose="020B0604020202020204" pitchFamily="34" charset="0"/>
                          <a:ea typeface="Century Gothic" panose="020B0502020202020204" pitchFamily="34" charset="0"/>
                          <a:cs typeface="Arial" panose="020B0604020202020204" pitchFamily="34" charset="0"/>
                        </a:rPr>
                        <a:t>Objective</a:t>
                      </a:r>
                      <a:endParaRPr lang="es-ES" sz="1000" dirty="0">
                        <a:effectLst/>
                        <a:latin typeface="Arial" panose="020B0604020202020204" pitchFamily="34" charset="0"/>
                        <a:ea typeface="Century Gothic" panose="020B0502020202020204" pitchFamily="34" charset="0"/>
                        <a:cs typeface="Times New Roman" panose="02020603050405020304" pitchFamily="18" charset="0"/>
                      </a:endParaRPr>
                    </a:p>
                  </a:txBody>
                  <a:tcPr marL="68580" marR="68580" marT="0" marB="0" anchor="ctr">
                    <a:lnL>
                      <a:noFill/>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a:noFill/>
                    </a:lnB>
                    <a:solidFill>
                      <a:srgbClr val="FFFFFF"/>
                    </a:solidFill>
                  </a:tcPr>
                </a:tc>
                <a:tc>
                  <a:txBody>
                    <a:bodyPr/>
                    <a:lstStyle/>
                    <a:p>
                      <a:pPr>
                        <a:spcAft>
                          <a:spcPts val="0"/>
                        </a:spcAft>
                      </a:pPr>
                      <a:r>
                        <a:rPr lang="en-US" altLang="zh-CN" sz="1200" dirty="0"/>
                        <a:t>Enable local energy generation in restricted zones (historical centers) to meet decarbonization targets without compromising cultural assets.</a:t>
                      </a:r>
                      <a:endParaRPr lang="es-ES" sz="1200" dirty="0">
                        <a:solidFill>
                          <a:srgbClr val="000000"/>
                        </a:solidFill>
                        <a:effectLst/>
                        <a:latin typeface="Calibri" panose="020F0502020204030204" pitchFamily="34" charset="0"/>
                        <a:ea typeface="Century Gothic" panose="020B0502020202020204" pitchFamily="34" charset="0"/>
                        <a:cs typeface="Calibri" panose="020F050202020403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3746678236"/>
                  </a:ext>
                </a:extLst>
              </a:tr>
              <a:tr h="345207">
                <a:tc>
                  <a:txBody>
                    <a:bodyPr/>
                    <a:lstStyle/>
                    <a:p>
                      <a:pPr algn="just">
                        <a:spcAft>
                          <a:spcPts val="0"/>
                        </a:spcAft>
                      </a:pPr>
                      <a:r>
                        <a:rPr lang="en-US" altLang="zh-CN" sz="900" b="1" i="1" dirty="0">
                          <a:solidFill>
                            <a:srgbClr val="000000"/>
                          </a:solidFill>
                          <a:effectLst/>
                          <a:latin typeface="Arial" panose="020B0604020202020204" pitchFamily="34" charset="0"/>
                          <a:ea typeface="Century Gothic" panose="020B0502020202020204" pitchFamily="34" charset="0"/>
                          <a:cs typeface="Arial" panose="020B0604020202020204" pitchFamily="34" charset="0"/>
                        </a:rPr>
                        <a:t>Actors</a:t>
                      </a:r>
                      <a:endParaRPr lang="es-ES" sz="1000" dirty="0">
                        <a:effectLst/>
                        <a:latin typeface="Arial" panose="020B0604020202020204" pitchFamily="34" charset="0"/>
                        <a:ea typeface="Century Gothic" panose="020B0502020202020204" pitchFamily="34" charset="0"/>
                        <a:cs typeface="Times New Roman" panose="02020603050405020304" pitchFamily="18" charset="0"/>
                      </a:endParaRPr>
                    </a:p>
                  </a:txBody>
                  <a:tcPr marL="68580" marR="68580" marT="0" marB="0" anchor="ctr">
                    <a:lnL>
                      <a:noFill/>
                    </a:lnL>
                    <a:lnR w="12700" cap="flat" cmpd="sng" algn="ctr">
                      <a:solidFill>
                        <a:srgbClr val="666666"/>
                      </a:solidFill>
                      <a:prstDash val="solid"/>
                      <a:round/>
                      <a:headEnd type="none" w="med" len="med"/>
                      <a:tailEnd type="none" w="med" len="med"/>
                    </a:lnR>
                    <a:lnT>
                      <a:noFill/>
                    </a:lnT>
                    <a:lnB>
                      <a:noFill/>
                    </a:lnB>
                    <a:solidFill>
                      <a:srgbClr val="FFFFFF"/>
                    </a:solidFill>
                  </a:tcPr>
                </a:tc>
                <a:tc>
                  <a:txBody>
                    <a:bodyPr/>
                    <a:lstStyle/>
                    <a:p>
                      <a:pPr>
                        <a:spcAft>
                          <a:spcPts val="0"/>
                        </a:spcAft>
                      </a:pPr>
                      <a:r>
                        <a:rPr lang="en-US" altLang="zh-CN" sz="1200" dirty="0"/>
                        <a:t>Heritage Authority (Municipality), Prosumers (Heritage Building Owners), DSO (Distribution System Operator), ESCO/Technology Providers (BIPV).</a:t>
                      </a:r>
                      <a:endParaRPr lang="es-ES" sz="1200" dirty="0">
                        <a:solidFill>
                          <a:srgbClr val="000000"/>
                        </a:solidFill>
                        <a:effectLst/>
                        <a:latin typeface="Calibri" panose="020F0502020204030204" pitchFamily="34" charset="0"/>
                        <a:ea typeface="Century Gothic" panose="020B0502020202020204" pitchFamily="34" charset="0"/>
                        <a:cs typeface="Calibri" panose="020F050202020403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tcPr>
                </a:tc>
                <a:extLst>
                  <a:ext uri="{0D108BD9-81ED-4DB2-BD59-A6C34878D82A}">
                    <a16:rowId xmlns:a16="http://schemas.microsoft.com/office/drawing/2014/main" val="3299306529"/>
                  </a:ext>
                </a:extLst>
              </a:tr>
              <a:tr h="1726034">
                <a:tc>
                  <a:txBody>
                    <a:bodyPr/>
                    <a:lstStyle/>
                    <a:p>
                      <a:pPr algn="just">
                        <a:spcAft>
                          <a:spcPts val="0"/>
                        </a:spcAft>
                      </a:pPr>
                      <a:r>
                        <a:rPr lang="en-US" altLang="zh-CN" sz="900" b="1" i="1" dirty="0">
                          <a:solidFill>
                            <a:srgbClr val="000000"/>
                          </a:solidFill>
                          <a:effectLst/>
                          <a:latin typeface="Arial" panose="020B0604020202020204" pitchFamily="34" charset="0"/>
                          <a:ea typeface="Century Gothic" panose="020B0502020202020204" pitchFamily="34" charset="0"/>
                          <a:cs typeface="Arial" panose="020B0604020202020204" pitchFamily="34" charset="0"/>
                        </a:rPr>
                        <a:t>Relation to</a:t>
                      </a:r>
                      <a:r>
                        <a:rPr lang="zh-CN" altLang="en-US" sz="900" b="1" i="1" dirty="0">
                          <a:solidFill>
                            <a:srgbClr val="000000"/>
                          </a:solidFill>
                          <a:effectLst/>
                          <a:latin typeface="Arial" panose="020B0604020202020204" pitchFamily="34" charset="0"/>
                          <a:ea typeface="Century Gothic" panose="020B0502020202020204" pitchFamily="34" charset="0"/>
                          <a:cs typeface="Arial" panose="020B0604020202020204" pitchFamily="34" charset="0"/>
                        </a:rPr>
                        <a:t> </a:t>
                      </a:r>
                      <a:r>
                        <a:rPr lang="en-US" altLang="zh-CN" sz="900" b="1" i="1" dirty="0">
                          <a:solidFill>
                            <a:srgbClr val="000000"/>
                          </a:solidFill>
                          <a:effectLst/>
                          <a:latin typeface="Arial" panose="020B0604020202020204" pitchFamily="34" charset="0"/>
                          <a:ea typeface="Century Gothic" panose="020B0502020202020204" pitchFamily="34" charset="0"/>
                          <a:cs typeface="Arial" panose="020B0604020202020204" pitchFamily="34" charset="0"/>
                        </a:rPr>
                        <a:t>other</a:t>
                      </a:r>
                      <a:r>
                        <a:rPr lang="zh-CN" altLang="en-US" sz="900" b="1" i="1" dirty="0">
                          <a:solidFill>
                            <a:srgbClr val="000000"/>
                          </a:solidFill>
                          <a:effectLst/>
                          <a:latin typeface="Arial" panose="020B0604020202020204" pitchFamily="34" charset="0"/>
                          <a:ea typeface="Century Gothic" panose="020B0502020202020204" pitchFamily="34" charset="0"/>
                          <a:cs typeface="Arial" panose="020B0604020202020204" pitchFamily="34" charset="0"/>
                        </a:rPr>
                        <a:t> </a:t>
                      </a:r>
                      <a:r>
                        <a:rPr lang="en-US" altLang="zh-CN" sz="900" b="1" i="1" dirty="0">
                          <a:solidFill>
                            <a:srgbClr val="000000"/>
                          </a:solidFill>
                          <a:effectLst/>
                          <a:latin typeface="Arial" panose="020B0604020202020204" pitchFamily="34" charset="0"/>
                          <a:ea typeface="Century Gothic" panose="020B0502020202020204" pitchFamily="34" charset="0"/>
                          <a:cs typeface="Arial" panose="020B0604020202020204" pitchFamily="34" charset="0"/>
                        </a:rPr>
                        <a:t>use</a:t>
                      </a:r>
                      <a:r>
                        <a:rPr lang="zh-CN" altLang="en-US" sz="900" b="1" i="1" dirty="0">
                          <a:solidFill>
                            <a:srgbClr val="000000"/>
                          </a:solidFill>
                          <a:effectLst/>
                          <a:latin typeface="Arial" panose="020B0604020202020204" pitchFamily="34" charset="0"/>
                          <a:ea typeface="Century Gothic" panose="020B0502020202020204" pitchFamily="34" charset="0"/>
                          <a:cs typeface="Arial" panose="020B0604020202020204" pitchFamily="34" charset="0"/>
                        </a:rPr>
                        <a:t> </a:t>
                      </a:r>
                      <a:r>
                        <a:rPr lang="en-US" altLang="zh-CN" sz="900" b="1" i="1" dirty="0">
                          <a:solidFill>
                            <a:srgbClr val="000000"/>
                          </a:solidFill>
                          <a:effectLst/>
                          <a:latin typeface="Arial" panose="020B0604020202020204" pitchFamily="34" charset="0"/>
                          <a:ea typeface="Century Gothic" panose="020B0502020202020204" pitchFamily="34" charset="0"/>
                          <a:cs typeface="Arial" panose="020B0604020202020204" pitchFamily="34" charset="0"/>
                        </a:rPr>
                        <a:t>cases</a:t>
                      </a:r>
                      <a:endParaRPr lang="es-ES" sz="1000" dirty="0">
                        <a:effectLst/>
                        <a:latin typeface="Arial" panose="020B0604020202020204" pitchFamily="34" charset="0"/>
                        <a:ea typeface="Century Gothic" panose="020B0502020202020204" pitchFamily="34" charset="0"/>
                        <a:cs typeface="Times New Roman" panose="02020603050405020304" pitchFamily="18" charset="0"/>
                      </a:endParaRPr>
                    </a:p>
                  </a:txBody>
                  <a:tcPr marL="68580" marR="68580" marT="0" marB="0" anchor="ctr">
                    <a:lnL>
                      <a:noFill/>
                    </a:lnL>
                    <a:lnR w="12700" cap="flat" cmpd="sng" algn="ctr">
                      <a:solidFill>
                        <a:srgbClr val="666666"/>
                      </a:solidFill>
                      <a:prstDash val="solid"/>
                      <a:round/>
                      <a:headEnd type="none" w="med" len="med"/>
                      <a:tailEnd type="none" w="med" len="med"/>
                    </a:lnR>
                    <a:lnT>
                      <a:noFill/>
                    </a:lnT>
                    <a:lnB>
                      <a:noFill/>
                    </a:lnB>
                    <a:solidFill>
                      <a:srgbClr val="FFFFFF"/>
                    </a:solidFill>
                  </a:tcPr>
                </a:tc>
                <a:tc>
                  <a:txBody>
                    <a:bodyPr/>
                    <a:lstStyle/>
                    <a:p>
                      <a:pPr>
                        <a:spcAft>
                          <a:spcPts val="0"/>
                        </a:spcAft>
                      </a:pPr>
                      <a:endParaRPr lang="es-ES" sz="1200" dirty="0">
                        <a:solidFill>
                          <a:srgbClr val="000000"/>
                        </a:solidFill>
                        <a:effectLst/>
                        <a:latin typeface="Calibri" panose="020F0502020204030204" pitchFamily="34" charset="0"/>
                        <a:ea typeface="Century Gothic" panose="020B0502020202020204" pitchFamily="34" charset="0"/>
                        <a:cs typeface="Calibri" panose="020F050202020403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3142834456"/>
                  </a:ext>
                </a:extLst>
              </a:tr>
              <a:tr h="1035621">
                <a:tc>
                  <a:txBody>
                    <a:bodyPr/>
                    <a:lstStyle/>
                    <a:p>
                      <a:pPr algn="just">
                        <a:spcAft>
                          <a:spcPts val="0"/>
                        </a:spcAft>
                      </a:pPr>
                      <a:r>
                        <a:rPr lang="en-US" sz="900" b="1" i="1" dirty="0">
                          <a:solidFill>
                            <a:srgbClr val="000000"/>
                          </a:solidFill>
                          <a:effectLst/>
                          <a:latin typeface="Arial" panose="020B0604020202020204" pitchFamily="34" charset="0"/>
                          <a:ea typeface="Century Gothic" panose="020B0502020202020204" pitchFamily="34" charset="0"/>
                          <a:cs typeface="Calibri" panose="020F0502020204030204" pitchFamily="34" charset="0"/>
                        </a:rPr>
                        <a:t>Viewpoint and type</a:t>
                      </a:r>
                      <a:endParaRPr lang="es-ES" sz="1200" dirty="0">
                        <a:solidFill>
                          <a:srgbClr val="000000"/>
                        </a:solidFill>
                        <a:effectLst/>
                        <a:latin typeface="Calibri" panose="020F0502020204030204" pitchFamily="34" charset="0"/>
                        <a:ea typeface="Century Gothic" panose="020B0502020202020204" pitchFamily="34" charset="0"/>
                        <a:cs typeface="Calibri" panose="020F0502020204030204" pitchFamily="34" charset="0"/>
                      </a:endParaRPr>
                    </a:p>
                    <a:p>
                      <a:pPr algn="just">
                        <a:spcAft>
                          <a:spcPts val="0"/>
                        </a:spcAft>
                      </a:pPr>
                      <a:r>
                        <a:rPr lang="en-GB" sz="900" b="1" i="1" dirty="0">
                          <a:solidFill>
                            <a:srgbClr val="000000"/>
                          </a:solidFill>
                          <a:effectLst/>
                          <a:latin typeface="Arial" panose="020B0604020202020204" pitchFamily="34" charset="0"/>
                          <a:ea typeface="Century Gothic" panose="020B0502020202020204" pitchFamily="34" charset="0"/>
                          <a:cs typeface="Arial" panose="020B0604020202020204" pitchFamily="34" charset="0"/>
                        </a:rPr>
                        <a:t> </a:t>
                      </a:r>
                      <a:endParaRPr lang="es-ES" sz="1000" dirty="0">
                        <a:effectLst/>
                        <a:latin typeface="Arial" panose="020B0604020202020204" pitchFamily="34" charset="0"/>
                        <a:ea typeface="Century Gothic" panose="020B0502020202020204" pitchFamily="34" charset="0"/>
                        <a:cs typeface="Times New Roman" panose="02020603050405020304" pitchFamily="18" charset="0"/>
                      </a:endParaRPr>
                    </a:p>
                  </a:txBody>
                  <a:tcPr marL="68580" marR="68580" marT="0" marB="0" anchor="ctr">
                    <a:lnL>
                      <a:noFill/>
                    </a:lnL>
                    <a:lnR w="12700" cap="flat" cmpd="sng" algn="ctr">
                      <a:solidFill>
                        <a:srgbClr val="666666"/>
                      </a:solidFill>
                      <a:prstDash val="solid"/>
                      <a:round/>
                      <a:headEnd type="none" w="med" len="med"/>
                      <a:tailEnd type="none" w="med" len="med"/>
                    </a:lnR>
                    <a:lnT>
                      <a:noFill/>
                    </a:lnT>
                    <a:lnB>
                      <a:noFill/>
                    </a:lnB>
                    <a:solidFill>
                      <a:srgbClr val="FFFFFF"/>
                    </a:solidFill>
                  </a:tcPr>
                </a:tc>
                <a:tc>
                  <a:txBody>
                    <a:bodyPr/>
                    <a:lstStyle/>
                    <a:p>
                      <a:pPr>
                        <a:spcAft>
                          <a:spcPts val="0"/>
                        </a:spcAft>
                      </a:pPr>
                      <a:r>
                        <a:rPr lang="es-ES" altLang="zh-CN" sz="1200" dirty="0"/>
                        <a:t>Business BUC</a:t>
                      </a:r>
                      <a:endParaRPr lang="es-ES" sz="1200" dirty="0">
                        <a:solidFill>
                          <a:srgbClr val="000000"/>
                        </a:solidFill>
                        <a:effectLst/>
                        <a:latin typeface="Calibri" panose="020F0502020204030204" pitchFamily="34" charset="0"/>
                        <a:ea typeface="Century Gothic" panose="020B0502020202020204" pitchFamily="34" charset="0"/>
                        <a:cs typeface="Calibri" panose="020F050202020403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tcPr>
                </a:tc>
                <a:extLst>
                  <a:ext uri="{0D108BD9-81ED-4DB2-BD59-A6C34878D82A}">
                    <a16:rowId xmlns:a16="http://schemas.microsoft.com/office/drawing/2014/main" val="3663244135"/>
                  </a:ext>
                </a:extLst>
              </a:tr>
              <a:tr h="345207">
                <a:tc>
                  <a:txBody>
                    <a:bodyPr/>
                    <a:lstStyle/>
                    <a:p>
                      <a:pPr algn="just">
                        <a:spcAft>
                          <a:spcPts val="0"/>
                        </a:spcAft>
                      </a:pPr>
                      <a:r>
                        <a:rPr lang="en-GB" sz="900" b="1" i="1" dirty="0">
                          <a:solidFill>
                            <a:srgbClr val="000000"/>
                          </a:solidFill>
                          <a:effectLst/>
                          <a:latin typeface="Arial" panose="020B0604020202020204" pitchFamily="34" charset="0"/>
                          <a:ea typeface="Century Gothic" panose="020B0502020202020204" pitchFamily="34" charset="0"/>
                          <a:cs typeface="Calibri" panose="020F0502020204030204" pitchFamily="34" charset="0"/>
                        </a:rPr>
                        <a:t>Description</a:t>
                      </a:r>
                      <a:endParaRPr lang="es-ES" sz="1200" dirty="0">
                        <a:solidFill>
                          <a:srgbClr val="000000"/>
                        </a:solidFill>
                        <a:effectLst/>
                        <a:latin typeface="Calibri" panose="020F0502020204030204" pitchFamily="34" charset="0"/>
                        <a:ea typeface="Century Gothic" panose="020B0502020202020204" pitchFamily="34" charset="0"/>
                        <a:cs typeface="Calibri" panose="020F0502020204030204" pitchFamily="34" charset="0"/>
                      </a:endParaRPr>
                    </a:p>
                  </a:txBody>
                  <a:tcPr marL="68580" marR="68580" marT="0" marB="0" anchor="ctr">
                    <a:lnL>
                      <a:noFill/>
                    </a:lnL>
                    <a:lnR w="12700" cap="flat" cmpd="sng" algn="ctr">
                      <a:solidFill>
                        <a:srgbClr val="666666"/>
                      </a:solidFill>
                      <a:prstDash val="solid"/>
                      <a:round/>
                      <a:headEnd type="none" w="med" len="med"/>
                      <a:tailEnd type="none" w="med" len="med"/>
                    </a:lnR>
                    <a:lnT>
                      <a:noFill/>
                    </a:lnT>
                    <a:lnB>
                      <a:noFill/>
                    </a:lnB>
                    <a:solidFill>
                      <a:srgbClr val="FFFFFF"/>
                    </a:solidFill>
                  </a:tcPr>
                </a:tc>
                <a:tc>
                  <a:txBody>
                    <a:bodyPr/>
                    <a:lstStyle/>
                    <a:p>
                      <a:r>
                        <a:rPr lang="en-US" altLang="zh-CN" sz="1200" dirty="0"/>
                        <a:t>Terrassa has strict urban regulations to protect its industrial heritage (e.g., </a:t>
                      </a:r>
                      <a:r>
                        <a:rPr lang="en-US" altLang="zh-CN" sz="1200" i="1" dirty="0"/>
                        <a:t>MNACTEC</a:t>
                      </a:r>
                      <a:r>
                        <a:rPr lang="en-US" altLang="zh-CN" sz="1200" dirty="0"/>
                        <a:t>, </a:t>
                      </a:r>
                      <a:r>
                        <a:rPr lang="en-US" altLang="zh-CN" sz="1200" i="1" dirty="0"/>
                        <a:t>Masia </a:t>
                      </a:r>
                      <a:r>
                        <a:rPr lang="en-US" altLang="zh-CN" sz="1200" i="1" dirty="0" err="1"/>
                        <a:t>Freixa</a:t>
                      </a:r>
                      <a:r>
                        <a:rPr lang="en-US" altLang="zh-CN" sz="1200" dirty="0"/>
                        <a:t>), which currently restricts the installation of standard rooftop photovoltaics. This restriction creates a "renewable energy void" in the city center, preventing the municipality and residents from meeting European decarbonization targets and reducing energy bills.</a:t>
                      </a:r>
                    </a:p>
                    <a:p>
                      <a:br>
                        <a:rPr lang="en-US" altLang="zh-CN" sz="1200" dirty="0"/>
                      </a:br>
                      <a:r>
                        <a:rPr lang="en-US" altLang="zh-CN" sz="1200" dirty="0"/>
                        <a:t>This Business Case proposes the deployment of high-value, aesthetic-compliant technologies (BIPV, </a:t>
                      </a:r>
                      <a:r>
                        <a:rPr lang="en-US" altLang="zh-CN" sz="1200" dirty="0" err="1"/>
                        <a:t>coloured</a:t>
                      </a:r>
                      <a:r>
                        <a:rPr lang="en-US" altLang="zh-CN" sz="1200" dirty="0"/>
                        <a:t> solar glass, solar tiles). By validating these "discreet" technologies with the Heritage Authority, we unlock a new market segment for energy generation. This allows heritage buildings to become active energy assets (Prosumers) rather than passive consumers, balancing the trade-off between </a:t>
                      </a:r>
                      <a:r>
                        <a:rPr lang="en-US" altLang="zh-CN" sz="1200" b="1" dirty="0"/>
                        <a:t>Heritage Preservation</a:t>
                      </a:r>
                      <a:r>
                        <a:rPr lang="en-US" altLang="zh-CN" sz="1200" dirty="0"/>
                        <a:t> and </a:t>
                      </a:r>
                      <a:r>
                        <a:rPr lang="en-US" altLang="zh-CN" sz="1200" b="1" dirty="0"/>
                        <a:t>Energy Transition</a:t>
                      </a:r>
                      <a:r>
                        <a:rPr lang="en-US" altLang="zh-CN" sz="1200" dirty="0"/>
                        <a:t>.</a:t>
                      </a: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737767407"/>
                  </a:ext>
                </a:extLst>
              </a:tr>
            </a:tbl>
          </a:graphicData>
        </a:graphic>
      </p:graphicFrame>
    </p:spTree>
    <p:extLst>
      <p:ext uri="{BB962C8B-B14F-4D97-AF65-F5344CB8AC3E}">
        <p14:creationId xmlns:p14="http://schemas.microsoft.com/office/powerpoint/2010/main" val="25181266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45B2A-D8F3-3127-B0C9-DB12F0740BD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1F36375-34B3-59A1-AC0C-377D3908A5F9}"/>
              </a:ext>
            </a:extLst>
          </p:cNvPr>
          <p:cNvSpPr>
            <a:spLocks noGrp="1"/>
          </p:cNvSpPr>
          <p:nvPr>
            <p:ph type="title"/>
          </p:nvPr>
        </p:nvSpPr>
        <p:spPr>
          <a:xfrm>
            <a:off x="342900" y="366184"/>
            <a:ext cx="6172200" cy="605416"/>
          </a:xfrm>
        </p:spPr>
        <p:txBody>
          <a:bodyPr>
            <a:normAutofit/>
          </a:bodyPr>
          <a:lstStyle/>
          <a:p>
            <a:r>
              <a:rPr lang="es-ES" sz="3200" err="1"/>
              <a:t>Scope</a:t>
            </a:r>
            <a:r>
              <a:rPr lang="es-ES" sz="3200"/>
              <a:t> and </a:t>
            </a:r>
            <a:r>
              <a:rPr lang="es-ES" sz="3200" err="1"/>
              <a:t>objectives</a:t>
            </a:r>
            <a:r>
              <a:rPr lang="es-ES" sz="3200"/>
              <a:t> of [UC </a:t>
            </a:r>
            <a:r>
              <a:rPr lang="es-ES" sz="3200" err="1"/>
              <a:t>name</a:t>
            </a:r>
            <a:r>
              <a:rPr lang="es-ES" sz="3200"/>
              <a:t>] </a:t>
            </a:r>
            <a:endParaRPr lang="en-GB" sz="3200"/>
          </a:p>
        </p:txBody>
      </p:sp>
      <p:graphicFrame>
        <p:nvGraphicFramePr>
          <p:cNvPr id="5" name="Marcador de contenido 4">
            <a:extLst>
              <a:ext uri="{FF2B5EF4-FFF2-40B4-BE49-F238E27FC236}">
                <a16:creationId xmlns:a16="http://schemas.microsoft.com/office/drawing/2014/main" id="{F8D0FD8B-C051-5BC3-D3E2-6E552C5C251E}"/>
              </a:ext>
            </a:extLst>
          </p:cNvPr>
          <p:cNvGraphicFramePr>
            <a:graphicFrameLocks noGrp="1"/>
          </p:cNvGraphicFramePr>
          <p:nvPr>
            <p:ph idx="1"/>
          </p:nvPr>
        </p:nvGraphicFramePr>
        <p:xfrm>
          <a:off x="548680" y="1259632"/>
          <a:ext cx="5424170" cy="4608512"/>
        </p:xfrm>
        <a:graphic>
          <a:graphicData uri="http://schemas.openxmlformats.org/drawingml/2006/table">
            <a:tbl>
              <a:tblPr firstRow="1" firstCol="1" bandRow="1"/>
              <a:tblGrid>
                <a:gridCol w="1373505">
                  <a:extLst>
                    <a:ext uri="{9D8B030D-6E8A-4147-A177-3AD203B41FA5}">
                      <a16:colId xmlns:a16="http://schemas.microsoft.com/office/drawing/2014/main" val="3180323007"/>
                    </a:ext>
                  </a:extLst>
                </a:gridCol>
                <a:gridCol w="4050665">
                  <a:extLst>
                    <a:ext uri="{9D8B030D-6E8A-4147-A177-3AD203B41FA5}">
                      <a16:colId xmlns:a16="http://schemas.microsoft.com/office/drawing/2014/main" val="3161215544"/>
                    </a:ext>
                  </a:extLst>
                </a:gridCol>
              </a:tblGrid>
              <a:tr h="466029">
                <a:tc>
                  <a:txBody>
                    <a:bodyPr/>
                    <a:lstStyle/>
                    <a:p>
                      <a:pPr algn="just">
                        <a:spcAft>
                          <a:spcPts val="0"/>
                        </a:spcAft>
                      </a:pPr>
                      <a:r>
                        <a:rPr lang="en-GB" sz="900" b="1" i="1">
                          <a:solidFill>
                            <a:srgbClr val="000000"/>
                          </a:solidFill>
                          <a:effectLst/>
                          <a:latin typeface="Arial" panose="020B0604020202020204" pitchFamily="34" charset="0"/>
                          <a:ea typeface="Century Gothic" panose="020B0502020202020204" pitchFamily="34" charset="0"/>
                          <a:cs typeface="Arial" panose="020B0604020202020204" pitchFamily="34" charset="0"/>
                        </a:rPr>
                        <a:t>Name</a:t>
                      </a:r>
                      <a:endParaRPr lang="es-ES" sz="1000">
                        <a:effectLst/>
                        <a:latin typeface="Arial" panose="020B0604020202020204" pitchFamily="34" charset="0"/>
                        <a:ea typeface="Century Gothic" panose="020B0502020202020204" pitchFamily="34" charset="0"/>
                        <a:cs typeface="Times New Roman" panose="02020603050405020304" pitchFamily="18" charset="0"/>
                      </a:endParaRPr>
                    </a:p>
                  </a:txBody>
                  <a:tcPr marL="68580" marR="68580" marT="0" marB="0">
                    <a:lnL>
                      <a:noFill/>
                    </a:lnL>
                    <a:lnR>
                      <a:noFill/>
                    </a:lnR>
                    <a:lnT>
                      <a:noFill/>
                    </a:lnT>
                    <a:lnB w="12700" cap="flat" cmpd="sng" algn="ctr">
                      <a:solidFill>
                        <a:srgbClr val="666666"/>
                      </a:solidFill>
                      <a:prstDash val="solid"/>
                      <a:round/>
                      <a:headEnd type="none" w="med" len="med"/>
                      <a:tailEnd type="none" w="med" len="med"/>
                    </a:lnB>
                    <a:solidFill>
                      <a:srgbClr val="FFFFFF"/>
                    </a:solidFill>
                  </a:tcPr>
                </a:tc>
                <a:tc>
                  <a:txBody>
                    <a:bodyPr/>
                    <a:lstStyle/>
                    <a:p>
                      <a:pPr algn="just">
                        <a:spcAft>
                          <a:spcPts val="0"/>
                        </a:spcAft>
                      </a:pPr>
                      <a:r>
                        <a:rPr lang="en-GB" sz="1000" b="1">
                          <a:solidFill>
                            <a:srgbClr val="000000"/>
                          </a:solidFill>
                          <a:effectLst/>
                          <a:latin typeface="Arial" panose="020B0604020202020204" pitchFamily="34" charset="0"/>
                          <a:ea typeface="Century Gothic" panose="020B0502020202020204" pitchFamily="34" charset="0"/>
                          <a:cs typeface="Arial" panose="020B0604020202020204" pitchFamily="34" charset="0"/>
                        </a:rPr>
                        <a:t> </a:t>
                      </a:r>
                      <a:endParaRPr lang="es-ES" sz="1000">
                        <a:effectLst/>
                        <a:latin typeface="Arial" panose="020B0604020202020204" pitchFamily="34" charset="0"/>
                        <a:ea typeface="Century Gothic" panose="020B0502020202020204" pitchFamily="34" charset="0"/>
                        <a:cs typeface="Times New Roman" panose="02020603050405020304" pitchFamily="18" charset="0"/>
                      </a:endParaRPr>
                    </a:p>
                  </a:txBody>
                  <a:tcPr marL="68580" marR="68580" marT="0" marB="0">
                    <a:lnL>
                      <a:noFill/>
                    </a:lnL>
                    <a:lnR>
                      <a:noFill/>
                    </a:lnR>
                    <a:lnT>
                      <a:noFill/>
                    </a:lnT>
                    <a:lnB w="12700"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772027403"/>
                  </a:ext>
                </a:extLst>
              </a:tr>
              <a:tr h="345207">
                <a:tc>
                  <a:txBody>
                    <a:bodyPr/>
                    <a:lstStyle/>
                    <a:p>
                      <a:pPr algn="just">
                        <a:spcAft>
                          <a:spcPts val="0"/>
                        </a:spcAft>
                      </a:pPr>
                      <a:r>
                        <a:rPr lang="en-GB" sz="900" b="1" i="1">
                          <a:solidFill>
                            <a:srgbClr val="000000"/>
                          </a:solidFill>
                          <a:effectLst/>
                          <a:latin typeface="Arial" panose="020B0604020202020204" pitchFamily="34" charset="0"/>
                          <a:ea typeface="Century Gothic" panose="020B0502020202020204" pitchFamily="34" charset="0"/>
                          <a:cs typeface="Arial" panose="020B0604020202020204" pitchFamily="34" charset="0"/>
                        </a:rPr>
                        <a:t>Scope</a:t>
                      </a:r>
                      <a:endParaRPr lang="es-ES" sz="1000">
                        <a:effectLst/>
                        <a:latin typeface="Arial" panose="020B0604020202020204" pitchFamily="34" charset="0"/>
                        <a:ea typeface="Century Gothic" panose="020B0502020202020204" pitchFamily="34" charset="0"/>
                        <a:cs typeface="Times New Roman" panose="02020603050405020304" pitchFamily="18" charset="0"/>
                      </a:endParaRPr>
                    </a:p>
                  </a:txBody>
                  <a:tcPr marL="68580" marR="68580" marT="0" marB="0" anchor="ctr">
                    <a:lnL>
                      <a:noFill/>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a:noFill/>
                    </a:lnB>
                    <a:solidFill>
                      <a:srgbClr val="FFFFFF"/>
                    </a:solidFill>
                  </a:tcPr>
                </a:tc>
                <a:tc>
                  <a:txBody>
                    <a:bodyPr/>
                    <a:lstStyle/>
                    <a:p>
                      <a:pPr>
                        <a:spcAft>
                          <a:spcPts val="0"/>
                        </a:spcAft>
                      </a:pPr>
                      <a:r>
                        <a:rPr lang="en-GB" sz="1000" dirty="0">
                          <a:solidFill>
                            <a:srgbClr val="000000"/>
                          </a:solidFill>
                          <a:effectLst/>
                          <a:latin typeface="Arial" panose="020B0604020202020204" pitchFamily="34" charset="0"/>
                          <a:ea typeface="Century Gothic" panose="020B0502020202020204" pitchFamily="34" charset="0"/>
                          <a:cs typeface="Calibri" panose="020F0502020204030204" pitchFamily="34" charset="0"/>
                        </a:rPr>
                        <a:t>The scope defines the limits/boundaries of the use case. </a:t>
                      </a:r>
                      <a:endParaRPr lang="es-ES" sz="1200" dirty="0">
                        <a:solidFill>
                          <a:srgbClr val="000000"/>
                        </a:solidFill>
                        <a:effectLst/>
                        <a:latin typeface="Calibri" panose="020F0502020204030204" pitchFamily="34" charset="0"/>
                        <a:ea typeface="Century Gothic" panose="020B0502020202020204" pitchFamily="34" charset="0"/>
                        <a:cs typeface="Calibri" panose="020F050202020403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3746678236"/>
                  </a:ext>
                </a:extLst>
              </a:tr>
              <a:tr h="345207">
                <a:tc>
                  <a:txBody>
                    <a:bodyPr/>
                    <a:lstStyle/>
                    <a:p>
                      <a:pPr algn="just">
                        <a:spcAft>
                          <a:spcPts val="0"/>
                        </a:spcAft>
                      </a:pPr>
                      <a:r>
                        <a:rPr lang="en-GB" sz="900" b="1" i="1">
                          <a:solidFill>
                            <a:srgbClr val="000000"/>
                          </a:solidFill>
                          <a:effectLst/>
                          <a:latin typeface="Arial" panose="020B0604020202020204" pitchFamily="34" charset="0"/>
                          <a:ea typeface="Century Gothic" panose="020B0502020202020204" pitchFamily="34" charset="0"/>
                          <a:cs typeface="Arial" panose="020B0604020202020204" pitchFamily="34" charset="0"/>
                        </a:rPr>
                        <a:t>Objective</a:t>
                      </a:r>
                      <a:endParaRPr lang="es-ES" sz="1000">
                        <a:effectLst/>
                        <a:latin typeface="Arial" panose="020B0604020202020204" pitchFamily="34" charset="0"/>
                        <a:ea typeface="Century Gothic" panose="020B0502020202020204" pitchFamily="34" charset="0"/>
                        <a:cs typeface="Times New Roman" panose="02020603050405020304" pitchFamily="18" charset="0"/>
                      </a:endParaRPr>
                    </a:p>
                  </a:txBody>
                  <a:tcPr marL="68580" marR="68580" marT="0" marB="0" anchor="ctr">
                    <a:lnL>
                      <a:noFill/>
                    </a:lnL>
                    <a:lnR w="12700" cap="flat" cmpd="sng" algn="ctr">
                      <a:solidFill>
                        <a:srgbClr val="666666"/>
                      </a:solidFill>
                      <a:prstDash val="solid"/>
                      <a:round/>
                      <a:headEnd type="none" w="med" len="med"/>
                      <a:tailEnd type="none" w="med" len="med"/>
                    </a:lnR>
                    <a:lnT>
                      <a:noFill/>
                    </a:lnT>
                    <a:lnB>
                      <a:noFill/>
                    </a:lnB>
                    <a:solidFill>
                      <a:srgbClr val="FFFFFF"/>
                    </a:solidFill>
                  </a:tcPr>
                </a:tc>
                <a:tc>
                  <a:txBody>
                    <a:bodyPr/>
                    <a:lstStyle/>
                    <a:p>
                      <a:pPr>
                        <a:spcAft>
                          <a:spcPts val="0"/>
                        </a:spcAft>
                      </a:pPr>
                      <a:r>
                        <a:rPr lang="en-GB" sz="1000" dirty="0">
                          <a:solidFill>
                            <a:srgbClr val="000000"/>
                          </a:solidFill>
                          <a:effectLst/>
                          <a:latin typeface="Arial" panose="020B0604020202020204" pitchFamily="34" charset="0"/>
                          <a:ea typeface="Century Gothic" panose="020B0502020202020204" pitchFamily="34" charset="0"/>
                          <a:cs typeface="Calibri" panose="020F0502020204030204" pitchFamily="34" charset="0"/>
                        </a:rPr>
                        <a:t>Lists the objectives of the use case.</a:t>
                      </a:r>
                      <a:endParaRPr lang="es-ES" sz="1200" dirty="0">
                        <a:solidFill>
                          <a:srgbClr val="000000"/>
                        </a:solidFill>
                        <a:effectLst/>
                        <a:latin typeface="Calibri" panose="020F0502020204030204" pitchFamily="34" charset="0"/>
                        <a:ea typeface="Century Gothic" panose="020B0502020202020204" pitchFamily="34" charset="0"/>
                        <a:cs typeface="Calibri" panose="020F050202020403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tcPr>
                </a:tc>
                <a:extLst>
                  <a:ext uri="{0D108BD9-81ED-4DB2-BD59-A6C34878D82A}">
                    <a16:rowId xmlns:a16="http://schemas.microsoft.com/office/drawing/2014/main" val="3299306529"/>
                  </a:ext>
                </a:extLst>
              </a:tr>
              <a:tr h="1726034">
                <a:tc>
                  <a:txBody>
                    <a:bodyPr/>
                    <a:lstStyle/>
                    <a:p>
                      <a:pPr algn="just">
                        <a:spcAft>
                          <a:spcPts val="0"/>
                        </a:spcAft>
                      </a:pPr>
                      <a:r>
                        <a:rPr lang="en-GB" sz="900" b="1" i="1">
                          <a:solidFill>
                            <a:srgbClr val="000000"/>
                          </a:solidFill>
                          <a:effectLst/>
                          <a:latin typeface="Arial" panose="020B0604020202020204" pitchFamily="34" charset="0"/>
                          <a:ea typeface="Century Gothic" panose="020B0502020202020204" pitchFamily="34" charset="0"/>
                          <a:cs typeface="Arial" panose="020B0604020202020204" pitchFamily="34" charset="0"/>
                        </a:rPr>
                        <a:t>Related Grid Problems</a:t>
                      </a:r>
                      <a:endParaRPr lang="es-ES" sz="1000">
                        <a:effectLst/>
                        <a:latin typeface="Arial" panose="020B0604020202020204" pitchFamily="34" charset="0"/>
                        <a:ea typeface="Century Gothic" panose="020B0502020202020204" pitchFamily="34" charset="0"/>
                        <a:cs typeface="Times New Roman" panose="02020603050405020304" pitchFamily="18" charset="0"/>
                      </a:endParaRPr>
                    </a:p>
                  </a:txBody>
                  <a:tcPr marL="68580" marR="68580" marT="0" marB="0" anchor="ctr">
                    <a:lnL>
                      <a:noFill/>
                    </a:lnL>
                    <a:lnR w="12700" cap="flat" cmpd="sng" algn="ctr">
                      <a:solidFill>
                        <a:srgbClr val="666666"/>
                      </a:solidFill>
                      <a:prstDash val="solid"/>
                      <a:round/>
                      <a:headEnd type="none" w="med" len="med"/>
                      <a:tailEnd type="none" w="med" len="med"/>
                    </a:lnR>
                    <a:lnT>
                      <a:noFill/>
                    </a:lnT>
                    <a:lnB>
                      <a:noFill/>
                    </a:lnB>
                    <a:solidFill>
                      <a:srgbClr val="FFFFFF"/>
                    </a:solidFill>
                  </a:tcPr>
                </a:tc>
                <a:tc>
                  <a:txBody>
                    <a:bodyPr/>
                    <a:lstStyle/>
                    <a:p>
                      <a:pPr>
                        <a:spcAft>
                          <a:spcPts val="0"/>
                        </a:spcAft>
                      </a:pPr>
                      <a:r>
                        <a:rPr lang="en-GB" sz="1000" dirty="0">
                          <a:solidFill>
                            <a:srgbClr val="000000"/>
                          </a:solidFill>
                          <a:effectLst/>
                          <a:latin typeface="Arial" panose="020B0604020202020204" pitchFamily="34" charset="0"/>
                          <a:ea typeface="Century Gothic" panose="020B0502020202020204" pitchFamily="34" charset="0"/>
                          <a:cs typeface="Calibri" panose="020F0502020204030204" pitchFamily="34" charset="0"/>
                        </a:rPr>
                        <a:t>Provides a description or reference with some rationale for the suggested use case. Usually the business case is related to several use cases. Therefore, an external reference or link to a business case/business requirements might be more efficient and can be added here. </a:t>
                      </a:r>
                      <a:endParaRPr lang="es-ES" sz="1200" dirty="0">
                        <a:solidFill>
                          <a:srgbClr val="000000"/>
                        </a:solidFill>
                        <a:effectLst/>
                        <a:latin typeface="Calibri" panose="020F0502020204030204" pitchFamily="34" charset="0"/>
                        <a:ea typeface="Century Gothic" panose="020B0502020202020204" pitchFamily="34" charset="0"/>
                        <a:cs typeface="Calibri" panose="020F050202020403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3142834456"/>
                  </a:ext>
                </a:extLst>
              </a:tr>
              <a:tr h="1035621">
                <a:tc>
                  <a:txBody>
                    <a:bodyPr/>
                    <a:lstStyle/>
                    <a:p>
                      <a:pPr algn="just">
                        <a:spcAft>
                          <a:spcPts val="0"/>
                        </a:spcAft>
                      </a:pPr>
                      <a:r>
                        <a:rPr lang="en-GB" sz="900" b="1" i="1">
                          <a:solidFill>
                            <a:srgbClr val="000000"/>
                          </a:solidFill>
                          <a:effectLst/>
                          <a:latin typeface="Arial" panose="020B0604020202020204" pitchFamily="34" charset="0"/>
                          <a:ea typeface="Century Gothic" panose="020B0502020202020204" pitchFamily="34" charset="0"/>
                          <a:cs typeface="Calibri" panose="020F0502020204030204" pitchFamily="34" charset="0"/>
                        </a:rPr>
                        <a:t>Relation to other use cases </a:t>
                      </a:r>
                      <a:endParaRPr lang="es-ES" sz="1200">
                        <a:solidFill>
                          <a:srgbClr val="000000"/>
                        </a:solidFill>
                        <a:effectLst/>
                        <a:latin typeface="Calibri" panose="020F0502020204030204" pitchFamily="34" charset="0"/>
                        <a:ea typeface="Century Gothic" panose="020B0502020202020204" pitchFamily="34" charset="0"/>
                        <a:cs typeface="Calibri" panose="020F0502020204030204" pitchFamily="34" charset="0"/>
                      </a:endParaRPr>
                    </a:p>
                    <a:p>
                      <a:pPr algn="just">
                        <a:spcAft>
                          <a:spcPts val="0"/>
                        </a:spcAft>
                      </a:pPr>
                      <a:r>
                        <a:rPr lang="en-GB" sz="900" b="1" i="1">
                          <a:solidFill>
                            <a:srgbClr val="000000"/>
                          </a:solidFill>
                          <a:effectLst/>
                          <a:latin typeface="Arial" panose="020B0604020202020204" pitchFamily="34" charset="0"/>
                          <a:ea typeface="Century Gothic" panose="020B0502020202020204" pitchFamily="34" charset="0"/>
                          <a:cs typeface="Arial" panose="020B0604020202020204" pitchFamily="34" charset="0"/>
                        </a:rPr>
                        <a:t> </a:t>
                      </a:r>
                      <a:endParaRPr lang="es-ES" sz="1000">
                        <a:effectLst/>
                        <a:latin typeface="Arial" panose="020B0604020202020204" pitchFamily="34" charset="0"/>
                        <a:ea typeface="Century Gothic" panose="020B0502020202020204" pitchFamily="34" charset="0"/>
                        <a:cs typeface="Times New Roman" panose="02020603050405020304" pitchFamily="18" charset="0"/>
                      </a:endParaRPr>
                    </a:p>
                  </a:txBody>
                  <a:tcPr marL="68580" marR="68580" marT="0" marB="0" anchor="ctr">
                    <a:lnL>
                      <a:noFill/>
                    </a:lnL>
                    <a:lnR w="12700" cap="flat" cmpd="sng" algn="ctr">
                      <a:solidFill>
                        <a:srgbClr val="666666"/>
                      </a:solidFill>
                      <a:prstDash val="solid"/>
                      <a:round/>
                      <a:headEnd type="none" w="med" len="med"/>
                      <a:tailEnd type="none" w="med" len="med"/>
                    </a:lnR>
                    <a:lnT>
                      <a:noFill/>
                    </a:lnT>
                    <a:lnB>
                      <a:noFill/>
                    </a:lnB>
                    <a:solidFill>
                      <a:srgbClr val="FFFFFF"/>
                    </a:solidFill>
                  </a:tcPr>
                </a:tc>
                <a:tc>
                  <a:txBody>
                    <a:bodyPr/>
                    <a:lstStyle/>
                    <a:p>
                      <a:pPr>
                        <a:spcAft>
                          <a:spcPts val="0"/>
                        </a:spcAft>
                      </a:pPr>
                      <a:r>
                        <a:rPr lang="en-GB" sz="1000" dirty="0">
                          <a:solidFill>
                            <a:srgbClr val="000000"/>
                          </a:solidFill>
                          <a:effectLst/>
                          <a:latin typeface="Arial" panose="020B0604020202020204" pitchFamily="34" charset="0"/>
                          <a:ea typeface="Century Gothic" panose="020B0502020202020204" pitchFamily="34" charset="0"/>
                          <a:cs typeface="Calibri" panose="020F0502020204030204" pitchFamily="34" charset="0"/>
                        </a:rPr>
                        <a:t>Does the use case relate to higher or lower level use cases, e.g. use case concept or business use case? Is there a consistent relationship of refinement (specialization) between roles and actors? </a:t>
                      </a:r>
                      <a:endParaRPr lang="es-ES" sz="1200" dirty="0">
                        <a:solidFill>
                          <a:srgbClr val="000000"/>
                        </a:solidFill>
                        <a:effectLst/>
                        <a:latin typeface="Calibri" panose="020F0502020204030204" pitchFamily="34" charset="0"/>
                        <a:ea typeface="Century Gothic" panose="020B0502020202020204" pitchFamily="34" charset="0"/>
                        <a:cs typeface="Calibri" panose="020F050202020403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tcPr>
                </a:tc>
                <a:extLst>
                  <a:ext uri="{0D108BD9-81ED-4DB2-BD59-A6C34878D82A}">
                    <a16:rowId xmlns:a16="http://schemas.microsoft.com/office/drawing/2014/main" val="3663244135"/>
                  </a:ext>
                </a:extLst>
              </a:tr>
              <a:tr h="345207">
                <a:tc>
                  <a:txBody>
                    <a:bodyPr/>
                    <a:lstStyle/>
                    <a:p>
                      <a:pPr algn="just">
                        <a:spcAft>
                          <a:spcPts val="0"/>
                        </a:spcAft>
                      </a:pPr>
                      <a:r>
                        <a:rPr lang="en-GB" sz="900" b="1" i="1">
                          <a:solidFill>
                            <a:srgbClr val="000000"/>
                          </a:solidFill>
                          <a:effectLst/>
                          <a:latin typeface="Arial" panose="020B0604020202020204" pitchFamily="34" charset="0"/>
                          <a:ea typeface="Century Gothic" panose="020B0502020202020204" pitchFamily="34" charset="0"/>
                          <a:cs typeface="Calibri" panose="020F0502020204030204" pitchFamily="34" charset="0"/>
                        </a:rPr>
                        <a:t>Viewpoint</a:t>
                      </a:r>
                      <a:endParaRPr lang="es-ES" sz="1200">
                        <a:solidFill>
                          <a:srgbClr val="000000"/>
                        </a:solidFill>
                        <a:effectLst/>
                        <a:latin typeface="Calibri" panose="020F0502020204030204" pitchFamily="34" charset="0"/>
                        <a:ea typeface="Century Gothic" panose="020B0502020202020204" pitchFamily="34" charset="0"/>
                        <a:cs typeface="Calibri" panose="020F0502020204030204" pitchFamily="34" charset="0"/>
                      </a:endParaRPr>
                    </a:p>
                  </a:txBody>
                  <a:tcPr marL="68580" marR="68580" marT="0" marB="0" anchor="ctr">
                    <a:lnL>
                      <a:noFill/>
                    </a:lnL>
                    <a:lnR w="12700" cap="flat" cmpd="sng" algn="ctr">
                      <a:solidFill>
                        <a:srgbClr val="666666"/>
                      </a:solidFill>
                      <a:prstDash val="solid"/>
                      <a:round/>
                      <a:headEnd type="none" w="med" len="med"/>
                      <a:tailEnd type="none" w="med" len="med"/>
                    </a:lnR>
                    <a:lnT>
                      <a:noFill/>
                    </a:lnT>
                    <a:lnB>
                      <a:noFill/>
                    </a:lnB>
                    <a:solidFill>
                      <a:srgbClr val="FFFFFF"/>
                    </a:solidFill>
                  </a:tcPr>
                </a:tc>
                <a:tc>
                  <a:txBody>
                    <a:bodyPr/>
                    <a:lstStyle/>
                    <a:p>
                      <a:pPr>
                        <a:spcAft>
                          <a:spcPts val="0"/>
                        </a:spcAft>
                      </a:pPr>
                      <a:r>
                        <a:rPr lang="en-GB" sz="1000">
                          <a:solidFill>
                            <a:srgbClr val="000000"/>
                          </a:solidFill>
                          <a:effectLst/>
                          <a:latin typeface="Arial" panose="020B0604020202020204" pitchFamily="34" charset="0"/>
                          <a:ea typeface="Century Gothic" panose="020B0502020202020204" pitchFamily="34" charset="0"/>
                          <a:cs typeface="Calibri" panose="020F0502020204030204" pitchFamily="34" charset="0"/>
                        </a:rPr>
                        <a:t>Business / Technical </a:t>
                      </a:r>
                      <a:endParaRPr lang="es-ES" sz="1200">
                        <a:solidFill>
                          <a:srgbClr val="000000"/>
                        </a:solidFill>
                        <a:effectLst/>
                        <a:latin typeface="Calibri" panose="020F0502020204030204" pitchFamily="34" charset="0"/>
                        <a:ea typeface="Century Gothic" panose="020B0502020202020204" pitchFamily="34" charset="0"/>
                        <a:cs typeface="Calibri" panose="020F050202020403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737767407"/>
                  </a:ext>
                </a:extLst>
              </a:tr>
              <a:tr h="345207">
                <a:tc>
                  <a:txBody>
                    <a:bodyPr/>
                    <a:lstStyle/>
                    <a:p>
                      <a:pPr algn="just">
                        <a:spcAft>
                          <a:spcPts val="0"/>
                        </a:spcAft>
                      </a:pPr>
                      <a:r>
                        <a:rPr lang="en-GB" sz="900" b="1" i="1">
                          <a:solidFill>
                            <a:srgbClr val="000000"/>
                          </a:solidFill>
                          <a:effectLst/>
                          <a:latin typeface="Arial" panose="020B0604020202020204" pitchFamily="34" charset="0"/>
                          <a:ea typeface="Century Gothic" panose="020B0502020202020204" pitchFamily="34" charset="0"/>
                          <a:cs typeface="Calibri" panose="020F0502020204030204" pitchFamily="34" charset="0"/>
                        </a:rPr>
                        <a:t>Type</a:t>
                      </a:r>
                      <a:endParaRPr lang="es-ES" sz="1200">
                        <a:solidFill>
                          <a:srgbClr val="000000"/>
                        </a:solidFill>
                        <a:effectLst/>
                        <a:latin typeface="Calibri" panose="020F0502020204030204" pitchFamily="34" charset="0"/>
                        <a:ea typeface="Century Gothic" panose="020B0502020202020204" pitchFamily="34" charset="0"/>
                        <a:cs typeface="Calibri" panose="020F0502020204030204" pitchFamily="34" charset="0"/>
                      </a:endParaRPr>
                    </a:p>
                  </a:txBody>
                  <a:tcPr marL="68580" marR="68580" marT="0" marB="0" anchor="ctr">
                    <a:lnL>
                      <a:noFill/>
                    </a:lnL>
                    <a:lnR w="12700" cap="flat" cmpd="sng" algn="ctr">
                      <a:solidFill>
                        <a:srgbClr val="666666"/>
                      </a:solidFill>
                      <a:prstDash val="solid"/>
                      <a:round/>
                      <a:headEnd type="none" w="med" len="med"/>
                      <a:tailEnd type="none" w="med" len="med"/>
                    </a:lnR>
                    <a:lnT>
                      <a:noFill/>
                    </a:lnT>
                    <a:lnB>
                      <a:noFill/>
                    </a:lnB>
                    <a:solidFill>
                      <a:srgbClr val="FFFFFF"/>
                    </a:solidFill>
                  </a:tcPr>
                </a:tc>
                <a:tc>
                  <a:txBody>
                    <a:bodyPr/>
                    <a:lstStyle/>
                    <a:p>
                      <a:pPr>
                        <a:spcAft>
                          <a:spcPts val="0"/>
                        </a:spcAft>
                      </a:pPr>
                      <a:r>
                        <a:rPr lang="en-GB" sz="1000" dirty="0">
                          <a:solidFill>
                            <a:srgbClr val="000000"/>
                          </a:solidFill>
                          <a:effectLst/>
                          <a:latin typeface="Arial" panose="020B0604020202020204" pitchFamily="34" charset="0"/>
                          <a:ea typeface="Century Gothic" panose="020B0502020202020204" pitchFamily="34" charset="0"/>
                          <a:cs typeface="Calibri" panose="020F0502020204030204" pitchFamily="34" charset="0"/>
                        </a:rPr>
                        <a:t>HLUC / PUC</a:t>
                      </a:r>
                      <a:endParaRPr lang="es-ES" sz="1200" dirty="0">
                        <a:solidFill>
                          <a:srgbClr val="000000"/>
                        </a:solidFill>
                        <a:effectLst/>
                        <a:latin typeface="Calibri" panose="020F0502020204030204" pitchFamily="34" charset="0"/>
                        <a:ea typeface="Century Gothic" panose="020B0502020202020204" pitchFamily="34" charset="0"/>
                        <a:cs typeface="Calibri" panose="020F050202020403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tcPr>
                </a:tc>
                <a:extLst>
                  <a:ext uri="{0D108BD9-81ED-4DB2-BD59-A6C34878D82A}">
                    <a16:rowId xmlns:a16="http://schemas.microsoft.com/office/drawing/2014/main" val="3199297674"/>
                  </a:ext>
                </a:extLst>
              </a:tr>
            </a:tbl>
          </a:graphicData>
        </a:graphic>
      </p:graphicFrame>
    </p:spTree>
    <p:extLst>
      <p:ext uri="{BB962C8B-B14F-4D97-AF65-F5344CB8AC3E}">
        <p14:creationId xmlns:p14="http://schemas.microsoft.com/office/powerpoint/2010/main" val="2028211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165B11-BED3-9B40-B676-FC8039975DA2}"/>
              </a:ext>
            </a:extLst>
          </p:cNvPr>
          <p:cNvSpPr>
            <a:spLocks noGrp="1"/>
          </p:cNvSpPr>
          <p:nvPr>
            <p:ph type="title"/>
          </p:nvPr>
        </p:nvSpPr>
        <p:spPr>
          <a:xfrm>
            <a:off x="342900" y="366184"/>
            <a:ext cx="6172200" cy="605416"/>
          </a:xfrm>
        </p:spPr>
        <p:txBody>
          <a:bodyPr>
            <a:normAutofit/>
          </a:bodyPr>
          <a:lstStyle/>
          <a:p>
            <a:r>
              <a:rPr lang="es-ES" sz="3200" err="1"/>
              <a:t>Narratives</a:t>
            </a:r>
            <a:r>
              <a:rPr lang="es-ES" sz="3200"/>
              <a:t> of [UC </a:t>
            </a:r>
            <a:r>
              <a:rPr lang="es-ES" sz="3200" err="1"/>
              <a:t>name</a:t>
            </a:r>
            <a:r>
              <a:rPr lang="es-ES" sz="3200"/>
              <a:t>]</a:t>
            </a:r>
            <a:endParaRPr lang="en-GB" sz="3200"/>
          </a:p>
        </p:txBody>
      </p:sp>
      <p:graphicFrame>
        <p:nvGraphicFramePr>
          <p:cNvPr id="7" name="Tabla 6">
            <a:extLst>
              <a:ext uri="{FF2B5EF4-FFF2-40B4-BE49-F238E27FC236}">
                <a16:creationId xmlns:a16="http://schemas.microsoft.com/office/drawing/2014/main" id="{18D02E63-0228-0844-A54D-8A38748DD2B7}"/>
              </a:ext>
            </a:extLst>
          </p:cNvPr>
          <p:cNvGraphicFramePr>
            <a:graphicFrameLocks noGrp="1"/>
          </p:cNvGraphicFramePr>
          <p:nvPr>
            <p:extLst>
              <p:ext uri="{D42A27DB-BD31-4B8C-83A1-F6EECF244321}">
                <p14:modId xmlns:p14="http://schemas.microsoft.com/office/powerpoint/2010/main" val="3879702286"/>
              </p:ext>
            </p:extLst>
          </p:nvPr>
        </p:nvGraphicFramePr>
        <p:xfrm>
          <a:off x="709612" y="1331640"/>
          <a:ext cx="5438775" cy="5272516"/>
        </p:xfrm>
        <a:graphic>
          <a:graphicData uri="http://schemas.openxmlformats.org/drawingml/2006/table">
            <a:tbl>
              <a:tblPr/>
              <a:tblGrid>
                <a:gridCol w="5438775">
                  <a:extLst>
                    <a:ext uri="{9D8B030D-6E8A-4147-A177-3AD203B41FA5}">
                      <a16:colId xmlns:a16="http://schemas.microsoft.com/office/drawing/2014/main" val="1020777556"/>
                    </a:ext>
                  </a:extLst>
                </a:gridCol>
              </a:tblGrid>
              <a:tr h="146780">
                <a:tc>
                  <a:txBody>
                    <a:bodyPr/>
                    <a:lstStyle/>
                    <a:p>
                      <a:pPr algn="just">
                        <a:lnSpc>
                          <a:spcPct val="107000"/>
                        </a:lnSpc>
                        <a:spcAft>
                          <a:spcPts val="800"/>
                        </a:spcAft>
                      </a:pPr>
                      <a:r>
                        <a:rPr lang="en-GB" sz="900" b="1" i="1">
                          <a:solidFill>
                            <a:srgbClr val="000000"/>
                          </a:solidFill>
                          <a:effectLst/>
                          <a:latin typeface="Arial" panose="020B0604020202020204" pitchFamily="34" charset="0"/>
                          <a:ea typeface="Century Gothic" panose="020B0502020202020204" pitchFamily="34" charset="0"/>
                          <a:cs typeface="Arial" panose="020B0604020202020204" pitchFamily="34" charset="0"/>
                        </a:rPr>
                        <a:t>Short Description </a:t>
                      </a:r>
                      <a:endParaRPr lang="es-ES" sz="1000">
                        <a:effectLst/>
                        <a:latin typeface="Arial" panose="020B0604020202020204" pitchFamily="34" charset="0"/>
                        <a:ea typeface="Century Gothic" panose="020B0502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4015232904"/>
                  </a:ext>
                </a:extLst>
              </a:tr>
              <a:tr h="1348359">
                <a:tc>
                  <a:txBody>
                    <a:bodyPr/>
                    <a:lstStyle/>
                    <a:p>
                      <a:pPr algn="l">
                        <a:lnSpc>
                          <a:spcPct val="107000"/>
                        </a:lnSpc>
                        <a:spcAft>
                          <a:spcPts val="800"/>
                        </a:spcAft>
                      </a:pPr>
                      <a:r>
                        <a:rPr lang="en-GB" sz="900">
                          <a:solidFill>
                            <a:srgbClr val="000000"/>
                          </a:solidFill>
                          <a:effectLst/>
                          <a:latin typeface="Arial" panose="020B0604020202020204" pitchFamily="34" charset="0"/>
                          <a:ea typeface="Century Gothic" panose="020B0502020202020204" pitchFamily="34" charset="0"/>
                          <a:cs typeface="Arial" panose="020B0604020202020204" pitchFamily="34" charset="0"/>
                        </a:rPr>
                        <a:t>Short text intended to summarize the main idea as service for the reader who is searching for a use case or looking for an overview. Recommendation: This short description should have not more than 150 words. The narrative Describes the intent of the actor in performing the use case, relevant actions and explain key concepts on the domain.</a:t>
                      </a:r>
                    </a:p>
                    <a:p>
                      <a:pPr algn="l">
                        <a:lnSpc>
                          <a:spcPct val="107000"/>
                        </a:lnSpc>
                        <a:spcAft>
                          <a:spcPts val="800"/>
                        </a:spcAft>
                      </a:pPr>
                      <a:endParaRPr lang="en-GB" sz="900">
                        <a:solidFill>
                          <a:srgbClr val="000000"/>
                        </a:solidFill>
                        <a:effectLst/>
                        <a:latin typeface="Arial" panose="020B0604020202020204" pitchFamily="34" charset="0"/>
                        <a:ea typeface="Century Gothic" panose="020B0502020202020204" pitchFamily="34" charset="0"/>
                        <a:cs typeface="Arial" panose="020B0604020202020204" pitchFamily="34" charset="0"/>
                      </a:endParaRPr>
                    </a:p>
                    <a:p>
                      <a:pPr algn="l">
                        <a:lnSpc>
                          <a:spcPct val="107000"/>
                        </a:lnSpc>
                        <a:spcAft>
                          <a:spcPts val="800"/>
                        </a:spcAft>
                      </a:pPr>
                      <a:endParaRPr lang="en-GB" sz="900">
                        <a:solidFill>
                          <a:srgbClr val="000000"/>
                        </a:solidFill>
                        <a:effectLst/>
                        <a:latin typeface="Arial" panose="020B0604020202020204" pitchFamily="34" charset="0"/>
                        <a:ea typeface="Century Gothic" panose="020B0502020202020204" pitchFamily="34" charset="0"/>
                        <a:cs typeface="Arial" panose="020B0604020202020204" pitchFamily="34" charset="0"/>
                      </a:endParaRPr>
                    </a:p>
                    <a:p>
                      <a:pPr algn="l">
                        <a:lnSpc>
                          <a:spcPct val="107000"/>
                        </a:lnSpc>
                        <a:spcAft>
                          <a:spcPts val="800"/>
                        </a:spcAft>
                      </a:pPr>
                      <a:endParaRPr lang="es-ES" sz="1000">
                        <a:effectLst/>
                        <a:latin typeface="Arial" panose="020B0604020202020204" pitchFamily="34" charset="0"/>
                        <a:ea typeface="Century Gothic" panose="020B0502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40518"/>
                  </a:ext>
                </a:extLst>
              </a:tr>
              <a:tr h="146780">
                <a:tc>
                  <a:txBody>
                    <a:bodyPr/>
                    <a:lstStyle/>
                    <a:p>
                      <a:pPr algn="just">
                        <a:lnSpc>
                          <a:spcPct val="107000"/>
                        </a:lnSpc>
                        <a:spcAft>
                          <a:spcPts val="800"/>
                        </a:spcAft>
                      </a:pPr>
                      <a:r>
                        <a:rPr lang="en-GB" sz="900" b="1" i="1">
                          <a:solidFill>
                            <a:srgbClr val="000000"/>
                          </a:solidFill>
                          <a:effectLst/>
                          <a:latin typeface="Arial" panose="020B0604020202020204" pitchFamily="34" charset="0"/>
                          <a:ea typeface="Century Gothic" panose="020B0502020202020204" pitchFamily="34" charset="0"/>
                          <a:cs typeface="Arial" panose="020B0604020202020204" pitchFamily="34" charset="0"/>
                        </a:rPr>
                        <a:t>Complete Description </a:t>
                      </a:r>
                      <a:endParaRPr lang="es-ES" sz="1000">
                        <a:effectLst/>
                        <a:latin typeface="Arial" panose="020B0604020202020204" pitchFamily="34" charset="0"/>
                        <a:ea typeface="Century Gothic" panose="020B0502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602449858"/>
                  </a:ext>
                </a:extLst>
              </a:tr>
              <a:tr h="3278077">
                <a:tc>
                  <a:txBody>
                    <a:bodyPr/>
                    <a:lstStyle/>
                    <a:p>
                      <a:pPr>
                        <a:lnSpc>
                          <a:spcPct val="107000"/>
                        </a:lnSpc>
                        <a:spcAft>
                          <a:spcPts val="0"/>
                        </a:spcAft>
                      </a:pPr>
                      <a:r>
                        <a:rPr lang="en-GB" sz="900">
                          <a:solidFill>
                            <a:srgbClr val="000000"/>
                          </a:solidFill>
                          <a:effectLst/>
                          <a:latin typeface="Arial" panose="020B0604020202020204" pitchFamily="34" charset="0"/>
                          <a:ea typeface="Century Gothic" panose="020B0502020202020204" pitchFamily="34" charset="0"/>
                          <a:cs typeface="Calibri" panose="020F0502020204030204" pitchFamily="34" charset="0"/>
                        </a:rPr>
                        <a:t>Provides a complete narrative of the use case from a user’s point of view, describing what occurs when, why, with what expectation, and under what conditions. This narrative should be written in plain text so that non-domain experts can understand it. The complete description of the Use Case can range from a few sentences to a few pages. </a:t>
                      </a:r>
                      <a:endParaRPr lang="es-ES" sz="1200">
                        <a:solidFill>
                          <a:srgbClr val="000000"/>
                        </a:solidFill>
                        <a:effectLst/>
                        <a:latin typeface="Calibri" panose="020F0502020204030204" pitchFamily="34" charset="0"/>
                        <a:ea typeface="Century Gothic" panose="020B0502020202020204" pitchFamily="34" charset="0"/>
                        <a:cs typeface="Calibri" panose="020F0502020204030204" pitchFamily="34" charset="0"/>
                      </a:endParaRPr>
                    </a:p>
                    <a:p>
                      <a:pPr>
                        <a:lnSpc>
                          <a:spcPct val="107000"/>
                        </a:lnSpc>
                        <a:spcAft>
                          <a:spcPts val="0"/>
                        </a:spcAft>
                      </a:pPr>
                      <a:r>
                        <a:rPr lang="en-GB" sz="900">
                          <a:solidFill>
                            <a:srgbClr val="000000"/>
                          </a:solidFill>
                          <a:effectLst/>
                          <a:latin typeface="Arial" panose="020B0604020202020204" pitchFamily="34" charset="0"/>
                          <a:ea typeface="Century Gothic" panose="020B0502020202020204" pitchFamily="34" charset="0"/>
                          <a:cs typeface="Calibri" panose="020F0502020204030204" pitchFamily="34" charset="0"/>
                        </a:rPr>
                        <a:t> </a:t>
                      </a:r>
                      <a:endParaRPr lang="es-ES" sz="1200">
                        <a:solidFill>
                          <a:srgbClr val="000000"/>
                        </a:solidFill>
                        <a:effectLst/>
                        <a:latin typeface="Calibri" panose="020F0502020204030204" pitchFamily="34" charset="0"/>
                        <a:ea typeface="Century Gothic" panose="020B0502020202020204" pitchFamily="34" charset="0"/>
                        <a:cs typeface="Calibri" panose="020F0502020204030204" pitchFamily="34" charset="0"/>
                      </a:endParaRPr>
                    </a:p>
                    <a:p>
                      <a:pPr>
                        <a:lnSpc>
                          <a:spcPct val="107000"/>
                        </a:lnSpc>
                        <a:spcAft>
                          <a:spcPts val="0"/>
                        </a:spcAft>
                      </a:pPr>
                      <a:r>
                        <a:rPr lang="en-GB" sz="900">
                          <a:solidFill>
                            <a:srgbClr val="000000"/>
                          </a:solidFill>
                          <a:effectLst/>
                          <a:latin typeface="Arial" panose="020B0604020202020204" pitchFamily="34" charset="0"/>
                          <a:ea typeface="Century Gothic" panose="020B0502020202020204" pitchFamily="34" charset="0"/>
                          <a:cs typeface="Calibri" panose="020F0502020204030204" pitchFamily="34" charset="0"/>
                        </a:rPr>
                        <a:t>This section often helps the domain expert to think through the user requirements for the function before getting into the details required by the next sections of the Use Case. </a:t>
                      </a:r>
                      <a:endParaRPr lang="es-ES" sz="1200">
                        <a:solidFill>
                          <a:srgbClr val="000000"/>
                        </a:solidFill>
                        <a:effectLst/>
                        <a:latin typeface="Calibri" panose="020F0502020204030204" pitchFamily="34" charset="0"/>
                        <a:ea typeface="Century Gothic" panose="020B0502020202020204" pitchFamily="34" charset="0"/>
                        <a:cs typeface="Calibri" panose="020F0502020204030204" pitchFamily="34" charset="0"/>
                      </a:endParaRPr>
                    </a:p>
                    <a:p>
                      <a:pPr>
                        <a:lnSpc>
                          <a:spcPct val="107000"/>
                        </a:lnSpc>
                        <a:spcAft>
                          <a:spcPts val="0"/>
                        </a:spcAft>
                      </a:pPr>
                      <a:r>
                        <a:rPr lang="en-GB" sz="900">
                          <a:solidFill>
                            <a:srgbClr val="000000"/>
                          </a:solidFill>
                          <a:effectLst/>
                          <a:latin typeface="Arial" panose="020B0604020202020204" pitchFamily="34" charset="0"/>
                          <a:ea typeface="Century Gothic" panose="020B0502020202020204" pitchFamily="34" charset="0"/>
                          <a:cs typeface="Calibri" panose="020F0502020204030204" pitchFamily="34" charset="0"/>
                        </a:rPr>
                        <a:t> </a:t>
                      </a:r>
                    </a:p>
                    <a:p>
                      <a:pPr>
                        <a:lnSpc>
                          <a:spcPct val="107000"/>
                        </a:lnSpc>
                        <a:spcAft>
                          <a:spcPts val="0"/>
                        </a:spcAft>
                      </a:pPr>
                      <a:endParaRPr lang="en-GB" sz="900">
                        <a:solidFill>
                          <a:srgbClr val="000000"/>
                        </a:solidFill>
                        <a:effectLst/>
                        <a:latin typeface="Arial" panose="020B0604020202020204" pitchFamily="34" charset="0"/>
                        <a:ea typeface="Century Gothic" panose="020B0502020202020204" pitchFamily="34" charset="0"/>
                        <a:cs typeface="Calibri" panose="020F0502020204030204" pitchFamily="34" charset="0"/>
                      </a:endParaRPr>
                    </a:p>
                    <a:p>
                      <a:pPr>
                        <a:lnSpc>
                          <a:spcPct val="107000"/>
                        </a:lnSpc>
                        <a:spcAft>
                          <a:spcPts val="0"/>
                        </a:spcAft>
                      </a:pPr>
                      <a:endParaRPr lang="en-GB" sz="900">
                        <a:solidFill>
                          <a:srgbClr val="000000"/>
                        </a:solidFill>
                        <a:effectLst/>
                        <a:latin typeface="Arial" panose="020B0604020202020204" pitchFamily="34" charset="0"/>
                        <a:ea typeface="Century Gothic" panose="020B0502020202020204" pitchFamily="34" charset="0"/>
                        <a:cs typeface="Calibri" panose="020F0502020204030204" pitchFamily="34" charset="0"/>
                      </a:endParaRPr>
                    </a:p>
                    <a:p>
                      <a:pPr>
                        <a:lnSpc>
                          <a:spcPct val="107000"/>
                        </a:lnSpc>
                        <a:spcAft>
                          <a:spcPts val="0"/>
                        </a:spcAft>
                      </a:pPr>
                      <a:endParaRPr lang="en-GB" sz="900">
                        <a:solidFill>
                          <a:srgbClr val="000000"/>
                        </a:solidFill>
                        <a:effectLst/>
                        <a:latin typeface="Arial" panose="020B0604020202020204" pitchFamily="34" charset="0"/>
                        <a:ea typeface="Century Gothic" panose="020B0502020202020204" pitchFamily="34" charset="0"/>
                        <a:cs typeface="Calibri" panose="020F0502020204030204" pitchFamily="34" charset="0"/>
                      </a:endParaRPr>
                    </a:p>
                    <a:p>
                      <a:pPr>
                        <a:lnSpc>
                          <a:spcPct val="107000"/>
                        </a:lnSpc>
                        <a:spcAft>
                          <a:spcPts val="0"/>
                        </a:spcAft>
                      </a:pPr>
                      <a:endParaRPr lang="en-GB" sz="900">
                        <a:solidFill>
                          <a:srgbClr val="000000"/>
                        </a:solidFill>
                        <a:effectLst/>
                        <a:latin typeface="Arial" panose="020B0604020202020204" pitchFamily="34" charset="0"/>
                        <a:ea typeface="Century Gothic" panose="020B0502020202020204" pitchFamily="34" charset="0"/>
                        <a:cs typeface="Calibri" panose="020F0502020204030204" pitchFamily="34" charset="0"/>
                      </a:endParaRPr>
                    </a:p>
                    <a:p>
                      <a:pPr>
                        <a:lnSpc>
                          <a:spcPct val="107000"/>
                        </a:lnSpc>
                        <a:spcAft>
                          <a:spcPts val="0"/>
                        </a:spcAft>
                      </a:pPr>
                      <a:endParaRPr lang="en-GB" sz="900">
                        <a:solidFill>
                          <a:srgbClr val="000000"/>
                        </a:solidFill>
                        <a:effectLst/>
                        <a:latin typeface="Arial" panose="020B0604020202020204" pitchFamily="34" charset="0"/>
                        <a:ea typeface="Century Gothic" panose="020B0502020202020204" pitchFamily="34" charset="0"/>
                        <a:cs typeface="Calibri" panose="020F0502020204030204" pitchFamily="34" charset="0"/>
                      </a:endParaRPr>
                    </a:p>
                    <a:p>
                      <a:pPr>
                        <a:lnSpc>
                          <a:spcPct val="107000"/>
                        </a:lnSpc>
                        <a:spcAft>
                          <a:spcPts val="0"/>
                        </a:spcAft>
                      </a:pPr>
                      <a:endParaRPr lang="en-GB" sz="900">
                        <a:solidFill>
                          <a:srgbClr val="000000"/>
                        </a:solidFill>
                        <a:effectLst/>
                        <a:latin typeface="Arial" panose="020B0604020202020204" pitchFamily="34" charset="0"/>
                        <a:ea typeface="Century Gothic" panose="020B0502020202020204" pitchFamily="34" charset="0"/>
                        <a:cs typeface="Calibri" panose="020F0502020204030204" pitchFamily="34" charset="0"/>
                      </a:endParaRPr>
                    </a:p>
                    <a:p>
                      <a:pPr>
                        <a:lnSpc>
                          <a:spcPct val="107000"/>
                        </a:lnSpc>
                        <a:spcAft>
                          <a:spcPts val="0"/>
                        </a:spcAft>
                      </a:pPr>
                      <a:endParaRPr lang="en-GB" sz="900">
                        <a:solidFill>
                          <a:srgbClr val="000000"/>
                        </a:solidFill>
                        <a:effectLst/>
                        <a:latin typeface="Arial" panose="020B0604020202020204" pitchFamily="34" charset="0"/>
                        <a:ea typeface="Century Gothic" panose="020B0502020202020204" pitchFamily="34" charset="0"/>
                        <a:cs typeface="Calibri" panose="020F0502020204030204" pitchFamily="34" charset="0"/>
                      </a:endParaRPr>
                    </a:p>
                    <a:p>
                      <a:pPr>
                        <a:lnSpc>
                          <a:spcPct val="107000"/>
                        </a:lnSpc>
                        <a:spcAft>
                          <a:spcPts val="0"/>
                        </a:spcAft>
                      </a:pPr>
                      <a:endParaRPr lang="en-GB" sz="900">
                        <a:solidFill>
                          <a:srgbClr val="000000"/>
                        </a:solidFill>
                        <a:effectLst/>
                        <a:latin typeface="Arial" panose="020B0604020202020204" pitchFamily="34" charset="0"/>
                        <a:ea typeface="Century Gothic" panose="020B0502020202020204" pitchFamily="34" charset="0"/>
                        <a:cs typeface="Calibri" panose="020F0502020204030204" pitchFamily="34" charset="0"/>
                      </a:endParaRPr>
                    </a:p>
                    <a:p>
                      <a:pPr>
                        <a:lnSpc>
                          <a:spcPct val="107000"/>
                        </a:lnSpc>
                        <a:spcAft>
                          <a:spcPts val="0"/>
                        </a:spcAft>
                      </a:pPr>
                      <a:endParaRPr lang="en-GB" sz="900">
                        <a:solidFill>
                          <a:srgbClr val="000000"/>
                        </a:solidFill>
                        <a:effectLst/>
                        <a:latin typeface="Arial" panose="020B0604020202020204" pitchFamily="34" charset="0"/>
                        <a:ea typeface="Century Gothic" panose="020B0502020202020204" pitchFamily="34" charset="0"/>
                        <a:cs typeface="Calibri" panose="020F0502020204030204" pitchFamily="34" charset="0"/>
                      </a:endParaRPr>
                    </a:p>
                    <a:p>
                      <a:pPr>
                        <a:lnSpc>
                          <a:spcPct val="107000"/>
                        </a:lnSpc>
                        <a:spcAft>
                          <a:spcPts val="0"/>
                        </a:spcAft>
                      </a:pPr>
                      <a:endParaRPr lang="en-GB" sz="900">
                        <a:solidFill>
                          <a:srgbClr val="000000"/>
                        </a:solidFill>
                        <a:effectLst/>
                        <a:latin typeface="Arial" panose="020B0604020202020204" pitchFamily="34" charset="0"/>
                        <a:ea typeface="Century Gothic" panose="020B0502020202020204" pitchFamily="34" charset="0"/>
                        <a:cs typeface="Calibri" panose="020F0502020204030204" pitchFamily="34" charset="0"/>
                      </a:endParaRPr>
                    </a:p>
                    <a:p>
                      <a:pPr>
                        <a:lnSpc>
                          <a:spcPct val="107000"/>
                        </a:lnSpc>
                        <a:spcAft>
                          <a:spcPts val="0"/>
                        </a:spcAft>
                      </a:pPr>
                      <a:endParaRPr lang="en-GB" sz="900">
                        <a:solidFill>
                          <a:srgbClr val="000000"/>
                        </a:solidFill>
                        <a:effectLst/>
                        <a:latin typeface="Arial" panose="020B0604020202020204" pitchFamily="34" charset="0"/>
                        <a:ea typeface="Century Gothic" panose="020B0502020202020204" pitchFamily="34" charset="0"/>
                        <a:cs typeface="Calibri" panose="020F0502020204030204" pitchFamily="34" charset="0"/>
                      </a:endParaRPr>
                    </a:p>
                    <a:p>
                      <a:pPr>
                        <a:lnSpc>
                          <a:spcPct val="107000"/>
                        </a:lnSpc>
                        <a:spcAft>
                          <a:spcPts val="0"/>
                        </a:spcAft>
                      </a:pPr>
                      <a:endParaRPr lang="en-GB" sz="900">
                        <a:solidFill>
                          <a:srgbClr val="000000"/>
                        </a:solidFill>
                        <a:effectLst/>
                        <a:latin typeface="Arial" panose="020B0604020202020204" pitchFamily="34" charset="0"/>
                        <a:ea typeface="Century Gothic" panose="020B0502020202020204" pitchFamily="34" charset="0"/>
                        <a:cs typeface="Calibri" panose="020F0502020204030204" pitchFamily="34" charset="0"/>
                      </a:endParaRPr>
                    </a:p>
                    <a:p>
                      <a:pPr>
                        <a:lnSpc>
                          <a:spcPct val="107000"/>
                        </a:lnSpc>
                        <a:spcAft>
                          <a:spcPts val="0"/>
                        </a:spcAft>
                      </a:pPr>
                      <a:endParaRPr lang="en-GB" sz="900">
                        <a:solidFill>
                          <a:srgbClr val="000000"/>
                        </a:solidFill>
                        <a:effectLst/>
                        <a:latin typeface="Arial" panose="020B0604020202020204" pitchFamily="34" charset="0"/>
                        <a:ea typeface="Century Gothic" panose="020B0502020202020204" pitchFamily="34" charset="0"/>
                        <a:cs typeface="Calibri" panose="020F0502020204030204" pitchFamily="34" charset="0"/>
                      </a:endParaRPr>
                    </a:p>
                    <a:p>
                      <a:pPr>
                        <a:lnSpc>
                          <a:spcPct val="107000"/>
                        </a:lnSpc>
                        <a:spcAft>
                          <a:spcPts val="0"/>
                        </a:spcAft>
                      </a:pPr>
                      <a:endParaRPr lang="es-ES" sz="1200">
                        <a:solidFill>
                          <a:srgbClr val="000000"/>
                        </a:solidFill>
                        <a:effectLst/>
                        <a:latin typeface="Calibri" panose="020F0502020204030204" pitchFamily="34" charset="0"/>
                        <a:ea typeface="Century Gothic" panose="020B0502020202020204" pitchFamily="34" charset="0"/>
                        <a:cs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09790565"/>
                  </a:ext>
                </a:extLst>
              </a:tr>
              <a:tr h="146780">
                <a:tc>
                  <a:txBody>
                    <a:bodyPr/>
                    <a:lstStyle/>
                    <a:p>
                      <a:pPr algn="just">
                        <a:lnSpc>
                          <a:spcPct val="107000"/>
                        </a:lnSpc>
                        <a:spcAft>
                          <a:spcPts val="800"/>
                        </a:spcAft>
                      </a:pPr>
                      <a:r>
                        <a:rPr lang="en-GB" sz="900" b="1">
                          <a:solidFill>
                            <a:srgbClr val="000000"/>
                          </a:solidFill>
                          <a:effectLst/>
                          <a:latin typeface="Arial" panose="020B0604020202020204" pitchFamily="34" charset="0"/>
                          <a:ea typeface="Century Gothic" panose="020B0502020202020204" pitchFamily="34" charset="0"/>
                          <a:cs typeface="Arial" panose="020B0604020202020204" pitchFamily="34" charset="0"/>
                        </a:rPr>
                        <a:t>General Remarks </a:t>
                      </a:r>
                      <a:endParaRPr lang="es-ES" sz="1000">
                        <a:effectLst/>
                        <a:latin typeface="Arial" panose="020B0604020202020204" pitchFamily="34" charset="0"/>
                        <a:ea typeface="Century Gothic" panose="020B0502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927762855"/>
                  </a:ext>
                </a:extLst>
              </a:tr>
              <a:tr h="205740">
                <a:tc>
                  <a:txBody>
                    <a:bodyPr/>
                    <a:lstStyle/>
                    <a:p>
                      <a:pPr marL="457200">
                        <a:lnSpc>
                          <a:spcPct val="107000"/>
                        </a:lnSpc>
                        <a:spcAft>
                          <a:spcPts val="0"/>
                        </a:spcAft>
                      </a:pPr>
                      <a:r>
                        <a:rPr lang="en-GB" sz="900">
                          <a:solidFill>
                            <a:srgbClr val="000000"/>
                          </a:solidFill>
                          <a:effectLst/>
                          <a:latin typeface="Arial" panose="020B0604020202020204" pitchFamily="34" charset="0"/>
                          <a:ea typeface="Century Gothic" panose="020B0502020202020204" pitchFamily="34" charset="0"/>
                          <a:cs typeface="Calibri" panose="020F0502020204030204" pitchFamily="34" charset="0"/>
                        </a:rPr>
                        <a:t> </a:t>
                      </a:r>
                      <a:endParaRPr lang="es-ES" sz="1200">
                        <a:solidFill>
                          <a:srgbClr val="000000"/>
                        </a:solidFill>
                        <a:effectLst/>
                        <a:latin typeface="Calibri" panose="020F0502020204030204" pitchFamily="34" charset="0"/>
                        <a:ea typeface="Century Gothic" panose="020B0502020202020204" pitchFamily="34" charset="0"/>
                        <a:cs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7316525"/>
                  </a:ext>
                </a:extLst>
              </a:tr>
            </a:tbl>
          </a:graphicData>
        </a:graphic>
      </p:graphicFrame>
    </p:spTree>
    <p:extLst>
      <p:ext uri="{BB962C8B-B14F-4D97-AF65-F5344CB8AC3E}">
        <p14:creationId xmlns:p14="http://schemas.microsoft.com/office/powerpoint/2010/main" val="1604894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SGAM-Vorlage\A_Component.jpg"/>
          <p:cNvPicPr>
            <a:picLocks noChangeAspect="1" noChangeArrowheads="1"/>
          </p:cNvPicPr>
          <p:nvPr/>
        </p:nvPicPr>
        <p:blipFill>
          <a:blip r:embed="rId2" cstate="print"/>
          <a:stretch>
            <a:fillRect/>
          </a:stretch>
        </p:blipFill>
        <p:spPr bwMode="auto">
          <a:xfrm>
            <a:off x="1845290" y="5363848"/>
            <a:ext cx="3725247" cy="3730752"/>
          </a:xfrm>
          <a:prstGeom prst="rect">
            <a:avLst/>
          </a:prstGeom>
          <a:noFill/>
          <a:scene3d>
            <a:camera prst="orthographicFront">
              <a:rot lat="1800000" lon="18000000" rev="18000000"/>
            </a:camera>
            <a:lightRig rig="threePt" dir="t"/>
          </a:scene3d>
        </p:spPr>
      </p:pic>
      <p:pic>
        <p:nvPicPr>
          <p:cNvPr id="1027" name="Picture 3" descr="H:\SGAM-Vorlage\B_Communication.jpg"/>
          <p:cNvPicPr>
            <a:picLocks noChangeAspect="1" noChangeArrowheads="1"/>
          </p:cNvPicPr>
          <p:nvPr/>
        </p:nvPicPr>
        <p:blipFill>
          <a:blip r:embed="rId3" cstate="print"/>
          <a:stretch>
            <a:fillRect/>
          </a:stretch>
        </p:blipFill>
        <p:spPr bwMode="auto">
          <a:xfrm>
            <a:off x="1845290" y="4283848"/>
            <a:ext cx="3725247" cy="3730752"/>
          </a:xfrm>
          <a:prstGeom prst="rect">
            <a:avLst/>
          </a:prstGeom>
          <a:noFill/>
          <a:scene3d>
            <a:camera prst="orthographicFront">
              <a:rot lat="1800000" lon="18000000" rev="18000000"/>
            </a:camera>
            <a:lightRig rig="threePt" dir="t"/>
          </a:scene3d>
        </p:spPr>
      </p:pic>
      <p:pic>
        <p:nvPicPr>
          <p:cNvPr id="1028" name="Picture 4" descr="H:\SGAM-Vorlage\C_Information.jpg"/>
          <p:cNvPicPr>
            <a:picLocks noChangeAspect="1" noChangeArrowheads="1"/>
          </p:cNvPicPr>
          <p:nvPr/>
        </p:nvPicPr>
        <p:blipFill>
          <a:blip r:embed="rId4" cstate="print"/>
          <a:stretch>
            <a:fillRect/>
          </a:stretch>
        </p:blipFill>
        <p:spPr bwMode="auto">
          <a:xfrm>
            <a:off x="1845290" y="3203848"/>
            <a:ext cx="3725247" cy="3730752"/>
          </a:xfrm>
          <a:prstGeom prst="rect">
            <a:avLst/>
          </a:prstGeom>
          <a:noFill/>
          <a:scene3d>
            <a:camera prst="orthographicFront">
              <a:rot lat="1800000" lon="18000000" rev="18000000"/>
            </a:camera>
            <a:lightRig rig="threePt" dir="t"/>
          </a:scene3d>
        </p:spPr>
      </p:pic>
      <p:pic>
        <p:nvPicPr>
          <p:cNvPr id="1029" name="Picture 5" descr="H:\SGAM-Vorlage\D_Function.jpg"/>
          <p:cNvPicPr>
            <a:picLocks noChangeAspect="1" noChangeArrowheads="1"/>
          </p:cNvPicPr>
          <p:nvPr/>
        </p:nvPicPr>
        <p:blipFill>
          <a:blip r:embed="rId5" cstate="print"/>
          <a:stretch>
            <a:fillRect/>
          </a:stretch>
        </p:blipFill>
        <p:spPr bwMode="auto">
          <a:xfrm>
            <a:off x="1845290" y="2123848"/>
            <a:ext cx="3725247" cy="3730752"/>
          </a:xfrm>
          <a:prstGeom prst="rect">
            <a:avLst/>
          </a:prstGeom>
          <a:noFill/>
          <a:scene3d>
            <a:camera prst="orthographicFront">
              <a:rot lat="1800000" lon="18000000" rev="18000000"/>
            </a:camera>
            <a:lightRig rig="threePt" dir="t"/>
          </a:scene3d>
        </p:spPr>
      </p:pic>
      <p:pic>
        <p:nvPicPr>
          <p:cNvPr id="1030" name="Picture 6" descr="H:\SGAM-Vorlage\E_Business.jpg"/>
          <p:cNvPicPr>
            <a:picLocks noChangeAspect="1" noChangeArrowheads="1"/>
          </p:cNvPicPr>
          <p:nvPr/>
        </p:nvPicPr>
        <p:blipFill>
          <a:blip r:embed="rId6" cstate="print"/>
          <a:stretch>
            <a:fillRect/>
          </a:stretch>
        </p:blipFill>
        <p:spPr bwMode="auto">
          <a:xfrm>
            <a:off x="1845290" y="1043848"/>
            <a:ext cx="3725247" cy="3730752"/>
          </a:xfrm>
          <a:prstGeom prst="rect">
            <a:avLst/>
          </a:prstGeom>
          <a:noFill/>
          <a:scene3d>
            <a:camera prst="orthographicFront">
              <a:rot lat="1800000" lon="18000000" rev="18000000"/>
            </a:camera>
            <a:lightRig rig="threePt" dir="t"/>
          </a:scene3d>
        </p:spPr>
      </p:pic>
      <p:sp>
        <p:nvSpPr>
          <p:cNvPr id="8" name="Rechteck 7"/>
          <p:cNvSpPr/>
          <p:nvPr/>
        </p:nvSpPr>
        <p:spPr>
          <a:xfrm>
            <a:off x="4581128" y="6516216"/>
            <a:ext cx="1512168" cy="2592288"/>
          </a:xfrm>
          <a:prstGeom prst="rect">
            <a:avLst/>
          </a:prstGeom>
          <a:noFill/>
          <a:ln>
            <a:noFill/>
          </a:ln>
          <a:scene3d>
            <a:camera prst="orthographicFront">
              <a:rot lat="1800000" lon="18000000" rev="180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lumMod val="75000"/>
                    <a:lumOff val="25000"/>
                  </a:schemeClr>
                </a:solidFill>
              </a:rPr>
              <a:t>Market</a:t>
            </a:r>
          </a:p>
          <a:p>
            <a:endParaRPr lang="en-US" sz="2000" dirty="0">
              <a:solidFill>
                <a:schemeClr val="tx1">
                  <a:lumMod val="75000"/>
                  <a:lumOff val="25000"/>
                </a:schemeClr>
              </a:solidFill>
            </a:endParaRPr>
          </a:p>
          <a:p>
            <a:r>
              <a:rPr lang="en-US" sz="2000" dirty="0">
                <a:solidFill>
                  <a:schemeClr val="tx1">
                    <a:lumMod val="75000"/>
                    <a:lumOff val="25000"/>
                  </a:schemeClr>
                </a:solidFill>
              </a:rPr>
              <a:t>Enterprise</a:t>
            </a:r>
          </a:p>
          <a:p>
            <a:endParaRPr lang="en-US" sz="2000" dirty="0">
              <a:solidFill>
                <a:schemeClr val="tx1">
                  <a:lumMod val="75000"/>
                  <a:lumOff val="25000"/>
                </a:schemeClr>
              </a:solidFill>
            </a:endParaRPr>
          </a:p>
          <a:p>
            <a:r>
              <a:rPr lang="en-US" sz="2000" dirty="0">
                <a:solidFill>
                  <a:schemeClr val="tx1">
                    <a:lumMod val="75000"/>
                    <a:lumOff val="25000"/>
                  </a:schemeClr>
                </a:solidFill>
              </a:rPr>
              <a:t>Operation</a:t>
            </a:r>
          </a:p>
          <a:p>
            <a:endParaRPr lang="en-US" sz="2000" dirty="0">
              <a:solidFill>
                <a:schemeClr val="tx1">
                  <a:lumMod val="75000"/>
                  <a:lumOff val="25000"/>
                </a:schemeClr>
              </a:solidFill>
            </a:endParaRPr>
          </a:p>
          <a:p>
            <a:r>
              <a:rPr lang="en-US" sz="2000" dirty="0">
                <a:solidFill>
                  <a:schemeClr val="tx1">
                    <a:lumMod val="75000"/>
                    <a:lumOff val="25000"/>
                  </a:schemeClr>
                </a:solidFill>
              </a:rPr>
              <a:t>Station</a:t>
            </a:r>
          </a:p>
          <a:p>
            <a:endParaRPr lang="en-US" sz="2000" dirty="0">
              <a:solidFill>
                <a:schemeClr val="tx1">
                  <a:lumMod val="75000"/>
                  <a:lumOff val="25000"/>
                </a:schemeClr>
              </a:solidFill>
            </a:endParaRPr>
          </a:p>
          <a:p>
            <a:r>
              <a:rPr lang="en-US" sz="2000" dirty="0">
                <a:solidFill>
                  <a:schemeClr val="tx1">
                    <a:lumMod val="75000"/>
                    <a:lumOff val="25000"/>
                  </a:schemeClr>
                </a:solidFill>
              </a:rPr>
              <a:t>Field</a:t>
            </a:r>
          </a:p>
          <a:p>
            <a:endParaRPr lang="en-US" sz="2000" dirty="0">
              <a:solidFill>
                <a:schemeClr val="tx1">
                  <a:lumMod val="75000"/>
                  <a:lumOff val="25000"/>
                </a:schemeClr>
              </a:solidFill>
            </a:endParaRPr>
          </a:p>
          <a:p>
            <a:r>
              <a:rPr lang="en-US" sz="2000" dirty="0">
                <a:solidFill>
                  <a:schemeClr val="tx1">
                    <a:lumMod val="75000"/>
                    <a:lumOff val="25000"/>
                  </a:schemeClr>
                </a:solidFill>
              </a:rPr>
              <a:t>Process</a:t>
            </a:r>
          </a:p>
        </p:txBody>
      </p:sp>
      <p:sp>
        <p:nvSpPr>
          <p:cNvPr id="9" name="Rechteck 8"/>
          <p:cNvSpPr/>
          <p:nvPr/>
        </p:nvSpPr>
        <p:spPr>
          <a:xfrm>
            <a:off x="692697" y="6876256"/>
            <a:ext cx="2016224" cy="3096344"/>
          </a:xfrm>
          <a:prstGeom prst="rect">
            <a:avLst/>
          </a:prstGeom>
          <a:noFill/>
          <a:ln>
            <a:noFill/>
          </a:ln>
          <a:scene3d>
            <a:camera prst="orthographicFront">
              <a:rot lat="2400000" lon="3000000" rev="42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000" dirty="0">
                <a:solidFill>
                  <a:schemeClr val="tx1">
                    <a:lumMod val="75000"/>
                    <a:lumOff val="25000"/>
                  </a:schemeClr>
                </a:solidFill>
              </a:rPr>
              <a:t>Generation</a:t>
            </a:r>
          </a:p>
          <a:p>
            <a:pPr algn="r"/>
            <a:endParaRPr lang="en-US" sz="2000" dirty="0">
              <a:solidFill>
                <a:schemeClr val="tx1">
                  <a:lumMod val="75000"/>
                  <a:lumOff val="25000"/>
                </a:schemeClr>
              </a:solidFill>
            </a:endParaRPr>
          </a:p>
          <a:p>
            <a:pPr algn="r"/>
            <a:r>
              <a:rPr lang="en-US" sz="2000" dirty="0">
                <a:solidFill>
                  <a:schemeClr val="tx1">
                    <a:lumMod val="75000"/>
                    <a:lumOff val="25000"/>
                  </a:schemeClr>
                </a:solidFill>
              </a:rPr>
              <a:t>Transmission</a:t>
            </a:r>
          </a:p>
          <a:p>
            <a:pPr algn="r"/>
            <a:endParaRPr lang="en-US" sz="2000" dirty="0">
              <a:solidFill>
                <a:schemeClr val="tx1">
                  <a:lumMod val="75000"/>
                  <a:lumOff val="25000"/>
                </a:schemeClr>
              </a:solidFill>
            </a:endParaRPr>
          </a:p>
          <a:p>
            <a:pPr algn="r"/>
            <a:r>
              <a:rPr lang="en-US" sz="2000" dirty="0">
                <a:solidFill>
                  <a:schemeClr val="tx1">
                    <a:lumMod val="75000"/>
                    <a:lumOff val="25000"/>
                  </a:schemeClr>
                </a:solidFill>
              </a:rPr>
              <a:t>Distribution</a:t>
            </a:r>
          </a:p>
          <a:p>
            <a:pPr algn="r"/>
            <a:endParaRPr lang="en-US" sz="2000" dirty="0">
              <a:solidFill>
                <a:schemeClr val="tx1">
                  <a:lumMod val="75000"/>
                  <a:lumOff val="25000"/>
                </a:schemeClr>
              </a:solidFill>
            </a:endParaRPr>
          </a:p>
          <a:p>
            <a:pPr algn="r"/>
            <a:r>
              <a:rPr lang="en-US" sz="2000" dirty="0">
                <a:solidFill>
                  <a:schemeClr val="tx1">
                    <a:lumMod val="75000"/>
                    <a:lumOff val="25000"/>
                  </a:schemeClr>
                </a:solidFill>
              </a:rPr>
              <a:t>DER</a:t>
            </a:r>
          </a:p>
          <a:p>
            <a:pPr algn="r"/>
            <a:endParaRPr lang="en-US" sz="2000" dirty="0">
              <a:solidFill>
                <a:schemeClr val="tx1">
                  <a:lumMod val="75000"/>
                  <a:lumOff val="25000"/>
                </a:schemeClr>
              </a:solidFill>
            </a:endParaRPr>
          </a:p>
          <a:p>
            <a:pPr algn="r"/>
            <a:r>
              <a:rPr lang="en-US" sz="2000" dirty="0">
                <a:solidFill>
                  <a:schemeClr val="tx1">
                    <a:lumMod val="75000"/>
                    <a:lumOff val="25000"/>
                  </a:schemeClr>
                </a:solidFill>
              </a:rPr>
              <a:t>Customer</a:t>
            </a:r>
          </a:p>
        </p:txBody>
      </p:sp>
      <p:graphicFrame>
        <p:nvGraphicFramePr>
          <p:cNvPr id="11" name="Tabelle 10"/>
          <p:cNvGraphicFramePr>
            <a:graphicFrameLocks noGrp="1"/>
          </p:cNvGraphicFramePr>
          <p:nvPr/>
        </p:nvGraphicFramePr>
        <p:xfrm>
          <a:off x="188640" y="2267743"/>
          <a:ext cx="1440160" cy="5374885"/>
        </p:xfrm>
        <a:graphic>
          <a:graphicData uri="http://schemas.openxmlformats.org/drawingml/2006/table">
            <a:tbl>
              <a:tblPr firstRow="1" bandRow="1">
                <a:tableStyleId>{2D5ABB26-0587-4C30-8999-92F81FD0307C}</a:tableStyleId>
              </a:tblPr>
              <a:tblGrid>
                <a:gridCol w="1440160">
                  <a:extLst>
                    <a:ext uri="{9D8B030D-6E8A-4147-A177-3AD203B41FA5}">
                      <a16:colId xmlns:a16="http://schemas.microsoft.com/office/drawing/2014/main" val="20000"/>
                    </a:ext>
                  </a:extLst>
                </a:gridCol>
              </a:tblGrid>
              <a:tr h="1008114">
                <a:tc>
                  <a:txBody>
                    <a:bodyPr/>
                    <a:lstStyle/>
                    <a:p>
                      <a:pPr algn="ctr"/>
                      <a:r>
                        <a:rPr lang="en-US" sz="1400" noProof="0" dirty="0"/>
                        <a:t>Business</a:t>
                      </a:r>
                    </a:p>
                  </a:txBody>
                  <a:tcPr marL="103680" marR="103680" marT="54261" marB="54261" anchor="ctr"/>
                </a:tc>
                <a:extLst>
                  <a:ext uri="{0D108BD9-81ED-4DB2-BD59-A6C34878D82A}">
                    <a16:rowId xmlns:a16="http://schemas.microsoft.com/office/drawing/2014/main" val="10000"/>
                  </a:ext>
                </a:extLst>
              </a:tr>
              <a:tr h="1080120">
                <a:tc>
                  <a:txBody>
                    <a:bodyPr/>
                    <a:lstStyle/>
                    <a:p>
                      <a:pPr algn="ctr"/>
                      <a:r>
                        <a:rPr lang="en-US" sz="1400" noProof="0" dirty="0"/>
                        <a:t>Function</a:t>
                      </a:r>
                    </a:p>
                  </a:txBody>
                  <a:tcPr marL="103680" marR="103680" marT="54261" marB="54261" anchor="ctr"/>
                </a:tc>
                <a:extLst>
                  <a:ext uri="{0D108BD9-81ED-4DB2-BD59-A6C34878D82A}">
                    <a16:rowId xmlns:a16="http://schemas.microsoft.com/office/drawing/2014/main" val="10001"/>
                  </a:ext>
                </a:extLst>
              </a:tr>
              <a:tr h="1080120">
                <a:tc>
                  <a:txBody>
                    <a:bodyPr/>
                    <a:lstStyle/>
                    <a:p>
                      <a:pPr algn="ctr"/>
                      <a:r>
                        <a:rPr lang="en-US" sz="1400" noProof="0" dirty="0"/>
                        <a:t>Information</a:t>
                      </a:r>
                    </a:p>
                  </a:txBody>
                  <a:tcPr marL="103680" marR="103680" marT="54261" marB="54261" anchor="ctr"/>
                </a:tc>
                <a:extLst>
                  <a:ext uri="{0D108BD9-81ED-4DB2-BD59-A6C34878D82A}">
                    <a16:rowId xmlns:a16="http://schemas.microsoft.com/office/drawing/2014/main" val="10002"/>
                  </a:ext>
                </a:extLst>
              </a:tr>
              <a:tr h="1080120">
                <a:tc>
                  <a:txBody>
                    <a:bodyPr/>
                    <a:lstStyle/>
                    <a:p>
                      <a:pPr algn="ctr"/>
                      <a:r>
                        <a:rPr lang="en-US" sz="1400" noProof="0" dirty="0"/>
                        <a:t>Communication</a:t>
                      </a:r>
                    </a:p>
                  </a:txBody>
                  <a:tcPr marL="103680" marR="103680" marT="54261" marB="54261" anchor="ctr"/>
                </a:tc>
                <a:extLst>
                  <a:ext uri="{0D108BD9-81ED-4DB2-BD59-A6C34878D82A}">
                    <a16:rowId xmlns:a16="http://schemas.microsoft.com/office/drawing/2014/main" val="10003"/>
                  </a:ext>
                </a:extLst>
              </a:tr>
              <a:tr h="1126411">
                <a:tc>
                  <a:txBody>
                    <a:bodyPr/>
                    <a:lstStyle/>
                    <a:p>
                      <a:pPr algn="ctr"/>
                      <a:r>
                        <a:rPr lang="en-US" sz="1400" noProof="0" dirty="0"/>
                        <a:t>Component</a:t>
                      </a:r>
                    </a:p>
                  </a:txBody>
                  <a:tcPr marL="103680" marR="103680" marT="54261" marB="54261" anchor="ctr"/>
                </a:tc>
                <a:extLst>
                  <a:ext uri="{0D108BD9-81ED-4DB2-BD59-A6C34878D82A}">
                    <a16:rowId xmlns:a16="http://schemas.microsoft.com/office/drawing/2014/main" val="10004"/>
                  </a:ext>
                </a:extLst>
              </a:tr>
            </a:tbl>
          </a:graphicData>
        </a:graphic>
      </p:graphicFrame>
      <p:sp>
        <p:nvSpPr>
          <p:cNvPr id="10" name="Rechteck 9"/>
          <p:cNvSpPr/>
          <p:nvPr/>
        </p:nvSpPr>
        <p:spPr>
          <a:xfrm>
            <a:off x="332656" y="386244"/>
            <a:ext cx="6048672" cy="923330"/>
          </a:xfrm>
          <a:prstGeom prst="rect">
            <a:avLst/>
          </a:prstGeom>
        </p:spPr>
        <p:txBody>
          <a:bodyPr wrap="square">
            <a:spAutoFit/>
          </a:bodyPr>
          <a:lstStyle/>
          <a:p>
            <a:pPr algn="just"/>
            <a:r>
              <a:rPr lang="en-US" b="1" dirty="0"/>
              <a:t>SGAM-Layers:</a:t>
            </a:r>
          </a:p>
          <a:p>
            <a:pPr algn="just"/>
            <a:endParaRPr lang="en-US" b="1" dirty="0"/>
          </a:p>
          <a:p>
            <a:pPr algn="just"/>
            <a:r>
              <a:rPr lang="en-US" dirty="0"/>
              <a:t>The layers will be described during the application process.</a:t>
            </a:r>
          </a:p>
        </p:txBody>
      </p:sp>
    </p:spTree>
    <p:extLst>
      <p:ext uri="{BB962C8B-B14F-4D97-AF65-F5344CB8AC3E}">
        <p14:creationId xmlns:p14="http://schemas.microsoft.com/office/powerpoint/2010/main" val="2309121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SGAM-Vorlage\A_Component.jpg"/>
          <p:cNvPicPr>
            <a:picLocks noChangeAspect="1" noChangeArrowheads="1"/>
          </p:cNvPicPr>
          <p:nvPr/>
        </p:nvPicPr>
        <p:blipFill>
          <a:blip r:embed="rId2" cstate="print">
            <a:lum bright="20000"/>
          </a:blip>
          <a:stretch>
            <a:fillRect/>
          </a:stretch>
        </p:blipFill>
        <p:spPr bwMode="auto">
          <a:xfrm>
            <a:off x="1845290" y="5075816"/>
            <a:ext cx="3725247" cy="3730752"/>
          </a:xfrm>
          <a:prstGeom prst="rect">
            <a:avLst/>
          </a:prstGeom>
          <a:noFill/>
          <a:scene3d>
            <a:camera prst="orthographicFront">
              <a:rot lat="1800000" lon="18000000" rev="18000000"/>
            </a:camera>
            <a:lightRig rig="threePt" dir="t"/>
          </a:scene3d>
        </p:spPr>
      </p:pic>
      <p:pic>
        <p:nvPicPr>
          <p:cNvPr id="1027" name="Picture 3" descr="H:\SGAM-Vorlage\B_Communication.jpg"/>
          <p:cNvPicPr>
            <a:picLocks noChangeAspect="1" noChangeArrowheads="1"/>
          </p:cNvPicPr>
          <p:nvPr/>
        </p:nvPicPr>
        <p:blipFill>
          <a:blip r:embed="rId3" cstate="print">
            <a:lum bright="20000"/>
          </a:blip>
          <a:stretch>
            <a:fillRect/>
          </a:stretch>
        </p:blipFill>
        <p:spPr bwMode="auto">
          <a:xfrm>
            <a:off x="1845290" y="3995816"/>
            <a:ext cx="3725247" cy="3730752"/>
          </a:xfrm>
          <a:prstGeom prst="rect">
            <a:avLst/>
          </a:prstGeom>
          <a:noFill/>
          <a:scene3d>
            <a:camera prst="orthographicFront">
              <a:rot lat="1800000" lon="18000000" rev="18000000"/>
            </a:camera>
            <a:lightRig rig="threePt" dir="t"/>
          </a:scene3d>
        </p:spPr>
      </p:pic>
      <p:pic>
        <p:nvPicPr>
          <p:cNvPr id="1028" name="Picture 4" descr="H:\SGAM-Vorlage\C_Information.jpg"/>
          <p:cNvPicPr>
            <a:picLocks noChangeAspect="1" noChangeArrowheads="1"/>
          </p:cNvPicPr>
          <p:nvPr/>
        </p:nvPicPr>
        <p:blipFill>
          <a:blip r:embed="rId4" cstate="print">
            <a:lum bright="20000"/>
          </a:blip>
          <a:stretch>
            <a:fillRect/>
          </a:stretch>
        </p:blipFill>
        <p:spPr bwMode="auto">
          <a:xfrm>
            <a:off x="1845290" y="2915816"/>
            <a:ext cx="3725247" cy="3730752"/>
          </a:xfrm>
          <a:prstGeom prst="rect">
            <a:avLst/>
          </a:prstGeom>
          <a:noFill/>
          <a:scene3d>
            <a:camera prst="orthographicFront">
              <a:rot lat="1800000" lon="18000000" rev="18000000"/>
            </a:camera>
            <a:lightRig rig="threePt" dir="t"/>
          </a:scene3d>
        </p:spPr>
      </p:pic>
      <p:pic>
        <p:nvPicPr>
          <p:cNvPr id="1029" name="Picture 5" descr="H:\SGAM-Vorlage\D_Function.jpg"/>
          <p:cNvPicPr>
            <a:picLocks noChangeAspect="1" noChangeArrowheads="1"/>
          </p:cNvPicPr>
          <p:nvPr/>
        </p:nvPicPr>
        <p:blipFill>
          <a:blip r:embed="rId5" cstate="print">
            <a:lum bright="20000"/>
          </a:blip>
          <a:stretch>
            <a:fillRect/>
          </a:stretch>
        </p:blipFill>
        <p:spPr bwMode="auto">
          <a:xfrm>
            <a:off x="1845290" y="1835816"/>
            <a:ext cx="3725247" cy="3730752"/>
          </a:xfrm>
          <a:prstGeom prst="rect">
            <a:avLst/>
          </a:prstGeom>
          <a:noFill/>
          <a:scene3d>
            <a:camera prst="orthographicFront">
              <a:rot lat="1800000" lon="18000000" rev="18000000"/>
            </a:camera>
            <a:lightRig rig="threePt" dir="t"/>
          </a:scene3d>
        </p:spPr>
      </p:pic>
      <p:pic>
        <p:nvPicPr>
          <p:cNvPr id="1030" name="Picture 6" descr="H:\SGAM-Vorlage\E_Business.jpg"/>
          <p:cNvPicPr>
            <a:picLocks noChangeAspect="1" noChangeArrowheads="1"/>
          </p:cNvPicPr>
          <p:nvPr/>
        </p:nvPicPr>
        <p:blipFill>
          <a:blip r:embed="rId6" cstate="print">
            <a:lum bright="20000"/>
          </a:blip>
          <a:stretch>
            <a:fillRect/>
          </a:stretch>
        </p:blipFill>
        <p:spPr bwMode="auto">
          <a:xfrm>
            <a:off x="1845290" y="755816"/>
            <a:ext cx="3725247" cy="3730752"/>
          </a:xfrm>
          <a:prstGeom prst="rect">
            <a:avLst/>
          </a:prstGeom>
          <a:noFill/>
          <a:scene3d>
            <a:camera prst="orthographicFront">
              <a:rot lat="1800000" lon="18000000" rev="18000000"/>
            </a:camera>
            <a:lightRig rig="threePt" dir="t"/>
          </a:scene3d>
        </p:spPr>
      </p:pic>
      <p:sp>
        <p:nvSpPr>
          <p:cNvPr id="8" name="Rechteck 7"/>
          <p:cNvSpPr/>
          <p:nvPr/>
        </p:nvSpPr>
        <p:spPr>
          <a:xfrm>
            <a:off x="2780928" y="4499993"/>
            <a:ext cx="1512168" cy="4248472"/>
          </a:xfrm>
          <a:prstGeom prst="rect">
            <a:avLst/>
          </a:prstGeom>
          <a:noFill/>
          <a:ln>
            <a:noFill/>
          </a:ln>
          <a:scene3d>
            <a:camera prst="orthographicFront">
              <a:rot lat="1800000" lon="18000000" rev="180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2000" b="1" dirty="0" err="1">
                <a:solidFill>
                  <a:schemeClr val="tx1">
                    <a:lumMod val="75000"/>
                    <a:lumOff val="25000"/>
                  </a:schemeClr>
                </a:solidFill>
              </a:rPr>
              <a:t>Zones</a:t>
            </a:r>
            <a:endParaRPr lang="de-DE" sz="2000" b="1" dirty="0">
              <a:solidFill>
                <a:schemeClr val="tx1">
                  <a:lumMod val="75000"/>
                  <a:lumOff val="25000"/>
                </a:schemeClr>
              </a:solidFill>
            </a:endParaRPr>
          </a:p>
          <a:p>
            <a:endParaRPr lang="de-DE" sz="2000" b="1" dirty="0">
              <a:solidFill>
                <a:schemeClr val="tx1">
                  <a:lumMod val="75000"/>
                  <a:lumOff val="25000"/>
                </a:schemeClr>
              </a:solidFill>
            </a:endParaRPr>
          </a:p>
          <a:p>
            <a:r>
              <a:rPr lang="de-DE" sz="2000" b="1" dirty="0">
                <a:solidFill>
                  <a:schemeClr val="tx1">
                    <a:lumMod val="75000"/>
                    <a:lumOff val="25000"/>
                  </a:schemeClr>
                </a:solidFill>
              </a:rPr>
              <a:t>f</a:t>
            </a:r>
          </a:p>
          <a:p>
            <a:endParaRPr lang="de-DE" sz="2000" b="1" dirty="0">
              <a:solidFill>
                <a:schemeClr val="tx1">
                  <a:lumMod val="75000"/>
                  <a:lumOff val="25000"/>
                </a:schemeClr>
              </a:solidFill>
            </a:endParaRPr>
          </a:p>
          <a:p>
            <a:r>
              <a:rPr lang="de-DE" sz="2000" b="1" dirty="0" err="1">
                <a:solidFill>
                  <a:schemeClr val="tx1">
                    <a:lumMod val="75000"/>
                    <a:lumOff val="25000"/>
                  </a:schemeClr>
                </a:solidFill>
              </a:rPr>
              <a:t>e</a:t>
            </a:r>
            <a:endParaRPr lang="de-DE" sz="2000" b="1" dirty="0">
              <a:solidFill>
                <a:schemeClr val="tx1">
                  <a:lumMod val="75000"/>
                  <a:lumOff val="25000"/>
                </a:schemeClr>
              </a:solidFill>
            </a:endParaRPr>
          </a:p>
          <a:p>
            <a:endParaRPr lang="de-DE" sz="2000" b="1" dirty="0">
              <a:solidFill>
                <a:schemeClr val="tx1">
                  <a:lumMod val="75000"/>
                  <a:lumOff val="25000"/>
                </a:schemeClr>
              </a:solidFill>
            </a:endParaRPr>
          </a:p>
          <a:p>
            <a:r>
              <a:rPr lang="de-DE" sz="2000" b="1" dirty="0">
                <a:solidFill>
                  <a:schemeClr val="tx1">
                    <a:lumMod val="75000"/>
                    <a:lumOff val="25000"/>
                  </a:schemeClr>
                </a:solidFill>
              </a:rPr>
              <a:t>d</a:t>
            </a:r>
          </a:p>
          <a:p>
            <a:endParaRPr lang="de-DE" sz="2000" b="1" dirty="0">
              <a:solidFill>
                <a:schemeClr val="tx1">
                  <a:lumMod val="75000"/>
                  <a:lumOff val="25000"/>
                </a:schemeClr>
              </a:solidFill>
            </a:endParaRPr>
          </a:p>
          <a:p>
            <a:r>
              <a:rPr lang="de-DE" sz="2000" b="1" dirty="0">
                <a:solidFill>
                  <a:schemeClr val="tx1">
                    <a:lumMod val="75000"/>
                    <a:lumOff val="25000"/>
                  </a:schemeClr>
                </a:solidFill>
              </a:rPr>
              <a:t>c</a:t>
            </a:r>
          </a:p>
          <a:p>
            <a:endParaRPr lang="de-DE" sz="2000" b="1" dirty="0">
              <a:solidFill>
                <a:schemeClr val="tx1">
                  <a:lumMod val="75000"/>
                  <a:lumOff val="25000"/>
                </a:schemeClr>
              </a:solidFill>
            </a:endParaRPr>
          </a:p>
          <a:p>
            <a:r>
              <a:rPr lang="de-DE" sz="2000" b="1" dirty="0">
                <a:solidFill>
                  <a:schemeClr val="tx1">
                    <a:lumMod val="75000"/>
                    <a:lumOff val="25000"/>
                  </a:schemeClr>
                </a:solidFill>
              </a:rPr>
              <a:t>b</a:t>
            </a:r>
          </a:p>
          <a:p>
            <a:endParaRPr lang="de-DE" sz="2000" b="1" dirty="0">
              <a:solidFill>
                <a:schemeClr val="tx1">
                  <a:lumMod val="75000"/>
                  <a:lumOff val="25000"/>
                </a:schemeClr>
              </a:solidFill>
            </a:endParaRPr>
          </a:p>
          <a:p>
            <a:r>
              <a:rPr lang="de-DE" sz="2000" b="1" dirty="0">
                <a:solidFill>
                  <a:schemeClr val="tx1">
                    <a:lumMod val="75000"/>
                    <a:lumOff val="25000"/>
                  </a:schemeClr>
                </a:solidFill>
              </a:rPr>
              <a:t>a</a:t>
            </a:r>
          </a:p>
        </p:txBody>
      </p:sp>
      <p:sp>
        <p:nvSpPr>
          <p:cNvPr id="9" name="Rechteck 8"/>
          <p:cNvSpPr/>
          <p:nvPr/>
        </p:nvSpPr>
        <p:spPr>
          <a:xfrm>
            <a:off x="-459432" y="7596336"/>
            <a:ext cx="5760640" cy="576064"/>
          </a:xfrm>
          <a:prstGeom prst="rect">
            <a:avLst/>
          </a:prstGeom>
          <a:noFill/>
          <a:ln>
            <a:noFill/>
          </a:ln>
          <a:scene3d>
            <a:camera prst="orthographicFront">
              <a:rot lat="1800000" lon="18000000" rev="180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2000" b="1">
                <a:solidFill>
                  <a:schemeClr val="tx1">
                    <a:lumMod val="75000"/>
                    <a:lumOff val="25000"/>
                  </a:schemeClr>
                </a:solidFill>
              </a:rPr>
              <a:t>1           2          3          4          5          Domains</a:t>
            </a:r>
          </a:p>
        </p:txBody>
      </p:sp>
      <p:graphicFrame>
        <p:nvGraphicFramePr>
          <p:cNvPr id="11" name="Tabelle 10"/>
          <p:cNvGraphicFramePr>
            <a:graphicFrameLocks noGrp="1"/>
          </p:cNvGraphicFramePr>
          <p:nvPr/>
        </p:nvGraphicFramePr>
        <p:xfrm>
          <a:off x="188640" y="971600"/>
          <a:ext cx="1440160" cy="6382999"/>
        </p:xfrm>
        <a:graphic>
          <a:graphicData uri="http://schemas.openxmlformats.org/drawingml/2006/table">
            <a:tbl>
              <a:tblPr firstRow="1" bandRow="1">
                <a:tableStyleId>{2D5ABB26-0587-4C30-8999-92F81FD0307C}</a:tableStyleId>
              </a:tblPr>
              <a:tblGrid>
                <a:gridCol w="1440160">
                  <a:extLst>
                    <a:ext uri="{9D8B030D-6E8A-4147-A177-3AD203B41FA5}">
                      <a16:colId xmlns:a16="http://schemas.microsoft.com/office/drawing/2014/main" val="20000"/>
                    </a:ext>
                  </a:extLst>
                </a:gridCol>
              </a:tblGrid>
              <a:tr h="1008114">
                <a:tc>
                  <a:txBody>
                    <a:bodyPr/>
                    <a:lstStyle/>
                    <a:p>
                      <a:pPr algn="ctr"/>
                      <a:r>
                        <a:rPr lang="de-DE" sz="1400" err="1"/>
                        <a:t>Interoperability</a:t>
                      </a:r>
                      <a:endParaRPr lang="de-DE" sz="1400"/>
                    </a:p>
                    <a:p>
                      <a:pPr algn="ctr"/>
                      <a:r>
                        <a:rPr lang="de-DE" sz="1400" err="1"/>
                        <a:t>Layers</a:t>
                      </a:r>
                      <a:endParaRPr lang="de-DE" sz="1400"/>
                    </a:p>
                  </a:txBody>
                  <a:tcPr marL="103680" marR="103680" marT="54261" marB="54261" anchor="ctr"/>
                </a:tc>
                <a:extLst>
                  <a:ext uri="{0D108BD9-81ED-4DB2-BD59-A6C34878D82A}">
                    <a16:rowId xmlns:a16="http://schemas.microsoft.com/office/drawing/2014/main" val="10000"/>
                  </a:ext>
                </a:extLst>
              </a:tr>
              <a:tr h="1008114">
                <a:tc>
                  <a:txBody>
                    <a:bodyPr/>
                    <a:lstStyle/>
                    <a:p>
                      <a:pPr algn="ctr"/>
                      <a:r>
                        <a:rPr lang="de-DE" sz="1400"/>
                        <a:t>E</a:t>
                      </a:r>
                    </a:p>
                  </a:txBody>
                  <a:tcPr marL="103680" marR="103680" marT="54261" marB="54261" anchor="ctr"/>
                </a:tc>
                <a:extLst>
                  <a:ext uri="{0D108BD9-81ED-4DB2-BD59-A6C34878D82A}">
                    <a16:rowId xmlns:a16="http://schemas.microsoft.com/office/drawing/2014/main" val="10001"/>
                  </a:ext>
                </a:extLst>
              </a:tr>
              <a:tr h="1080120">
                <a:tc>
                  <a:txBody>
                    <a:bodyPr/>
                    <a:lstStyle/>
                    <a:p>
                      <a:pPr algn="ctr"/>
                      <a:r>
                        <a:rPr lang="de-DE" sz="1400"/>
                        <a:t>D</a:t>
                      </a:r>
                    </a:p>
                  </a:txBody>
                  <a:tcPr marL="103680" marR="103680" marT="54261" marB="54261" anchor="ctr"/>
                </a:tc>
                <a:extLst>
                  <a:ext uri="{0D108BD9-81ED-4DB2-BD59-A6C34878D82A}">
                    <a16:rowId xmlns:a16="http://schemas.microsoft.com/office/drawing/2014/main" val="10002"/>
                  </a:ext>
                </a:extLst>
              </a:tr>
              <a:tr h="1080120">
                <a:tc>
                  <a:txBody>
                    <a:bodyPr/>
                    <a:lstStyle/>
                    <a:p>
                      <a:pPr algn="ctr"/>
                      <a:r>
                        <a:rPr lang="de-DE" sz="1400"/>
                        <a:t>C</a:t>
                      </a:r>
                    </a:p>
                  </a:txBody>
                  <a:tcPr marL="103680" marR="103680" marT="54261" marB="54261" anchor="ctr"/>
                </a:tc>
                <a:extLst>
                  <a:ext uri="{0D108BD9-81ED-4DB2-BD59-A6C34878D82A}">
                    <a16:rowId xmlns:a16="http://schemas.microsoft.com/office/drawing/2014/main" val="10003"/>
                  </a:ext>
                </a:extLst>
              </a:tr>
              <a:tr h="1080120">
                <a:tc>
                  <a:txBody>
                    <a:bodyPr/>
                    <a:lstStyle/>
                    <a:p>
                      <a:pPr algn="ctr"/>
                      <a:r>
                        <a:rPr lang="de-DE" sz="1400"/>
                        <a:t>B</a:t>
                      </a:r>
                    </a:p>
                  </a:txBody>
                  <a:tcPr marL="103680" marR="103680" marT="54261" marB="54261" anchor="ctr"/>
                </a:tc>
                <a:extLst>
                  <a:ext uri="{0D108BD9-81ED-4DB2-BD59-A6C34878D82A}">
                    <a16:rowId xmlns:a16="http://schemas.microsoft.com/office/drawing/2014/main" val="10004"/>
                  </a:ext>
                </a:extLst>
              </a:tr>
              <a:tr h="1126411">
                <a:tc>
                  <a:txBody>
                    <a:bodyPr/>
                    <a:lstStyle/>
                    <a:p>
                      <a:pPr algn="ctr"/>
                      <a:r>
                        <a:rPr lang="de-DE" sz="1400"/>
                        <a:t>A</a:t>
                      </a:r>
                    </a:p>
                  </a:txBody>
                  <a:tcPr marL="103680" marR="103680" marT="54261" marB="54261" anchor="ctr"/>
                </a:tc>
                <a:extLst>
                  <a:ext uri="{0D108BD9-81ED-4DB2-BD59-A6C34878D82A}">
                    <a16:rowId xmlns:a16="http://schemas.microsoft.com/office/drawing/2014/main" val="10005"/>
                  </a:ext>
                </a:extLst>
              </a:tr>
            </a:tbl>
          </a:graphicData>
        </a:graphic>
      </p:graphicFrame>
      <p:cxnSp>
        <p:nvCxnSpPr>
          <p:cNvPr id="12" name="Gerade Verbindung mit Pfeil 11"/>
          <p:cNvCxnSpPr/>
          <p:nvPr/>
        </p:nvCxnSpPr>
        <p:spPr>
          <a:xfrm>
            <a:off x="1268760" y="7308304"/>
            <a:ext cx="2376000" cy="828000"/>
          </a:xfrm>
          <a:prstGeom prst="straightConnector1">
            <a:avLst/>
          </a:prstGeom>
          <a:ln>
            <a:solidFill>
              <a:schemeClr val="tx1"/>
            </a:solidFill>
            <a:tailEnd type="diamond"/>
          </a:ln>
        </p:spPr>
        <p:style>
          <a:lnRef idx="1">
            <a:schemeClr val="accent1"/>
          </a:lnRef>
          <a:fillRef idx="0">
            <a:schemeClr val="accent1"/>
          </a:fillRef>
          <a:effectRef idx="0">
            <a:schemeClr val="accent1"/>
          </a:effectRef>
          <a:fontRef idx="minor">
            <a:schemeClr val="tx1"/>
          </a:fontRef>
        </p:style>
      </p:cxnSp>
      <p:cxnSp>
        <p:nvCxnSpPr>
          <p:cNvPr id="13" name="Gerade Verbindung mit Pfeil 12"/>
          <p:cNvCxnSpPr/>
          <p:nvPr/>
        </p:nvCxnSpPr>
        <p:spPr>
          <a:xfrm flipV="1">
            <a:off x="1268761" y="5652120"/>
            <a:ext cx="2880320" cy="1656184"/>
          </a:xfrm>
          <a:prstGeom prst="straightConnector1">
            <a:avLst/>
          </a:prstGeom>
          <a:ln>
            <a:solidFill>
              <a:schemeClr val="tx1"/>
            </a:solidFill>
            <a:tailEnd type="diamond"/>
          </a:ln>
        </p:spPr>
        <p:style>
          <a:lnRef idx="1">
            <a:schemeClr val="accent1"/>
          </a:lnRef>
          <a:fillRef idx="0">
            <a:schemeClr val="accent1"/>
          </a:fillRef>
          <a:effectRef idx="0">
            <a:schemeClr val="accent1"/>
          </a:effectRef>
          <a:fontRef idx="minor">
            <a:schemeClr val="tx1"/>
          </a:fontRef>
        </p:style>
      </p:cxnSp>
      <p:cxnSp>
        <p:nvCxnSpPr>
          <p:cNvPr id="16" name="Gerade Verbindung mit Pfeil 15"/>
          <p:cNvCxnSpPr/>
          <p:nvPr/>
        </p:nvCxnSpPr>
        <p:spPr>
          <a:xfrm flipV="1">
            <a:off x="1268760" y="1547664"/>
            <a:ext cx="0" cy="5760640"/>
          </a:xfrm>
          <a:prstGeom prst="straightConnector1">
            <a:avLst/>
          </a:prstGeom>
          <a:ln>
            <a:solidFill>
              <a:schemeClr val="tx1"/>
            </a:solidFill>
            <a:tailEnd type="diamond"/>
          </a:ln>
        </p:spPr>
        <p:style>
          <a:lnRef idx="1">
            <a:schemeClr val="accent1"/>
          </a:lnRef>
          <a:fillRef idx="0">
            <a:schemeClr val="accent1"/>
          </a:fillRef>
          <a:effectRef idx="0">
            <a:schemeClr val="accent1"/>
          </a:effectRef>
          <a:fontRef idx="minor">
            <a:schemeClr val="tx1"/>
          </a:fontRef>
        </p:style>
      </p:cxnSp>
      <p:grpSp>
        <p:nvGrpSpPr>
          <p:cNvPr id="5" name="Gruppieren 4"/>
          <p:cNvGrpSpPr/>
          <p:nvPr/>
        </p:nvGrpSpPr>
        <p:grpSpPr>
          <a:xfrm>
            <a:off x="3861048" y="2483768"/>
            <a:ext cx="2921364" cy="1584048"/>
            <a:chOff x="3861048" y="2483768"/>
            <a:chExt cx="2921364" cy="1584048"/>
          </a:xfrm>
        </p:grpSpPr>
        <p:sp>
          <p:nvSpPr>
            <p:cNvPr id="2" name="Legende mit Linie 1 1"/>
            <p:cNvSpPr/>
            <p:nvPr/>
          </p:nvSpPr>
          <p:spPr>
            <a:xfrm>
              <a:off x="6021288" y="2483768"/>
              <a:ext cx="723440" cy="510648"/>
            </a:xfrm>
            <a:prstGeom prst="borderCallout1">
              <a:avLst>
                <a:gd name="adj1" fmla="val 18750"/>
                <a:gd name="adj2" fmla="val -8333"/>
                <a:gd name="adj3" fmla="val 297163"/>
                <a:gd name="adj4" fmla="val -290242"/>
              </a:avLst>
            </a:prstGeom>
            <a:solidFill>
              <a:schemeClr val="bg1"/>
            </a:solidFill>
            <a:ln w="190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llipse 2"/>
            <p:cNvSpPr/>
            <p:nvPr/>
          </p:nvSpPr>
          <p:spPr>
            <a:xfrm>
              <a:off x="3861048" y="3923816"/>
              <a:ext cx="144016" cy="144000"/>
            </a:xfrm>
            <a:prstGeom prst="ellipse">
              <a:avLst/>
            </a:prstGeom>
            <a:solidFill>
              <a:schemeClr val="tx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feld 3"/>
            <p:cNvSpPr txBox="1"/>
            <p:nvPr/>
          </p:nvSpPr>
          <p:spPr>
            <a:xfrm>
              <a:off x="5983604" y="2508259"/>
              <a:ext cx="798808" cy="461665"/>
            </a:xfrm>
            <a:prstGeom prst="rect">
              <a:avLst/>
            </a:prstGeom>
            <a:noFill/>
          </p:spPr>
          <p:txBody>
            <a:bodyPr wrap="none" rtlCol="0">
              <a:spAutoFit/>
            </a:bodyPr>
            <a:lstStyle/>
            <a:p>
              <a:pPr algn="ctr"/>
              <a:r>
                <a:rPr lang="de-DE" sz="1200"/>
                <a:t>Identifier:</a:t>
              </a:r>
            </a:p>
            <a:p>
              <a:pPr algn="ctr"/>
              <a:r>
                <a:rPr lang="de-DE" sz="1200" b="1" u="sng"/>
                <a:t>D4c</a:t>
              </a:r>
              <a:endParaRPr lang="en-US" sz="1200" b="1" u="sng"/>
            </a:p>
          </p:txBody>
        </p:sp>
      </p:grpSp>
    </p:spTree>
    <p:extLst>
      <p:ext uri="{BB962C8B-B14F-4D97-AF65-F5344CB8AC3E}">
        <p14:creationId xmlns:p14="http://schemas.microsoft.com/office/powerpoint/2010/main" val="559529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pPr algn="l"/>
            <a:r>
              <a:rPr lang="de-DE"/>
              <a:t>Layer A: </a:t>
            </a:r>
            <a:r>
              <a:rPr lang="de-DE" err="1"/>
              <a:t>Component</a:t>
            </a:r>
            <a:endParaRPr lang="de-DE"/>
          </a:p>
        </p:txBody>
      </p:sp>
      <p:graphicFrame>
        <p:nvGraphicFramePr>
          <p:cNvPr id="5" name="Tabelle 4"/>
          <p:cNvGraphicFramePr>
            <a:graphicFrameLocks noGrp="1"/>
          </p:cNvGraphicFramePr>
          <p:nvPr/>
        </p:nvGraphicFramePr>
        <p:xfrm>
          <a:off x="332657" y="2123728"/>
          <a:ext cx="4824535" cy="4824534"/>
        </p:xfrm>
        <a:graphic>
          <a:graphicData uri="http://schemas.openxmlformats.org/drawingml/2006/table">
            <a:tbl>
              <a:tblPr firstRow="1" bandRow="1">
                <a:tableStyleId>{5940675A-B579-460E-94D1-54222C63F5DA}</a:tableStyleId>
              </a:tblPr>
              <a:tblGrid>
                <a:gridCol w="964907">
                  <a:extLst>
                    <a:ext uri="{9D8B030D-6E8A-4147-A177-3AD203B41FA5}">
                      <a16:colId xmlns:a16="http://schemas.microsoft.com/office/drawing/2014/main" val="20000"/>
                    </a:ext>
                  </a:extLst>
                </a:gridCol>
                <a:gridCol w="964907">
                  <a:extLst>
                    <a:ext uri="{9D8B030D-6E8A-4147-A177-3AD203B41FA5}">
                      <a16:colId xmlns:a16="http://schemas.microsoft.com/office/drawing/2014/main" val="20001"/>
                    </a:ext>
                  </a:extLst>
                </a:gridCol>
                <a:gridCol w="964907">
                  <a:extLst>
                    <a:ext uri="{9D8B030D-6E8A-4147-A177-3AD203B41FA5}">
                      <a16:colId xmlns:a16="http://schemas.microsoft.com/office/drawing/2014/main" val="20002"/>
                    </a:ext>
                  </a:extLst>
                </a:gridCol>
                <a:gridCol w="964907">
                  <a:extLst>
                    <a:ext uri="{9D8B030D-6E8A-4147-A177-3AD203B41FA5}">
                      <a16:colId xmlns:a16="http://schemas.microsoft.com/office/drawing/2014/main" val="20003"/>
                    </a:ext>
                  </a:extLst>
                </a:gridCol>
                <a:gridCol w="964907">
                  <a:extLst>
                    <a:ext uri="{9D8B030D-6E8A-4147-A177-3AD203B41FA5}">
                      <a16:colId xmlns:a16="http://schemas.microsoft.com/office/drawing/2014/main" val="20004"/>
                    </a:ext>
                  </a:extLst>
                </a:gridCol>
              </a:tblGrid>
              <a:tr h="804089">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804089">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804089">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804089">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804089">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804089">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bg1">
                          <a:lumMod val="50000"/>
                        </a:schemeClr>
                      </a:solidFill>
                      <a:prstDash val="solid"/>
                      <a:round/>
                      <a:headEnd type="none" w="med" len="med"/>
                      <a:tailEnd type="none" w="med" len="med"/>
                    </a:lnL>
                    <a:lnR w="38100" cap="flat" cmpd="sng" algn="ctr">
                      <a:solidFill>
                        <a:schemeClr val="bg1">
                          <a:lumMod val="50000"/>
                        </a:schemeClr>
                      </a:solidFill>
                      <a:prstDash val="solid"/>
                      <a:round/>
                      <a:headEnd type="none" w="med" len="med"/>
                      <a:tailEnd type="none" w="med" len="med"/>
                    </a:lnR>
                    <a:lnT w="38100" cap="flat" cmpd="sng" algn="ctr">
                      <a:solidFill>
                        <a:schemeClr val="bg1">
                          <a:lumMod val="50000"/>
                        </a:schemeClr>
                      </a:solidFill>
                      <a:prstDash val="solid"/>
                      <a:round/>
                      <a:headEnd type="none" w="med" len="med"/>
                      <a:tailEnd type="none" w="med" len="med"/>
                    </a:lnT>
                    <a:lnB w="381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6" name="Textfeld 5"/>
          <p:cNvSpPr txBox="1">
            <a:spLocks/>
          </p:cNvSpPr>
          <p:nvPr/>
        </p:nvSpPr>
        <p:spPr>
          <a:xfrm rot="2700000">
            <a:off x="310511" y="7777803"/>
            <a:ext cx="1260000" cy="322160"/>
          </a:xfrm>
          <a:prstGeom prst="rect">
            <a:avLst/>
          </a:prstGeom>
          <a:noFill/>
        </p:spPr>
        <p:txBody>
          <a:bodyPr wrap="square" lIns="105684" tIns="52842" rIns="105684" bIns="52842" rtlCol="0">
            <a:spAutoFit/>
          </a:bodyPr>
          <a:lstStyle/>
          <a:p>
            <a:r>
              <a:rPr lang="de-DE" sz="1400">
                <a:solidFill>
                  <a:prstClr val="black"/>
                </a:solidFill>
              </a:rPr>
              <a:t>Generation</a:t>
            </a:r>
          </a:p>
        </p:txBody>
      </p:sp>
      <p:sp>
        <p:nvSpPr>
          <p:cNvPr id="7" name="Textfeld 6"/>
          <p:cNvSpPr txBox="1">
            <a:spLocks/>
          </p:cNvSpPr>
          <p:nvPr/>
        </p:nvSpPr>
        <p:spPr>
          <a:xfrm rot="2700000">
            <a:off x="1199362" y="7777803"/>
            <a:ext cx="1260000" cy="322160"/>
          </a:xfrm>
          <a:prstGeom prst="rect">
            <a:avLst/>
          </a:prstGeom>
          <a:noFill/>
        </p:spPr>
        <p:txBody>
          <a:bodyPr wrap="square" lIns="105684" tIns="52842" rIns="105684" bIns="52842" rtlCol="0">
            <a:spAutoFit/>
          </a:bodyPr>
          <a:lstStyle/>
          <a:p>
            <a:r>
              <a:rPr lang="de-DE" sz="1400">
                <a:solidFill>
                  <a:prstClr val="black"/>
                </a:solidFill>
              </a:rPr>
              <a:t>Transmission</a:t>
            </a:r>
          </a:p>
        </p:txBody>
      </p:sp>
      <p:sp>
        <p:nvSpPr>
          <p:cNvPr id="8" name="Textfeld 7"/>
          <p:cNvSpPr txBox="1">
            <a:spLocks/>
          </p:cNvSpPr>
          <p:nvPr/>
        </p:nvSpPr>
        <p:spPr>
          <a:xfrm rot="2700000">
            <a:off x="2307090" y="7777802"/>
            <a:ext cx="1260000" cy="322160"/>
          </a:xfrm>
          <a:prstGeom prst="rect">
            <a:avLst/>
          </a:prstGeom>
          <a:noFill/>
        </p:spPr>
        <p:txBody>
          <a:bodyPr wrap="square" lIns="105684" tIns="52842" rIns="105684" bIns="52842" rtlCol="0">
            <a:spAutoFit/>
          </a:bodyPr>
          <a:lstStyle/>
          <a:p>
            <a:r>
              <a:rPr lang="de-DE" sz="1400" b="1">
                <a:solidFill>
                  <a:prstClr val="black"/>
                </a:solidFill>
              </a:rPr>
              <a:t>Distribution</a:t>
            </a:r>
          </a:p>
        </p:txBody>
      </p:sp>
      <p:sp>
        <p:nvSpPr>
          <p:cNvPr id="9" name="Textfeld 8"/>
          <p:cNvSpPr txBox="1">
            <a:spLocks/>
          </p:cNvSpPr>
          <p:nvPr/>
        </p:nvSpPr>
        <p:spPr>
          <a:xfrm rot="2700000">
            <a:off x="3392647" y="7695879"/>
            <a:ext cx="1026000" cy="322160"/>
          </a:xfrm>
          <a:prstGeom prst="rect">
            <a:avLst/>
          </a:prstGeom>
          <a:noFill/>
        </p:spPr>
        <p:txBody>
          <a:bodyPr wrap="square" lIns="105684" tIns="52842" rIns="105684" bIns="52842" rtlCol="0">
            <a:spAutoFit/>
          </a:bodyPr>
          <a:lstStyle/>
          <a:p>
            <a:r>
              <a:rPr lang="de-DE" sz="1400" b="1">
                <a:solidFill>
                  <a:prstClr val="black"/>
                </a:solidFill>
              </a:rPr>
              <a:t>DER</a:t>
            </a:r>
          </a:p>
        </p:txBody>
      </p:sp>
      <p:sp>
        <p:nvSpPr>
          <p:cNvPr id="10" name="Textfeld 9"/>
          <p:cNvSpPr txBox="1">
            <a:spLocks/>
          </p:cNvSpPr>
          <p:nvPr/>
        </p:nvSpPr>
        <p:spPr>
          <a:xfrm rot="2700000">
            <a:off x="4357490" y="7666174"/>
            <a:ext cx="1026000" cy="537603"/>
          </a:xfrm>
          <a:prstGeom prst="rect">
            <a:avLst/>
          </a:prstGeom>
          <a:noFill/>
        </p:spPr>
        <p:txBody>
          <a:bodyPr wrap="square" lIns="105684" tIns="52842" rIns="105684" bIns="52842" rtlCol="0">
            <a:spAutoFit/>
          </a:bodyPr>
          <a:lstStyle/>
          <a:p>
            <a:r>
              <a:rPr lang="de-DE" sz="1400" b="1">
                <a:solidFill>
                  <a:prstClr val="black"/>
                </a:solidFill>
              </a:rPr>
              <a:t>Customer </a:t>
            </a:r>
            <a:r>
              <a:rPr lang="de-DE" sz="1400" b="1" err="1">
                <a:solidFill>
                  <a:prstClr val="black"/>
                </a:solidFill>
              </a:rPr>
              <a:t>Premise</a:t>
            </a:r>
            <a:endParaRPr lang="de-DE" sz="1400" b="1">
              <a:solidFill>
                <a:prstClr val="black"/>
              </a:solidFill>
            </a:endParaRPr>
          </a:p>
        </p:txBody>
      </p:sp>
      <p:graphicFrame>
        <p:nvGraphicFramePr>
          <p:cNvPr id="11" name="Tabelle 10"/>
          <p:cNvGraphicFramePr>
            <a:graphicFrameLocks noGrp="1"/>
          </p:cNvGraphicFramePr>
          <p:nvPr/>
        </p:nvGraphicFramePr>
        <p:xfrm>
          <a:off x="5157193" y="2123729"/>
          <a:ext cx="337535" cy="4821766"/>
        </p:xfrm>
        <a:graphic>
          <a:graphicData uri="http://schemas.openxmlformats.org/drawingml/2006/table">
            <a:tbl>
              <a:tblPr firstRow="1" bandRow="1">
                <a:tableStyleId>{2D5ABB26-0587-4C30-8999-92F81FD0307C}</a:tableStyleId>
              </a:tblPr>
              <a:tblGrid>
                <a:gridCol w="337535">
                  <a:extLst>
                    <a:ext uri="{9D8B030D-6E8A-4147-A177-3AD203B41FA5}">
                      <a16:colId xmlns:a16="http://schemas.microsoft.com/office/drawing/2014/main" val="20000"/>
                    </a:ext>
                  </a:extLst>
                </a:gridCol>
              </a:tblGrid>
              <a:tr h="792088">
                <a:tc>
                  <a:txBody>
                    <a:bodyPr/>
                    <a:lstStyle/>
                    <a:p>
                      <a:r>
                        <a:rPr lang="de-DE" sz="1400"/>
                        <a:t>f</a:t>
                      </a:r>
                    </a:p>
                  </a:txBody>
                  <a:tcPr marL="103680" marR="103680" marT="54261" marB="54261" anchor="ctr"/>
                </a:tc>
                <a:extLst>
                  <a:ext uri="{0D108BD9-81ED-4DB2-BD59-A6C34878D82A}">
                    <a16:rowId xmlns:a16="http://schemas.microsoft.com/office/drawing/2014/main" val="10000"/>
                  </a:ext>
                </a:extLst>
              </a:tr>
              <a:tr h="792088">
                <a:tc>
                  <a:txBody>
                    <a:bodyPr/>
                    <a:lstStyle/>
                    <a:p>
                      <a:r>
                        <a:rPr lang="de-DE" sz="1400"/>
                        <a:t>e</a:t>
                      </a:r>
                    </a:p>
                  </a:txBody>
                  <a:tcPr marL="103680" marR="103680" marT="54261" marB="54261" anchor="ctr"/>
                </a:tc>
                <a:extLst>
                  <a:ext uri="{0D108BD9-81ED-4DB2-BD59-A6C34878D82A}">
                    <a16:rowId xmlns:a16="http://schemas.microsoft.com/office/drawing/2014/main" val="10001"/>
                  </a:ext>
                </a:extLst>
              </a:tr>
              <a:tr h="792088">
                <a:tc>
                  <a:txBody>
                    <a:bodyPr/>
                    <a:lstStyle/>
                    <a:p>
                      <a:r>
                        <a:rPr lang="de-DE" sz="1400"/>
                        <a:t>d</a:t>
                      </a:r>
                    </a:p>
                  </a:txBody>
                  <a:tcPr marL="103680" marR="103680" marT="54261" marB="54261" anchor="ctr"/>
                </a:tc>
                <a:extLst>
                  <a:ext uri="{0D108BD9-81ED-4DB2-BD59-A6C34878D82A}">
                    <a16:rowId xmlns:a16="http://schemas.microsoft.com/office/drawing/2014/main" val="10002"/>
                  </a:ext>
                </a:extLst>
              </a:tr>
              <a:tr h="792088">
                <a:tc>
                  <a:txBody>
                    <a:bodyPr/>
                    <a:lstStyle/>
                    <a:p>
                      <a:r>
                        <a:rPr lang="de-DE" sz="1400"/>
                        <a:t>c</a:t>
                      </a:r>
                    </a:p>
                  </a:txBody>
                  <a:tcPr marL="103680" marR="103680" marT="54261" marB="54261" anchor="ctr"/>
                </a:tc>
                <a:extLst>
                  <a:ext uri="{0D108BD9-81ED-4DB2-BD59-A6C34878D82A}">
                    <a16:rowId xmlns:a16="http://schemas.microsoft.com/office/drawing/2014/main" val="10003"/>
                  </a:ext>
                </a:extLst>
              </a:tr>
              <a:tr h="864096">
                <a:tc>
                  <a:txBody>
                    <a:bodyPr/>
                    <a:lstStyle/>
                    <a:p>
                      <a:r>
                        <a:rPr lang="de-DE" sz="1400"/>
                        <a:t>b</a:t>
                      </a:r>
                    </a:p>
                  </a:txBody>
                  <a:tcPr marL="103680" marR="103680" marT="54261" marB="54261" anchor="ctr"/>
                </a:tc>
                <a:extLst>
                  <a:ext uri="{0D108BD9-81ED-4DB2-BD59-A6C34878D82A}">
                    <a16:rowId xmlns:a16="http://schemas.microsoft.com/office/drawing/2014/main" val="10004"/>
                  </a:ext>
                </a:extLst>
              </a:tr>
              <a:tr h="789318">
                <a:tc>
                  <a:txBody>
                    <a:bodyPr/>
                    <a:lstStyle/>
                    <a:p>
                      <a:r>
                        <a:rPr lang="de-DE" sz="1400"/>
                        <a:t>a</a:t>
                      </a:r>
                    </a:p>
                  </a:txBody>
                  <a:tcPr marL="103680" marR="103680" marT="54261" marB="54261" anchor="ctr"/>
                </a:tc>
                <a:extLst>
                  <a:ext uri="{0D108BD9-81ED-4DB2-BD59-A6C34878D82A}">
                    <a16:rowId xmlns:a16="http://schemas.microsoft.com/office/drawing/2014/main" val="10005"/>
                  </a:ext>
                </a:extLst>
              </a:tr>
            </a:tbl>
          </a:graphicData>
        </a:graphic>
      </p:graphicFrame>
      <p:graphicFrame>
        <p:nvGraphicFramePr>
          <p:cNvPr id="12" name="Tabelle 11"/>
          <p:cNvGraphicFramePr>
            <a:graphicFrameLocks noGrp="1"/>
          </p:cNvGraphicFramePr>
          <p:nvPr/>
        </p:nvGraphicFramePr>
        <p:xfrm>
          <a:off x="332657" y="7020273"/>
          <a:ext cx="4824535" cy="384071"/>
        </p:xfrm>
        <a:graphic>
          <a:graphicData uri="http://schemas.openxmlformats.org/drawingml/2006/table">
            <a:tbl>
              <a:tblPr firstRow="1" bandRow="1">
                <a:tableStyleId>{2D5ABB26-0587-4C30-8999-92F81FD0307C}</a:tableStyleId>
              </a:tblPr>
              <a:tblGrid>
                <a:gridCol w="964907">
                  <a:extLst>
                    <a:ext uri="{9D8B030D-6E8A-4147-A177-3AD203B41FA5}">
                      <a16:colId xmlns:a16="http://schemas.microsoft.com/office/drawing/2014/main" val="20000"/>
                    </a:ext>
                  </a:extLst>
                </a:gridCol>
                <a:gridCol w="964907">
                  <a:extLst>
                    <a:ext uri="{9D8B030D-6E8A-4147-A177-3AD203B41FA5}">
                      <a16:colId xmlns:a16="http://schemas.microsoft.com/office/drawing/2014/main" val="20001"/>
                    </a:ext>
                  </a:extLst>
                </a:gridCol>
                <a:gridCol w="964907">
                  <a:extLst>
                    <a:ext uri="{9D8B030D-6E8A-4147-A177-3AD203B41FA5}">
                      <a16:colId xmlns:a16="http://schemas.microsoft.com/office/drawing/2014/main" val="20002"/>
                    </a:ext>
                  </a:extLst>
                </a:gridCol>
                <a:gridCol w="964907">
                  <a:extLst>
                    <a:ext uri="{9D8B030D-6E8A-4147-A177-3AD203B41FA5}">
                      <a16:colId xmlns:a16="http://schemas.microsoft.com/office/drawing/2014/main" val="20003"/>
                    </a:ext>
                  </a:extLst>
                </a:gridCol>
                <a:gridCol w="964907">
                  <a:extLst>
                    <a:ext uri="{9D8B030D-6E8A-4147-A177-3AD203B41FA5}">
                      <a16:colId xmlns:a16="http://schemas.microsoft.com/office/drawing/2014/main" val="20004"/>
                    </a:ext>
                  </a:extLst>
                </a:gridCol>
              </a:tblGrid>
              <a:tr h="384071">
                <a:tc>
                  <a:txBody>
                    <a:bodyPr/>
                    <a:lstStyle/>
                    <a:p>
                      <a:pPr algn="ctr"/>
                      <a:r>
                        <a:rPr lang="de-DE" sz="1400"/>
                        <a:t>1</a:t>
                      </a:r>
                    </a:p>
                  </a:txBody>
                  <a:tcPr marL="103680" marR="103680" marT="54261" marB="54261" anchor="ctr"/>
                </a:tc>
                <a:tc>
                  <a:txBody>
                    <a:bodyPr/>
                    <a:lstStyle/>
                    <a:p>
                      <a:pPr algn="ctr"/>
                      <a:r>
                        <a:rPr lang="de-DE" sz="1400"/>
                        <a:t>2</a:t>
                      </a:r>
                    </a:p>
                  </a:txBody>
                  <a:tcPr marL="103680" marR="103680" marT="54261" marB="54261" anchor="ctr"/>
                </a:tc>
                <a:tc>
                  <a:txBody>
                    <a:bodyPr/>
                    <a:lstStyle/>
                    <a:p>
                      <a:pPr algn="ctr"/>
                      <a:r>
                        <a:rPr lang="de-DE" sz="1400"/>
                        <a:t>3</a:t>
                      </a:r>
                    </a:p>
                  </a:txBody>
                  <a:tcPr marL="103680" marR="103680" marT="54261" marB="54261" anchor="ctr"/>
                </a:tc>
                <a:tc>
                  <a:txBody>
                    <a:bodyPr/>
                    <a:lstStyle/>
                    <a:p>
                      <a:pPr algn="ctr"/>
                      <a:r>
                        <a:rPr lang="de-DE" sz="1400"/>
                        <a:t>4</a:t>
                      </a:r>
                    </a:p>
                  </a:txBody>
                  <a:tcPr marL="103680" marR="103680" marT="54261" marB="54261" anchor="ctr"/>
                </a:tc>
                <a:tc>
                  <a:txBody>
                    <a:bodyPr/>
                    <a:lstStyle/>
                    <a:p>
                      <a:pPr algn="ctr"/>
                      <a:r>
                        <a:rPr lang="de-DE" sz="1400"/>
                        <a:t>5</a:t>
                      </a:r>
                    </a:p>
                  </a:txBody>
                  <a:tcPr marL="103680" marR="103680" marT="54261" marB="54261" anchor="ctr"/>
                </a:tc>
                <a:extLst>
                  <a:ext uri="{0D108BD9-81ED-4DB2-BD59-A6C34878D82A}">
                    <a16:rowId xmlns:a16="http://schemas.microsoft.com/office/drawing/2014/main" val="10000"/>
                  </a:ext>
                </a:extLst>
              </a:tr>
            </a:tbl>
          </a:graphicData>
        </a:graphic>
      </p:graphicFrame>
      <p:graphicFrame>
        <p:nvGraphicFramePr>
          <p:cNvPr id="13" name="Tabelle 12"/>
          <p:cNvGraphicFramePr>
            <a:graphicFrameLocks noGrp="1"/>
          </p:cNvGraphicFramePr>
          <p:nvPr/>
        </p:nvGraphicFramePr>
        <p:xfrm>
          <a:off x="5517232" y="2123729"/>
          <a:ext cx="1080120" cy="4821766"/>
        </p:xfrm>
        <a:graphic>
          <a:graphicData uri="http://schemas.openxmlformats.org/drawingml/2006/table">
            <a:tbl>
              <a:tblPr firstRow="1" bandRow="1">
                <a:tableStyleId>{2D5ABB26-0587-4C30-8999-92F81FD0307C}</a:tableStyleId>
              </a:tblPr>
              <a:tblGrid>
                <a:gridCol w="1080120">
                  <a:extLst>
                    <a:ext uri="{9D8B030D-6E8A-4147-A177-3AD203B41FA5}">
                      <a16:colId xmlns:a16="http://schemas.microsoft.com/office/drawing/2014/main" val="20000"/>
                    </a:ext>
                  </a:extLst>
                </a:gridCol>
              </a:tblGrid>
              <a:tr h="792088">
                <a:tc>
                  <a:txBody>
                    <a:bodyPr/>
                    <a:lstStyle/>
                    <a:p>
                      <a:r>
                        <a:rPr lang="de-DE" sz="1400"/>
                        <a:t>Market</a:t>
                      </a:r>
                    </a:p>
                  </a:txBody>
                  <a:tcPr marL="103680" marR="103680" marT="54261" marB="54261" anchor="ctr"/>
                </a:tc>
                <a:extLst>
                  <a:ext uri="{0D108BD9-81ED-4DB2-BD59-A6C34878D82A}">
                    <a16:rowId xmlns:a16="http://schemas.microsoft.com/office/drawing/2014/main" val="10000"/>
                  </a:ext>
                </a:extLst>
              </a:tr>
              <a:tr h="792088">
                <a:tc>
                  <a:txBody>
                    <a:bodyPr/>
                    <a:lstStyle/>
                    <a:p>
                      <a:r>
                        <a:rPr lang="de-DE" sz="1400"/>
                        <a:t>Enterprise</a:t>
                      </a:r>
                    </a:p>
                  </a:txBody>
                  <a:tcPr marL="103680" marR="103680" marT="54261" marB="54261" anchor="ctr"/>
                </a:tc>
                <a:extLst>
                  <a:ext uri="{0D108BD9-81ED-4DB2-BD59-A6C34878D82A}">
                    <a16:rowId xmlns:a16="http://schemas.microsoft.com/office/drawing/2014/main" val="10001"/>
                  </a:ext>
                </a:extLst>
              </a:tr>
              <a:tr h="792088">
                <a:tc>
                  <a:txBody>
                    <a:bodyPr/>
                    <a:lstStyle/>
                    <a:p>
                      <a:r>
                        <a:rPr lang="de-DE" sz="1400"/>
                        <a:t>Operation</a:t>
                      </a:r>
                    </a:p>
                  </a:txBody>
                  <a:tcPr marL="103680" marR="103680" marT="54261" marB="54261" anchor="ctr"/>
                </a:tc>
                <a:extLst>
                  <a:ext uri="{0D108BD9-81ED-4DB2-BD59-A6C34878D82A}">
                    <a16:rowId xmlns:a16="http://schemas.microsoft.com/office/drawing/2014/main" val="10002"/>
                  </a:ext>
                </a:extLst>
              </a:tr>
              <a:tr h="792088">
                <a:tc>
                  <a:txBody>
                    <a:bodyPr/>
                    <a:lstStyle/>
                    <a:p>
                      <a:r>
                        <a:rPr lang="de-DE" sz="1400"/>
                        <a:t>Station</a:t>
                      </a:r>
                    </a:p>
                  </a:txBody>
                  <a:tcPr marL="103680" marR="103680" marT="54261" marB="54261" anchor="ctr"/>
                </a:tc>
                <a:extLst>
                  <a:ext uri="{0D108BD9-81ED-4DB2-BD59-A6C34878D82A}">
                    <a16:rowId xmlns:a16="http://schemas.microsoft.com/office/drawing/2014/main" val="10003"/>
                  </a:ext>
                </a:extLst>
              </a:tr>
              <a:tr h="864096">
                <a:tc>
                  <a:txBody>
                    <a:bodyPr/>
                    <a:lstStyle/>
                    <a:p>
                      <a:r>
                        <a:rPr lang="de-DE" sz="1400"/>
                        <a:t>Field</a:t>
                      </a:r>
                    </a:p>
                  </a:txBody>
                  <a:tcPr marL="103680" marR="103680" marT="54261" marB="54261" anchor="ctr"/>
                </a:tc>
                <a:extLst>
                  <a:ext uri="{0D108BD9-81ED-4DB2-BD59-A6C34878D82A}">
                    <a16:rowId xmlns:a16="http://schemas.microsoft.com/office/drawing/2014/main" val="10004"/>
                  </a:ext>
                </a:extLst>
              </a:tr>
              <a:tr h="789318">
                <a:tc>
                  <a:txBody>
                    <a:bodyPr/>
                    <a:lstStyle/>
                    <a:p>
                      <a:r>
                        <a:rPr lang="de-DE" sz="1400" err="1"/>
                        <a:t>Process</a:t>
                      </a:r>
                      <a:endParaRPr lang="de-DE" sz="1400"/>
                    </a:p>
                  </a:txBody>
                  <a:tcPr marL="103680" marR="103680" marT="54261" marB="54261"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52210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3"/>
          <p:cNvSpPr/>
          <p:nvPr/>
        </p:nvSpPr>
        <p:spPr>
          <a:xfrm>
            <a:off x="404664" y="395536"/>
            <a:ext cx="6048672" cy="369332"/>
          </a:xfrm>
          <a:prstGeom prst="rect">
            <a:avLst/>
          </a:prstGeom>
        </p:spPr>
        <p:txBody>
          <a:bodyPr wrap="square">
            <a:spAutoFit/>
          </a:bodyPr>
          <a:lstStyle/>
          <a:p>
            <a:pPr algn="just"/>
            <a:r>
              <a:rPr lang="de-DE" b="1">
                <a:solidFill>
                  <a:prstClr val="black"/>
                </a:solidFill>
              </a:rPr>
              <a:t>Legend Layer A:</a:t>
            </a:r>
            <a:endParaRPr lang="en-US">
              <a:solidFill>
                <a:prstClr val="black"/>
              </a:solidFill>
            </a:endParaRPr>
          </a:p>
        </p:txBody>
      </p:sp>
      <p:graphicFrame>
        <p:nvGraphicFramePr>
          <p:cNvPr id="3" name="Tabelle 2"/>
          <p:cNvGraphicFramePr>
            <a:graphicFrameLocks noGrp="1"/>
          </p:cNvGraphicFramePr>
          <p:nvPr/>
        </p:nvGraphicFramePr>
        <p:xfrm>
          <a:off x="281136" y="1043608"/>
          <a:ext cx="6172200" cy="6840760"/>
        </p:xfrm>
        <a:graphic>
          <a:graphicData uri="http://schemas.openxmlformats.org/drawingml/2006/table">
            <a:tbl>
              <a:tblPr firstRow="1" firstCol="1" bandRow="1">
                <a:tableStyleId>{5940675A-B579-460E-94D1-54222C63F5DA}</a:tableStyleId>
              </a:tblPr>
              <a:tblGrid>
                <a:gridCol w="1141784">
                  <a:extLst>
                    <a:ext uri="{9D8B030D-6E8A-4147-A177-3AD203B41FA5}">
                      <a16:colId xmlns:a16="http://schemas.microsoft.com/office/drawing/2014/main" val="20000"/>
                    </a:ext>
                  </a:extLst>
                </a:gridCol>
                <a:gridCol w="5030416">
                  <a:extLst>
                    <a:ext uri="{9D8B030D-6E8A-4147-A177-3AD203B41FA5}">
                      <a16:colId xmlns:a16="http://schemas.microsoft.com/office/drawing/2014/main" val="20001"/>
                    </a:ext>
                  </a:extLst>
                </a:gridCol>
              </a:tblGrid>
              <a:tr h="182880">
                <a:tc>
                  <a:txBody>
                    <a:bodyPr/>
                    <a:lstStyle/>
                    <a:p>
                      <a:pPr>
                        <a:spcAft>
                          <a:spcPts val="0"/>
                        </a:spcAft>
                      </a:pPr>
                      <a:r>
                        <a:rPr lang="en-US" sz="1200" b="1">
                          <a:effectLst/>
                        </a:rPr>
                        <a:t>Symbol</a:t>
                      </a:r>
                      <a:endParaRPr lang="en-US" sz="1200" b="1">
                        <a:effectLst/>
                        <a:latin typeface="Arial"/>
                        <a:ea typeface="Times New Roman"/>
                        <a:cs typeface="Times New Roman"/>
                      </a:endParaRPr>
                    </a:p>
                  </a:txBody>
                  <a:tcPr marL="68166" marR="68166" marT="0" marB="0"/>
                </a:tc>
                <a:tc>
                  <a:txBody>
                    <a:bodyPr/>
                    <a:lstStyle/>
                    <a:p>
                      <a:pPr>
                        <a:spcAft>
                          <a:spcPts val="0"/>
                        </a:spcAft>
                      </a:pPr>
                      <a:r>
                        <a:rPr lang="en-US" sz="1200" b="1">
                          <a:effectLst/>
                        </a:rPr>
                        <a:t>Description</a:t>
                      </a:r>
                      <a:endParaRPr lang="en-US" sz="1200" b="1">
                        <a:effectLst/>
                        <a:latin typeface="Arial"/>
                        <a:ea typeface="Times New Roman"/>
                        <a:cs typeface="Times New Roman"/>
                      </a:endParaRPr>
                    </a:p>
                  </a:txBody>
                  <a:tcPr marL="68166" marR="68166" marT="0" marB="0"/>
                </a:tc>
                <a:extLst>
                  <a:ext uri="{0D108BD9-81ED-4DB2-BD59-A6C34878D82A}">
                    <a16:rowId xmlns:a16="http://schemas.microsoft.com/office/drawing/2014/main" val="10000"/>
                  </a:ext>
                </a:extLst>
              </a:tr>
              <a:tr h="537200">
                <a:tc>
                  <a:txBody>
                    <a:bodyPr/>
                    <a:lstStyle/>
                    <a:p>
                      <a:pPr>
                        <a:spcAft>
                          <a:spcPts val="0"/>
                        </a:spcAft>
                      </a:pPr>
                      <a:endParaRPr lang="en-US" sz="1200">
                        <a:effectLst/>
                        <a:latin typeface="Arial"/>
                        <a:ea typeface="Times New Roman"/>
                        <a:cs typeface="Times New Roman"/>
                      </a:endParaRPr>
                    </a:p>
                  </a:txBody>
                  <a:tcPr marL="68166" marR="68166" marT="0" marB="0"/>
                </a:tc>
                <a:tc>
                  <a:txBody>
                    <a:bodyPr/>
                    <a:lstStyle/>
                    <a:p>
                      <a:pPr>
                        <a:spcAft>
                          <a:spcPts val="0"/>
                        </a:spcAft>
                      </a:pPr>
                      <a:r>
                        <a:rPr lang="de-DE" sz="1200" err="1">
                          <a:effectLst/>
                          <a:latin typeface="Arial"/>
                          <a:ea typeface="Times New Roman"/>
                          <a:cs typeface="Times New Roman"/>
                        </a:rPr>
                        <a:t>computer</a:t>
                      </a:r>
                      <a:r>
                        <a:rPr lang="de-DE" sz="1200">
                          <a:effectLst/>
                          <a:latin typeface="Arial"/>
                          <a:ea typeface="Times New Roman"/>
                          <a:cs typeface="Times New Roman"/>
                        </a:rPr>
                        <a:t> (CRM,</a:t>
                      </a:r>
                      <a:r>
                        <a:rPr lang="de-DE" sz="1200" baseline="0">
                          <a:effectLst/>
                          <a:latin typeface="Arial"/>
                          <a:ea typeface="Times New Roman"/>
                          <a:cs typeface="Times New Roman"/>
                        </a:rPr>
                        <a:t> DMS, HES, etc.</a:t>
                      </a:r>
                      <a:r>
                        <a:rPr lang="de-DE" sz="1200">
                          <a:effectLst/>
                          <a:latin typeface="Arial"/>
                          <a:ea typeface="Times New Roman"/>
                          <a:cs typeface="Times New Roman"/>
                        </a:rPr>
                        <a:t>)</a:t>
                      </a:r>
                      <a:endParaRPr lang="en-US" sz="1200">
                        <a:effectLst/>
                        <a:latin typeface="Arial"/>
                        <a:ea typeface="Times New Roman"/>
                        <a:cs typeface="Times New Roman"/>
                      </a:endParaRPr>
                    </a:p>
                  </a:txBody>
                  <a:tcPr marL="68166" marR="68166" marT="0" marB="0" anchor="ctr"/>
                </a:tc>
                <a:extLst>
                  <a:ext uri="{0D108BD9-81ED-4DB2-BD59-A6C34878D82A}">
                    <a16:rowId xmlns:a16="http://schemas.microsoft.com/office/drawing/2014/main" val="10001"/>
                  </a:ext>
                </a:extLst>
              </a:tr>
              <a:tr h="576064">
                <a:tc>
                  <a:txBody>
                    <a:bodyPr/>
                    <a:lstStyle/>
                    <a:p>
                      <a:pPr>
                        <a:spcAft>
                          <a:spcPts val="0"/>
                        </a:spcAft>
                      </a:pPr>
                      <a:endParaRPr lang="en-US" sz="1200">
                        <a:effectLst/>
                        <a:latin typeface="Arial"/>
                        <a:ea typeface="Times New Roman"/>
                        <a:cs typeface="Times New Roman"/>
                      </a:endParaRPr>
                    </a:p>
                  </a:txBody>
                  <a:tcPr marL="68166" marR="68166" marT="0" marB="0"/>
                </a:tc>
                <a:tc>
                  <a:txBody>
                    <a:bodyPr/>
                    <a:lstStyle/>
                    <a:p>
                      <a:pPr>
                        <a:spcAft>
                          <a:spcPts val="0"/>
                        </a:spcAft>
                      </a:pPr>
                      <a:r>
                        <a:rPr lang="de-DE" sz="1200" err="1">
                          <a:effectLst/>
                          <a:latin typeface="Arial"/>
                          <a:ea typeface="Times New Roman"/>
                          <a:cs typeface="Times New Roman"/>
                        </a:rPr>
                        <a:t>gateway</a:t>
                      </a:r>
                      <a:endParaRPr lang="en-US" sz="1200">
                        <a:effectLst/>
                        <a:latin typeface="Arial"/>
                        <a:ea typeface="Times New Roman"/>
                        <a:cs typeface="Times New Roman"/>
                      </a:endParaRPr>
                    </a:p>
                  </a:txBody>
                  <a:tcPr marL="68166" marR="68166" marT="0" marB="0" anchor="ctr"/>
                </a:tc>
                <a:extLst>
                  <a:ext uri="{0D108BD9-81ED-4DB2-BD59-A6C34878D82A}">
                    <a16:rowId xmlns:a16="http://schemas.microsoft.com/office/drawing/2014/main" val="10002"/>
                  </a:ext>
                </a:extLst>
              </a:tr>
              <a:tr h="648072">
                <a:tc>
                  <a:txBody>
                    <a:bodyPr/>
                    <a:lstStyle/>
                    <a:p>
                      <a:pPr>
                        <a:spcAft>
                          <a:spcPts val="0"/>
                        </a:spcAft>
                      </a:pPr>
                      <a:endParaRPr lang="en-US" sz="1200">
                        <a:effectLst/>
                        <a:latin typeface="Arial"/>
                        <a:ea typeface="Times New Roman"/>
                        <a:cs typeface="Times New Roman"/>
                      </a:endParaRPr>
                    </a:p>
                  </a:txBody>
                  <a:tcPr marL="68166" marR="68166" marT="0" marB="0"/>
                </a:tc>
                <a:tc>
                  <a:txBody>
                    <a:bodyPr/>
                    <a:lstStyle/>
                    <a:p>
                      <a:pPr>
                        <a:spcAft>
                          <a:spcPts val="0"/>
                        </a:spcAft>
                      </a:pPr>
                      <a:r>
                        <a:rPr lang="de-DE" sz="1200">
                          <a:effectLst/>
                          <a:latin typeface="Arial"/>
                          <a:ea typeface="Times New Roman"/>
                          <a:cs typeface="Times New Roman"/>
                        </a:rPr>
                        <a:t>HMI</a:t>
                      </a:r>
                      <a:endParaRPr lang="en-US" sz="1200">
                        <a:effectLst/>
                        <a:latin typeface="Arial"/>
                        <a:ea typeface="Times New Roman"/>
                        <a:cs typeface="Times New Roman"/>
                      </a:endParaRPr>
                    </a:p>
                  </a:txBody>
                  <a:tcPr marL="68166" marR="68166" marT="0" marB="0" anchor="ctr"/>
                </a:tc>
                <a:extLst>
                  <a:ext uri="{0D108BD9-81ED-4DB2-BD59-A6C34878D82A}">
                    <a16:rowId xmlns:a16="http://schemas.microsoft.com/office/drawing/2014/main" val="10003"/>
                  </a:ext>
                </a:extLst>
              </a:tr>
              <a:tr h="576064">
                <a:tc>
                  <a:txBody>
                    <a:bodyPr/>
                    <a:lstStyle/>
                    <a:p>
                      <a:pPr>
                        <a:spcAft>
                          <a:spcPts val="0"/>
                        </a:spcAft>
                      </a:pPr>
                      <a:endParaRPr lang="en-US" sz="1200">
                        <a:effectLst/>
                        <a:latin typeface="Arial"/>
                        <a:ea typeface="Times New Roman"/>
                        <a:cs typeface="Times New Roman"/>
                      </a:endParaRPr>
                    </a:p>
                  </a:txBody>
                  <a:tcPr marL="68166" marR="68166" marT="0" marB="0"/>
                </a:tc>
                <a:tc>
                  <a:txBody>
                    <a:bodyPr/>
                    <a:lstStyle/>
                    <a:p>
                      <a:pPr>
                        <a:spcAft>
                          <a:spcPts val="0"/>
                        </a:spcAft>
                      </a:pPr>
                      <a:r>
                        <a:rPr lang="de-DE" sz="1200" err="1">
                          <a:effectLst/>
                          <a:latin typeface="Arial"/>
                          <a:ea typeface="Times New Roman"/>
                          <a:cs typeface="Times New Roman"/>
                        </a:rPr>
                        <a:t>data</a:t>
                      </a:r>
                      <a:r>
                        <a:rPr lang="de-DE" sz="1200">
                          <a:effectLst/>
                          <a:latin typeface="Arial"/>
                          <a:ea typeface="Times New Roman"/>
                          <a:cs typeface="Times New Roman"/>
                        </a:rPr>
                        <a:t> </a:t>
                      </a:r>
                      <a:r>
                        <a:rPr lang="de-DE" sz="1200" err="1">
                          <a:effectLst/>
                          <a:latin typeface="Arial"/>
                          <a:ea typeface="Times New Roman"/>
                          <a:cs typeface="Times New Roman"/>
                        </a:rPr>
                        <a:t>collector</a:t>
                      </a:r>
                      <a:endParaRPr lang="en-US" sz="1200">
                        <a:effectLst/>
                        <a:latin typeface="Arial"/>
                        <a:ea typeface="Times New Roman"/>
                        <a:cs typeface="Times New Roman"/>
                      </a:endParaRPr>
                    </a:p>
                  </a:txBody>
                  <a:tcPr marL="68166" marR="68166" marT="0" marB="0" anchor="ctr"/>
                </a:tc>
                <a:extLst>
                  <a:ext uri="{0D108BD9-81ED-4DB2-BD59-A6C34878D82A}">
                    <a16:rowId xmlns:a16="http://schemas.microsoft.com/office/drawing/2014/main" val="10004"/>
                  </a:ext>
                </a:extLst>
              </a:tr>
              <a:tr h="504056">
                <a:tc>
                  <a:txBody>
                    <a:bodyPr/>
                    <a:lstStyle/>
                    <a:p>
                      <a:pPr>
                        <a:spcAft>
                          <a:spcPts val="0"/>
                        </a:spcAft>
                      </a:pPr>
                      <a:endParaRPr lang="en-US" sz="1200">
                        <a:effectLst/>
                        <a:latin typeface="Arial"/>
                        <a:ea typeface="Times New Roman"/>
                        <a:cs typeface="Times New Roman"/>
                      </a:endParaRPr>
                    </a:p>
                  </a:txBody>
                  <a:tcPr marL="68166" marR="68166" marT="0" marB="0"/>
                </a:tc>
                <a:tc>
                  <a:txBody>
                    <a:bodyPr/>
                    <a:lstStyle/>
                    <a:p>
                      <a:pPr>
                        <a:spcAft>
                          <a:spcPts val="0"/>
                        </a:spcAft>
                      </a:pPr>
                      <a:r>
                        <a:rPr lang="de-DE" sz="1200" err="1">
                          <a:effectLst/>
                          <a:latin typeface="Arial"/>
                          <a:ea typeface="Times New Roman"/>
                          <a:cs typeface="Times New Roman"/>
                        </a:rPr>
                        <a:t>controller</a:t>
                      </a:r>
                      <a:r>
                        <a:rPr lang="de-DE" sz="1200">
                          <a:effectLst/>
                          <a:latin typeface="Arial"/>
                          <a:ea typeface="Times New Roman"/>
                          <a:cs typeface="Times New Roman"/>
                        </a:rPr>
                        <a:t> </a:t>
                      </a:r>
                      <a:r>
                        <a:rPr lang="de-DE" sz="1200" err="1">
                          <a:effectLst/>
                          <a:latin typeface="Arial"/>
                          <a:ea typeface="Times New Roman"/>
                          <a:cs typeface="Times New Roman"/>
                        </a:rPr>
                        <a:t>and</a:t>
                      </a:r>
                      <a:r>
                        <a:rPr lang="de-DE" sz="1200" baseline="0">
                          <a:effectLst/>
                          <a:latin typeface="Arial"/>
                          <a:ea typeface="Times New Roman"/>
                          <a:cs typeface="Times New Roman"/>
                        </a:rPr>
                        <a:t> IED</a:t>
                      </a:r>
                      <a:endParaRPr lang="en-US" sz="1200">
                        <a:effectLst/>
                        <a:latin typeface="Arial"/>
                        <a:ea typeface="Times New Roman"/>
                        <a:cs typeface="Times New Roman"/>
                      </a:endParaRPr>
                    </a:p>
                  </a:txBody>
                  <a:tcPr marL="68166" marR="68166" marT="0" marB="0" anchor="ctr"/>
                </a:tc>
                <a:extLst>
                  <a:ext uri="{0D108BD9-81ED-4DB2-BD59-A6C34878D82A}">
                    <a16:rowId xmlns:a16="http://schemas.microsoft.com/office/drawing/2014/main" val="10005"/>
                  </a:ext>
                </a:extLst>
              </a:tr>
              <a:tr h="720080">
                <a:tc>
                  <a:txBody>
                    <a:bodyPr/>
                    <a:lstStyle/>
                    <a:p>
                      <a:pPr>
                        <a:spcAft>
                          <a:spcPts val="0"/>
                        </a:spcAft>
                      </a:pPr>
                      <a:endParaRPr lang="en-US" sz="1200">
                        <a:effectLst/>
                        <a:latin typeface="Arial"/>
                        <a:ea typeface="Times New Roman"/>
                        <a:cs typeface="Times New Roman"/>
                      </a:endParaRPr>
                    </a:p>
                  </a:txBody>
                  <a:tcPr marL="68166" marR="68166" marT="0" marB="0"/>
                </a:tc>
                <a:tc>
                  <a:txBody>
                    <a:bodyPr/>
                    <a:lstStyle/>
                    <a:p>
                      <a:pPr>
                        <a:spcAft>
                          <a:spcPts val="0"/>
                        </a:spcAft>
                      </a:pPr>
                      <a:r>
                        <a:rPr lang="de-DE" sz="1200" err="1">
                          <a:effectLst/>
                          <a:latin typeface="Arial"/>
                          <a:ea typeface="Times New Roman"/>
                          <a:cs typeface="Times New Roman"/>
                        </a:rPr>
                        <a:t>transmitter</a:t>
                      </a:r>
                      <a:endParaRPr lang="en-US" sz="1200">
                        <a:effectLst/>
                        <a:latin typeface="Arial"/>
                        <a:ea typeface="Times New Roman"/>
                        <a:cs typeface="Times New Roman"/>
                      </a:endParaRPr>
                    </a:p>
                  </a:txBody>
                  <a:tcPr marL="68166" marR="68166" marT="0" marB="0" anchor="ctr"/>
                </a:tc>
                <a:extLst>
                  <a:ext uri="{0D108BD9-81ED-4DB2-BD59-A6C34878D82A}">
                    <a16:rowId xmlns:a16="http://schemas.microsoft.com/office/drawing/2014/main" val="10006"/>
                  </a:ext>
                </a:extLst>
              </a:tr>
              <a:tr h="432048">
                <a:tc>
                  <a:txBody>
                    <a:bodyPr/>
                    <a:lstStyle/>
                    <a:p>
                      <a:pPr>
                        <a:spcAft>
                          <a:spcPts val="0"/>
                        </a:spcAft>
                      </a:pPr>
                      <a:endParaRPr lang="en-US" sz="1200">
                        <a:effectLst/>
                        <a:latin typeface="Arial"/>
                        <a:ea typeface="Times New Roman"/>
                        <a:cs typeface="Times New Roman"/>
                      </a:endParaRPr>
                    </a:p>
                  </a:txBody>
                  <a:tcPr marL="68166" marR="68166" marT="0" marB="0"/>
                </a:tc>
                <a:tc>
                  <a:txBody>
                    <a:bodyPr/>
                    <a:lstStyle/>
                    <a:p>
                      <a:pPr>
                        <a:spcAft>
                          <a:spcPts val="0"/>
                        </a:spcAft>
                      </a:pPr>
                      <a:r>
                        <a:rPr lang="de-DE" sz="1200" err="1">
                          <a:effectLst/>
                          <a:latin typeface="Arial"/>
                          <a:ea typeface="Times New Roman"/>
                          <a:cs typeface="Times New Roman"/>
                        </a:rPr>
                        <a:t>generator</a:t>
                      </a:r>
                      <a:endParaRPr lang="en-US" sz="1200">
                        <a:effectLst/>
                        <a:latin typeface="Arial"/>
                        <a:ea typeface="Times New Roman"/>
                        <a:cs typeface="Times New Roman"/>
                      </a:endParaRPr>
                    </a:p>
                  </a:txBody>
                  <a:tcPr marL="68166" marR="68166" marT="0" marB="0" anchor="ctr"/>
                </a:tc>
                <a:extLst>
                  <a:ext uri="{0D108BD9-81ED-4DB2-BD59-A6C34878D82A}">
                    <a16:rowId xmlns:a16="http://schemas.microsoft.com/office/drawing/2014/main" val="10007"/>
                  </a:ext>
                </a:extLst>
              </a:tr>
              <a:tr h="432048">
                <a:tc>
                  <a:txBody>
                    <a:bodyPr/>
                    <a:lstStyle/>
                    <a:p>
                      <a:pPr>
                        <a:spcAft>
                          <a:spcPts val="0"/>
                        </a:spcAft>
                      </a:pPr>
                      <a:endParaRPr lang="en-US" sz="1200">
                        <a:effectLst/>
                        <a:latin typeface="Arial"/>
                        <a:ea typeface="Times New Roman"/>
                        <a:cs typeface="Times New Roman"/>
                      </a:endParaRPr>
                    </a:p>
                  </a:txBody>
                  <a:tcPr marL="68166" marR="68166" marT="0" marB="0"/>
                </a:tc>
                <a:tc>
                  <a:txBody>
                    <a:bodyPr/>
                    <a:lstStyle/>
                    <a:p>
                      <a:pPr>
                        <a:spcAft>
                          <a:spcPts val="0"/>
                        </a:spcAft>
                      </a:pPr>
                      <a:r>
                        <a:rPr lang="de-DE" sz="1200" err="1">
                          <a:effectLst/>
                          <a:latin typeface="Arial"/>
                          <a:ea typeface="Times New Roman"/>
                          <a:cs typeface="Times New Roman"/>
                        </a:rPr>
                        <a:t>substation</a:t>
                      </a:r>
                      <a:endParaRPr lang="en-US" sz="1200">
                        <a:effectLst/>
                        <a:latin typeface="Arial"/>
                        <a:ea typeface="Times New Roman"/>
                        <a:cs typeface="Times New Roman"/>
                      </a:endParaRPr>
                    </a:p>
                  </a:txBody>
                  <a:tcPr marL="68166" marR="68166" marT="0" marB="0" anchor="ctr"/>
                </a:tc>
                <a:extLst>
                  <a:ext uri="{0D108BD9-81ED-4DB2-BD59-A6C34878D82A}">
                    <a16:rowId xmlns:a16="http://schemas.microsoft.com/office/drawing/2014/main" val="10008"/>
                  </a:ext>
                </a:extLst>
              </a:tr>
              <a:tr h="432048">
                <a:tc>
                  <a:txBody>
                    <a:bodyPr/>
                    <a:lstStyle/>
                    <a:p>
                      <a:pPr>
                        <a:spcAft>
                          <a:spcPts val="0"/>
                        </a:spcAft>
                      </a:pPr>
                      <a:endParaRPr lang="en-US" sz="1200">
                        <a:effectLst/>
                        <a:latin typeface="Arial"/>
                        <a:ea typeface="Times New Roman"/>
                        <a:cs typeface="Times New Roman"/>
                      </a:endParaRPr>
                    </a:p>
                  </a:txBody>
                  <a:tcPr marL="68166" marR="68166" marT="0" marB="0"/>
                </a:tc>
                <a:tc>
                  <a:txBody>
                    <a:bodyPr/>
                    <a:lstStyle/>
                    <a:p>
                      <a:pPr>
                        <a:spcAft>
                          <a:spcPts val="0"/>
                        </a:spcAft>
                      </a:pPr>
                      <a:r>
                        <a:rPr lang="de-DE" sz="1200" baseline="0" err="1">
                          <a:effectLst/>
                          <a:latin typeface="Arial"/>
                          <a:ea typeface="Times New Roman"/>
                          <a:cs typeface="Times New Roman"/>
                        </a:rPr>
                        <a:t>information</a:t>
                      </a:r>
                      <a:r>
                        <a:rPr lang="de-DE" sz="1200" baseline="0">
                          <a:effectLst/>
                          <a:latin typeface="Arial"/>
                          <a:ea typeface="Times New Roman"/>
                          <a:cs typeface="Times New Roman"/>
                        </a:rPr>
                        <a:t> </a:t>
                      </a:r>
                      <a:r>
                        <a:rPr lang="de-DE" sz="1200" baseline="0" err="1">
                          <a:effectLst/>
                          <a:latin typeface="Arial"/>
                          <a:ea typeface="Times New Roman"/>
                          <a:cs typeface="Times New Roman"/>
                        </a:rPr>
                        <a:t>flow</a:t>
                      </a:r>
                      <a:r>
                        <a:rPr lang="de-DE" sz="1200" baseline="0">
                          <a:effectLst/>
                          <a:latin typeface="Arial"/>
                          <a:ea typeface="Times New Roman"/>
                          <a:cs typeface="Times New Roman"/>
                        </a:rPr>
                        <a:t> (</a:t>
                      </a:r>
                      <a:r>
                        <a:rPr lang="de-DE" sz="1200" baseline="0" err="1">
                          <a:effectLst/>
                          <a:latin typeface="Arial"/>
                          <a:ea typeface="Times New Roman"/>
                          <a:cs typeface="Times New Roman"/>
                        </a:rPr>
                        <a:t>wired</a:t>
                      </a:r>
                      <a:r>
                        <a:rPr lang="de-DE" sz="1200" baseline="0">
                          <a:effectLst/>
                          <a:latin typeface="Arial"/>
                          <a:ea typeface="Times New Roman"/>
                          <a:cs typeface="Times New Roman"/>
                        </a:rPr>
                        <a:t>)</a:t>
                      </a:r>
                      <a:endParaRPr lang="en-US" sz="1200">
                        <a:effectLst/>
                        <a:latin typeface="Arial"/>
                        <a:ea typeface="Times New Roman"/>
                        <a:cs typeface="Times New Roman"/>
                      </a:endParaRPr>
                    </a:p>
                  </a:txBody>
                  <a:tcPr marL="68166" marR="68166" marT="0" marB="0" anchor="ctr"/>
                </a:tc>
                <a:extLst>
                  <a:ext uri="{0D108BD9-81ED-4DB2-BD59-A6C34878D82A}">
                    <a16:rowId xmlns:a16="http://schemas.microsoft.com/office/drawing/2014/main" val="10009"/>
                  </a:ext>
                </a:extLst>
              </a:tr>
              <a:tr h="504056">
                <a:tc>
                  <a:txBody>
                    <a:bodyPr/>
                    <a:lstStyle/>
                    <a:p>
                      <a:pPr>
                        <a:spcAft>
                          <a:spcPts val="0"/>
                        </a:spcAft>
                      </a:pPr>
                      <a:endParaRPr lang="en-US" sz="1200">
                        <a:effectLst/>
                        <a:latin typeface="Arial"/>
                        <a:ea typeface="Times New Roman"/>
                        <a:cs typeface="Times New Roman"/>
                      </a:endParaRPr>
                    </a:p>
                  </a:txBody>
                  <a:tcPr marL="68166" marR="68166" marT="0" marB="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baseline="0" err="1">
                          <a:effectLst/>
                          <a:latin typeface="Arial"/>
                          <a:ea typeface="Times New Roman"/>
                          <a:cs typeface="Times New Roman"/>
                        </a:rPr>
                        <a:t>information</a:t>
                      </a:r>
                      <a:r>
                        <a:rPr lang="de-DE" sz="1200" baseline="0">
                          <a:effectLst/>
                          <a:latin typeface="Arial"/>
                          <a:ea typeface="Times New Roman"/>
                          <a:cs typeface="Times New Roman"/>
                        </a:rPr>
                        <a:t> </a:t>
                      </a:r>
                      <a:r>
                        <a:rPr lang="de-DE" sz="1200" baseline="0" err="1">
                          <a:effectLst/>
                          <a:latin typeface="Arial"/>
                          <a:ea typeface="Times New Roman"/>
                          <a:cs typeface="Times New Roman"/>
                        </a:rPr>
                        <a:t>flow</a:t>
                      </a:r>
                      <a:r>
                        <a:rPr lang="de-DE" sz="1200" baseline="0">
                          <a:effectLst/>
                          <a:latin typeface="Arial"/>
                          <a:ea typeface="Times New Roman"/>
                          <a:cs typeface="Times New Roman"/>
                        </a:rPr>
                        <a:t> (</a:t>
                      </a:r>
                      <a:r>
                        <a:rPr lang="de-DE" sz="1200" baseline="0" err="1">
                          <a:effectLst/>
                          <a:latin typeface="Arial"/>
                          <a:ea typeface="Times New Roman"/>
                          <a:cs typeface="Times New Roman"/>
                        </a:rPr>
                        <a:t>wireless</a:t>
                      </a:r>
                      <a:r>
                        <a:rPr lang="de-DE" sz="1200" baseline="0">
                          <a:effectLst/>
                          <a:latin typeface="Arial"/>
                          <a:ea typeface="Times New Roman"/>
                          <a:cs typeface="Times New Roman"/>
                        </a:rPr>
                        <a:t>)</a:t>
                      </a:r>
                      <a:endParaRPr lang="en-US" sz="1200">
                        <a:effectLst/>
                        <a:latin typeface="Arial"/>
                        <a:ea typeface="Times New Roman"/>
                        <a:cs typeface="Times New Roman"/>
                      </a:endParaRPr>
                    </a:p>
                  </a:txBody>
                  <a:tcPr marL="68166" marR="68166" marT="0" marB="0" anchor="ctr"/>
                </a:tc>
                <a:extLst>
                  <a:ext uri="{0D108BD9-81ED-4DB2-BD59-A6C34878D82A}">
                    <a16:rowId xmlns:a16="http://schemas.microsoft.com/office/drawing/2014/main" val="10010"/>
                  </a:ext>
                </a:extLst>
              </a:tr>
              <a:tr h="432048">
                <a:tc>
                  <a:txBody>
                    <a:bodyPr/>
                    <a:lstStyle/>
                    <a:p>
                      <a:pPr>
                        <a:spcAft>
                          <a:spcPts val="0"/>
                        </a:spcAft>
                      </a:pPr>
                      <a:endParaRPr lang="en-US" sz="1200">
                        <a:effectLst/>
                        <a:latin typeface="Arial"/>
                        <a:ea typeface="Times New Roman"/>
                        <a:cs typeface="Times New Roman"/>
                      </a:endParaRPr>
                    </a:p>
                  </a:txBody>
                  <a:tcPr marL="68166" marR="68166" marT="0" marB="0"/>
                </a:tc>
                <a:tc>
                  <a:txBody>
                    <a:bodyPr/>
                    <a:lstStyle/>
                    <a:p>
                      <a:pPr>
                        <a:spcAft>
                          <a:spcPts val="0"/>
                        </a:spcAft>
                      </a:pPr>
                      <a:r>
                        <a:rPr lang="de-DE" sz="1200">
                          <a:effectLst/>
                          <a:latin typeface="Arial"/>
                          <a:ea typeface="Times New Roman"/>
                          <a:cs typeface="Times New Roman"/>
                        </a:rPr>
                        <a:t>power </a:t>
                      </a:r>
                      <a:r>
                        <a:rPr lang="de-DE" sz="1200" err="1">
                          <a:effectLst/>
                          <a:latin typeface="Arial"/>
                          <a:ea typeface="Times New Roman"/>
                          <a:cs typeface="Times New Roman"/>
                        </a:rPr>
                        <a:t>grid</a:t>
                      </a:r>
                      <a:endParaRPr lang="en-US" sz="1200">
                        <a:effectLst/>
                        <a:latin typeface="Arial"/>
                        <a:ea typeface="Times New Roman"/>
                        <a:cs typeface="Times New Roman"/>
                      </a:endParaRPr>
                    </a:p>
                  </a:txBody>
                  <a:tcPr marL="68166" marR="68166" marT="0" marB="0" anchor="ctr"/>
                </a:tc>
                <a:extLst>
                  <a:ext uri="{0D108BD9-81ED-4DB2-BD59-A6C34878D82A}">
                    <a16:rowId xmlns:a16="http://schemas.microsoft.com/office/drawing/2014/main" val="10011"/>
                  </a:ext>
                </a:extLst>
              </a:tr>
              <a:tr h="432048">
                <a:tc>
                  <a:txBody>
                    <a:bodyPr/>
                    <a:lstStyle/>
                    <a:p>
                      <a:pPr>
                        <a:spcAft>
                          <a:spcPts val="0"/>
                        </a:spcAft>
                      </a:pPr>
                      <a:endParaRPr lang="en-US" sz="1200">
                        <a:effectLst/>
                        <a:latin typeface="Arial"/>
                        <a:ea typeface="Times New Roman"/>
                        <a:cs typeface="Times New Roman"/>
                      </a:endParaRPr>
                    </a:p>
                  </a:txBody>
                  <a:tcPr marL="68166" marR="68166" marT="0" marB="0"/>
                </a:tc>
                <a:tc>
                  <a:txBody>
                    <a:bodyPr/>
                    <a:lstStyle/>
                    <a:p>
                      <a:pPr>
                        <a:spcAft>
                          <a:spcPts val="0"/>
                        </a:spcAft>
                      </a:pPr>
                      <a:r>
                        <a:rPr lang="de-DE" sz="1200" err="1">
                          <a:effectLst/>
                          <a:latin typeface="Arial"/>
                          <a:ea typeface="Times New Roman"/>
                          <a:cs typeface="Times New Roman"/>
                        </a:rPr>
                        <a:t>bus</a:t>
                      </a:r>
                      <a:endParaRPr lang="en-US" sz="1200">
                        <a:effectLst/>
                        <a:latin typeface="Arial"/>
                        <a:ea typeface="Times New Roman"/>
                        <a:cs typeface="Times New Roman"/>
                      </a:endParaRPr>
                    </a:p>
                  </a:txBody>
                  <a:tcPr marL="68166" marR="68166" marT="0" marB="0" anchor="ctr"/>
                </a:tc>
                <a:extLst>
                  <a:ext uri="{0D108BD9-81ED-4DB2-BD59-A6C34878D82A}">
                    <a16:rowId xmlns:a16="http://schemas.microsoft.com/office/drawing/2014/main" val="10012"/>
                  </a:ext>
                </a:extLst>
              </a:tr>
              <a:tr h="432048">
                <a:tc>
                  <a:txBody>
                    <a:bodyPr/>
                    <a:lstStyle/>
                    <a:p>
                      <a:pPr>
                        <a:spcAft>
                          <a:spcPts val="0"/>
                        </a:spcAft>
                      </a:pPr>
                      <a:endParaRPr lang="en-US" sz="1200">
                        <a:effectLst/>
                        <a:latin typeface="Arial"/>
                        <a:ea typeface="Times New Roman"/>
                        <a:cs typeface="Times New Roman"/>
                      </a:endParaRPr>
                    </a:p>
                  </a:txBody>
                  <a:tcPr marL="68166" marR="68166" marT="0" marB="0"/>
                </a:tc>
                <a:tc>
                  <a:txBody>
                    <a:bodyPr/>
                    <a:lstStyle/>
                    <a:p>
                      <a:pPr>
                        <a:spcAft>
                          <a:spcPts val="0"/>
                        </a:spcAft>
                      </a:pPr>
                      <a:r>
                        <a:rPr lang="de-DE" sz="1200">
                          <a:effectLst/>
                          <a:latin typeface="Arial"/>
                          <a:ea typeface="Times New Roman"/>
                          <a:cs typeface="Times New Roman"/>
                        </a:rPr>
                        <a:t>power </a:t>
                      </a:r>
                      <a:r>
                        <a:rPr lang="de-DE" sz="1200" err="1">
                          <a:effectLst/>
                          <a:latin typeface="Arial"/>
                          <a:ea typeface="Times New Roman"/>
                          <a:cs typeface="Times New Roman"/>
                        </a:rPr>
                        <a:t>line</a:t>
                      </a:r>
                      <a:endParaRPr lang="en-US" sz="1200">
                        <a:effectLst/>
                        <a:latin typeface="Arial"/>
                        <a:ea typeface="Times New Roman"/>
                        <a:cs typeface="Times New Roman"/>
                      </a:endParaRPr>
                    </a:p>
                  </a:txBody>
                  <a:tcPr marL="68166" marR="68166" marT="0" marB="0" anchor="ctr"/>
                </a:tc>
                <a:extLst>
                  <a:ext uri="{0D108BD9-81ED-4DB2-BD59-A6C34878D82A}">
                    <a16:rowId xmlns:a16="http://schemas.microsoft.com/office/drawing/2014/main" val="10013"/>
                  </a:ext>
                </a:extLst>
              </a:tr>
            </a:tbl>
          </a:graphicData>
        </a:graphic>
      </p:graphicFrame>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696" y="1259632"/>
            <a:ext cx="35242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783" y="1909664"/>
            <a:ext cx="47625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733" y="2411761"/>
            <a:ext cx="514350" cy="466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785" y="3059832"/>
            <a:ext cx="485775"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8"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3483" y="3635896"/>
            <a:ext cx="4953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20"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4608" y="4139956"/>
            <a:ext cx="228600" cy="561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21"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8733" y="4860032"/>
            <a:ext cx="304800"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22" name="Picture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6508" y="5317606"/>
            <a:ext cx="323850"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23" name="Picture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2708" y="5724130"/>
            <a:ext cx="190500" cy="219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24" name="Picture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4366" y="6156176"/>
            <a:ext cx="228600"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26" name="Picture 14"/>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6715" y="6660232"/>
            <a:ext cx="45719" cy="3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14"/>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6715" y="7092280"/>
            <a:ext cx="45719" cy="324000"/>
          </a:xfrm>
          <a:prstGeom prst="rect">
            <a:avLst/>
          </a:prstGeom>
          <a:noFill/>
          <a:ln>
            <a:noFill/>
          </a:ln>
          <a:scene3d>
            <a:camera prst="orthographicFront">
              <a:rot lat="0" lon="0" rev="5400000"/>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27" name="Picture 15"/>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1133" y="7668344"/>
            <a:ext cx="540000" cy="9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82974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pPr algn="l"/>
            <a:r>
              <a:rPr lang="de-DE"/>
              <a:t>Layer E: Business</a:t>
            </a:r>
          </a:p>
        </p:txBody>
      </p:sp>
      <p:graphicFrame>
        <p:nvGraphicFramePr>
          <p:cNvPr id="5" name="Tabelle 4"/>
          <p:cNvGraphicFramePr>
            <a:graphicFrameLocks noGrp="1"/>
          </p:cNvGraphicFramePr>
          <p:nvPr/>
        </p:nvGraphicFramePr>
        <p:xfrm>
          <a:off x="332657" y="2123728"/>
          <a:ext cx="4824535" cy="4824534"/>
        </p:xfrm>
        <a:graphic>
          <a:graphicData uri="http://schemas.openxmlformats.org/drawingml/2006/table">
            <a:tbl>
              <a:tblPr firstRow="1" bandRow="1">
                <a:tableStyleId>{5940675A-B579-460E-94D1-54222C63F5DA}</a:tableStyleId>
              </a:tblPr>
              <a:tblGrid>
                <a:gridCol w="964907">
                  <a:extLst>
                    <a:ext uri="{9D8B030D-6E8A-4147-A177-3AD203B41FA5}">
                      <a16:colId xmlns:a16="http://schemas.microsoft.com/office/drawing/2014/main" val="20000"/>
                    </a:ext>
                  </a:extLst>
                </a:gridCol>
                <a:gridCol w="964907">
                  <a:extLst>
                    <a:ext uri="{9D8B030D-6E8A-4147-A177-3AD203B41FA5}">
                      <a16:colId xmlns:a16="http://schemas.microsoft.com/office/drawing/2014/main" val="20001"/>
                    </a:ext>
                  </a:extLst>
                </a:gridCol>
                <a:gridCol w="964907">
                  <a:extLst>
                    <a:ext uri="{9D8B030D-6E8A-4147-A177-3AD203B41FA5}">
                      <a16:colId xmlns:a16="http://schemas.microsoft.com/office/drawing/2014/main" val="20002"/>
                    </a:ext>
                  </a:extLst>
                </a:gridCol>
                <a:gridCol w="964907">
                  <a:extLst>
                    <a:ext uri="{9D8B030D-6E8A-4147-A177-3AD203B41FA5}">
                      <a16:colId xmlns:a16="http://schemas.microsoft.com/office/drawing/2014/main" val="20003"/>
                    </a:ext>
                  </a:extLst>
                </a:gridCol>
                <a:gridCol w="964907">
                  <a:extLst>
                    <a:ext uri="{9D8B030D-6E8A-4147-A177-3AD203B41FA5}">
                      <a16:colId xmlns:a16="http://schemas.microsoft.com/office/drawing/2014/main" val="20004"/>
                    </a:ext>
                  </a:extLst>
                </a:gridCol>
              </a:tblGrid>
              <a:tr h="804089">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804089">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804089">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804089">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804089">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804089">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28575" cap="flat" cmpd="sng" algn="ctr">
                      <a:solidFill>
                        <a:srgbClr val="FF5050"/>
                      </a:solidFill>
                      <a:prstDash val="solid"/>
                      <a:round/>
                      <a:headEnd type="none" w="med" len="med"/>
                      <a:tailEnd type="none" w="med" len="med"/>
                    </a:lnL>
                    <a:lnR w="28575" cap="flat" cmpd="sng" algn="ctr">
                      <a:solidFill>
                        <a:srgbClr val="FF5050"/>
                      </a:solidFill>
                      <a:prstDash val="solid"/>
                      <a:round/>
                      <a:headEnd type="none" w="med" len="med"/>
                      <a:tailEnd type="none" w="med" len="med"/>
                    </a:lnR>
                    <a:lnT w="28575" cap="flat" cmpd="sng" algn="ctr">
                      <a:solidFill>
                        <a:srgbClr val="FF5050"/>
                      </a:solidFill>
                      <a:prstDash val="solid"/>
                      <a:round/>
                      <a:headEnd type="none" w="med" len="med"/>
                      <a:tailEnd type="none" w="med" len="med"/>
                    </a:lnT>
                    <a:lnB w="28575" cap="flat" cmpd="sng" algn="ctr">
                      <a:solidFill>
                        <a:srgbClr val="FF505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6" name="Textfeld 5"/>
          <p:cNvSpPr txBox="1">
            <a:spLocks/>
          </p:cNvSpPr>
          <p:nvPr/>
        </p:nvSpPr>
        <p:spPr>
          <a:xfrm rot="2700000">
            <a:off x="310511" y="7777803"/>
            <a:ext cx="1260000" cy="322160"/>
          </a:xfrm>
          <a:prstGeom prst="rect">
            <a:avLst/>
          </a:prstGeom>
          <a:noFill/>
        </p:spPr>
        <p:txBody>
          <a:bodyPr wrap="square" lIns="105684" tIns="52842" rIns="105684" bIns="52842" rtlCol="0">
            <a:spAutoFit/>
          </a:bodyPr>
          <a:lstStyle/>
          <a:p>
            <a:r>
              <a:rPr lang="de-DE" sz="1400">
                <a:solidFill>
                  <a:prstClr val="black"/>
                </a:solidFill>
              </a:rPr>
              <a:t>Generation</a:t>
            </a:r>
          </a:p>
        </p:txBody>
      </p:sp>
      <p:sp>
        <p:nvSpPr>
          <p:cNvPr id="7" name="Textfeld 6"/>
          <p:cNvSpPr txBox="1">
            <a:spLocks/>
          </p:cNvSpPr>
          <p:nvPr/>
        </p:nvSpPr>
        <p:spPr>
          <a:xfrm rot="2700000">
            <a:off x="1199362" y="7777803"/>
            <a:ext cx="1260000" cy="322160"/>
          </a:xfrm>
          <a:prstGeom prst="rect">
            <a:avLst/>
          </a:prstGeom>
          <a:noFill/>
        </p:spPr>
        <p:txBody>
          <a:bodyPr wrap="square" lIns="105684" tIns="52842" rIns="105684" bIns="52842" rtlCol="0">
            <a:spAutoFit/>
          </a:bodyPr>
          <a:lstStyle/>
          <a:p>
            <a:r>
              <a:rPr lang="de-DE" sz="1400">
                <a:solidFill>
                  <a:prstClr val="black"/>
                </a:solidFill>
              </a:rPr>
              <a:t>Transmission</a:t>
            </a:r>
          </a:p>
        </p:txBody>
      </p:sp>
      <p:sp>
        <p:nvSpPr>
          <p:cNvPr id="8" name="Textfeld 7"/>
          <p:cNvSpPr txBox="1">
            <a:spLocks/>
          </p:cNvSpPr>
          <p:nvPr/>
        </p:nvSpPr>
        <p:spPr>
          <a:xfrm rot="2700000">
            <a:off x="2307090" y="7777802"/>
            <a:ext cx="1260000" cy="322160"/>
          </a:xfrm>
          <a:prstGeom prst="rect">
            <a:avLst/>
          </a:prstGeom>
          <a:noFill/>
        </p:spPr>
        <p:txBody>
          <a:bodyPr wrap="square" lIns="105684" tIns="52842" rIns="105684" bIns="52842" rtlCol="0">
            <a:spAutoFit/>
          </a:bodyPr>
          <a:lstStyle/>
          <a:p>
            <a:r>
              <a:rPr lang="de-DE" sz="1400" b="1">
                <a:solidFill>
                  <a:prstClr val="black"/>
                </a:solidFill>
              </a:rPr>
              <a:t>Distribution</a:t>
            </a:r>
          </a:p>
        </p:txBody>
      </p:sp>
      <p:sp>
        <p:nvSpPr>
          <p:cNvPr id="9" name="Textfeld 8"/>
          <p:cNvSpPr txBox="1">
            <a:spLocks/>
          </p:cNvSpPr>
          <p:nvPr/>
        </p:nvSpPr>
        <p:spPr>
          <a:xfrm rot="2700000">
            <a:off x="3392647" y="7695879"/>
            <a:ext cx="1026000" cy="322160"/>
          </a:xfrm>
          <a:prstGeom prst="rect">
            <a:avLst/>
          </a:prstGeom>
          <a:noFill/>
        </p:spPr>
        <p:txBody>
          <a:bodyPr wrap="square" lIns="105684" tIns="52842" rIns="105684" bIns="52842" rtlCol="0">
            <a:spAutoFit/>
          </a:bodyPr>
          <a:lstStyle/>
          <a:p>
            <a:r>
              <a:rPr lang="de-DE" sz="1400" b="1">
                <a:solidFill>
                  <a:prstClr val="black"/>
                </a:solidFill>
              </a:rPr>
              <a:t>DER</a:t>
            </a:r>
          </a:p>
        </p:txBody>
      </p:sp>
      <p:sp>
        <p:nvSpPr>
          <p:cNvPr id="10" name="Textfeld 9"/>
          <p:cNvSpPr txBox="1">
            <a:spLocks/>
          </p:cNvSpPr>
          <p:nvPr/>
        </p:nvSpPr>
        <p:spPr>
          <a:xfrm rot="2700000">
            <a:off x="4357490" y="7666174"/>
            <a:ext cx="1026000" cy="537603"/>
          </a:xfrm>
          <a:prstGeom prst="rect">
            <a:avLst/>
          </a:prstGeom>
          <a:noFill/>
        </p:spPr>
        <p:txBody>
          <a:bodyPr wrap="square" lIns="105684" tIns="52842" rIns="105684" bIns="52842" rtlCol="0">
            <a:spAutoFit/>
          </a:bodyPr>
          <a:lstStyle/>
          <a:p>
            <a:r>
              <a:rPr lang="de-DE" sz="1400" b="1">
                <a:solidFill>
                  <a:prstClr val="black"/>
                </a:solidFill>
              </a:rPr>
              <a:t>Customer </a:t>
            </a:r>
            <a:r>
              <a:rPr lang="de-DE" sz="1400" b="1" err="1">
                <a:solidFill>
                  <a:prstClr val="black"/>
                </a:solidFill>
              </a:rPr>
              <a:t>Premise</a:t>
            </a:r>
            <a:endParaRPr lang="de-DE" sz="1400" b="1">
              <a:solidFill>
                <a:prstClr val="black"/>
              </a:solidFill>
            </a:endParaRPr>
          </a:p>
        </p:txBody>
      </p:sp>
      <p:graphicFrame>
        <p:nvGraphicFramePr>
          <p:cNvPr id="13" name="Tabelle 12"/>
          <p:cNvGraphicFramePr>
            <a:graphicFrameLocks noGrp="1"/>
          </p:cNvGraphicFramePr>
          <p:nvPr/>
        </p:nvGraphicFramePr>
        <p:xfrm>
          <a:off x="5517232" y="2123729"/>
          <a:ext cx="1080120" cy="4821766"/>
        </p:xfrm>
        <a:graphic>
          <a:graphicData uri="http://schemas.openxmlformats.org/drawingml/2006/table">
            <a:tbl>
              <a:tblPr firstRow="1" bandRow="1">
                <a:tableStyleId>{2D5ABB26-0587-4C30-8999-92F81FD0307C}</a:tableStyleId>
              </a:tblPr>
              <a:tblGrid>
                <a:gridCol w="1080120">
                  <a:extLst>
                    <a:ext uri="{9D8B030D-6E8A-4147-A177-3AD203B41FA5}">
                      <a16:colId xmlns:a16="http://schemas.microsoft.com/office/drawing/2014/main" val="20000"/>
                    </a:ext>
                  </a:extLst>
                </a:gridCol>
              </a:tblGrid>
              <a:tr h="792088">
                <a:tc>
                  <a:txBody>
                    <a:bodyPr/>
                    <a:lstStyle/>
                    <a:p>
                      <a:r>
                        <a:rPr lang="de-DE" sz="1400"/>
                        <a:t>Market</a:t>
                      </a:r>
                    </a:p>
                  </a:txBody>
                  <a:tcPr marL="103680" marR="103680" marT="54261" marB="54261" anchor="ctr"/>
                </a:tc>
                <a:extLst>
                  <a:ext uri="{0D108BD9-81ED-4DB2-BD59-A6C34878D82A}">
                    <a16:rowId xmlns:a16="http://schemas.microsoft.com/office/drawing/2014/main" val="10000"/>
                  </a:ext>
                </a:extLst>
              </a:tr>
              <a:tr h="792088">
                <a:tc>
                  <a:txBody>
                    <a:bodyPr/>
                    <a:lstStyle/>
                    <a:p>
                      <a:r>
                        <a:rPr lang="de-DE" sz="1400"/>
                        <a:t>Enterprise</a:t>
                      </a:r>
                    </a:p>
                  </a:txBody>
                  <a:tcPr marL="103680" marR="103680" marT="54261" marB="54261" anchor="ctr"/>
                </a:tc>
                <a:extLst>
                  <a:ext uri="{0D108BD9-81ED-4DB2-BD59-A6C34878D82A}">
                    <a16:rowId xmlns:a16="http://schemas.microsoft.com/office/drawing/2014/main" val="10001"/>
                  </a:ext>
                </a:extLst>
              </a:tr>
              <a:tr h="792088">
                <a:tc>
                  <a:txBody>
                    <a:bodyPr/>
                    <a:lstStyle/>
                    <a:p>
                      <a:r>
                        <a:rPr lang="de-DE" sz="1400"/>
                        <a:t>Operation</a:t>
                      </a:r>
                    </a:p>
                  </a:txBody>
                  <a:tcPr marL="103680" marR="103680" marT="54261" marB="54261" anchor="ctr"/>
                </a:tc>
                <a:extLst>
                  <a:ext uri="{0D108BD9-81ED-4DB2-BD59-A6C34878D82A}">
                    <a16:rowId xmlns:a16="http://schemas.microsoft.com/office/drawing/2014/main" val="10002"/>
                  </a:ext>
                </a:extLst>
              </a:tr>
              <a:tr h="792088">
                <a:tc>
                  <a:txBody>
                    <a:bodyPr/>
                    <a:lstStyle/>
                    <a:p>
                      <a:r>
                        <a:rPr lang="de-DE" sz="1400"/>
                        <a:t>Station</a:t>
                      </a:r>
                    </a:p>
                  </a:txBody>
                  <a:tcPr marL="103680" marR="103680" marT="54261" marB="54261" anchor="ctr"/>
                </a:tc>
                <a:extLst>
                  <a:ext uri="{0D108BD9-81ED-4DB2-BD59-A6C34878D82A}">
                    <a16:rowId xmlns:a16="http://schemas.microsoft.com/office/drawing/2014/main" val="10003"/>
                  </a:ext>
                </a:extLst>
              </a:tr>
              <a:tr h="864096">
                <a:tc>
                  <a:txBody>
                    <a:bodyPr/>
                    <a:lstStyle/>
                    <a:p>
                      <a:r>
                        <a:rPr lang="de-DE" sz="1400"/>
                        <a:t>Field</a:t>
                      </a:r>
                    </a:p>
                  </a:txBody>
                  <a:tcPr marL="103680" marR="103680" marT="54261" marB="54261" anchor="ctr"/>
                </a:tc>
                <a:extLst>
                  <a:ext uri="{0D108BD9-81ED-4DB2-BD59-A6C34878D82A}">
                    <a16:rowId xmlns:a16="http://schemas.microsoft.com/office/drawing/2014/main" val="10004"/>
                  </a:ext>
                </a:extLst>
              </a:tr>
              <a:tr h="789318">
                <a:tc>
                  <a:txBody>
                    <a:bodyPr/>
                    <a:lstStyle/>
                    <a:p>
                      <a:r>
                        <a:rPr lang="de-DE" sz="1400" err="1"/>
                        <a:t>Process</a:t>
                      </a:r>
                      <a:endParaRPr lang="de-DE" sz="1400"/>
                    </a:p>
                  </a:txBody>
                  <a:tcPr marL="103680" marR="103680" marT="54261" marB="54261" anchor="ctr"/>
                </a:tc>
                <a:extLst>
                  <a:ext uri="{0D108BD9-81ED-4DB2-BD59-A6C34878D82A}">
                    <a16:rowId xmlns:a16="http://schemas.microsoft.com/office/drawing/2014/main" val="10005"/>
                  </a:ext>
                </a:extLst>
              </a:tr>
            </a:tbl>
          </a:graphicData>
        </a:graphic>
      </p:graphicFrame>
      <p:graphicFrame>
        <p:nvGraphicFramePr>
          <p:cNvPr id="14" name="Tabelle 13"/>
          <p:cNvGraphicFramePr>
            <a:graphicFrameLocks noGrp="1"/>
          </p:cNvGraphicFramePr>
          <p:nvPr/>
        </p:nvGraphicFramePr>
        <p:xfrm>
          <a:off x="332657" y="7020273"/>
          <a:ext cx="4824535" cy="384071"/>
        </p:xfrm>
        <a:graphic>
          <a:graphicData uri="http://schemas.openxmlformats.org/drawingml/2006/table">
            <a:tbl>
              <a:tblPr firstRow="1" bandRow="1">
                <a:tableStyleId>{2D5ABB26-0587-4C30-8999-92F81FD0307C}</a:tableStyleId>
              </a:tblPr>
              <a:tblGrid>
                <a:gridCol w="964907">
                  <a:extLst>
                    <a:ext uri="{9D8B030D-6E8A-4147-A177-3AD203B41FA5}">
                      <a16:colId xmlns:a16="http://schemas.microsoft.com/office/drawing/2014/main" val="20000"/>
                    </a:ext>
                  </a:extLst>
                </a:gridCol>
                <a:gridCol w="964907">
                  <a:extLst>
                    <a:ext uri="{9D8B030D-6E8A-4147-A177-3AD203B41FA5}">
                      <a16:colId xmlns:a16="http://schemas.microsoft.com/office/drawing/2014/main" val="20001"/>
                    </a:ext>
                  </a:extLst>
                </a:gridCol>
                <a:gridCol w="964907">
                  <a:extLst>
                    <a:ext uri="{9D8B030D-6E8A-4147-A177-3AD203B41FA5}">
                      <a16:colId xmlns:a16="http://schemas.microsoft.com/office/drawing/2014/main" val="20002"/>
                    </a:ext>
                  </a:extLst>
                </a:gridCol>
                <a:gridCol w="964907">
                  <a:extLst>
                    <a:ext uri="{9D8B030D-6E8A-4147-A177-3AD203B41FA5}">
                      <a16:colId xmlns:a16="http://schemas.microsoft.com/office/drawing/2014/main" val="20003"/>
                    </a:ext>
                  </a:extLst>
                </a:gridCol>
                <a:gridCol w="964907">
                  <a:extLst>
                    <a:ext uri="{9D8B030D-6E8A-4147-A177-3AD203B41FA5}">
                      <a16:colId xmlns:a16="http://schemas.microsoft.com/office/drawing/2014/main" val="20004"/>
                    </a:ext>
                  </a:extLst>
                </a:gridCol>
              </a:tblGrid>
              <a:tr h="384071">
                <a:tc>
                  <a:txBody>
                    <a:bodyPr/>
                    <a:lstStyle/>
                    <a:p>
                      <a:pPr algn="ctr"/>
                      <a:r>
                        <a:rPr lang="de-DE" sz="1400"/>
                        <a:t>1</a:t>
                      </a:r>
                    </a:p>
                  </a:txBody>
                  <a:tcPr marL="103680" marR="103680" marT="54261" marB="54261" anchor="ctr"/>
                </a:tc>
                <a:tc>
                  <a:txBody>
                    <a:bodyPr/>
                    <a:lstStyle/>
                    <a:p>
                      <a:pPr algn="ctr"/>
                      <a:r>
                        <a:rPr lang="de-DE" sz="1400"/>
                        <a:t>2</a:t>
                      </a:r>
                    </a:p>
                  </a:txBody>
                  <a:tcPr marL="103680" marR="103680" marT="54261" marB="54261" anchor="ctr"/>
                </a:tc>
                <a:tc>
                  <a:txBody>
                    <a:bodyPr/>
                    <a:lstStyle/>
                    <a:p>
                      <a:pPr algn="ctr"/>
                      <a:r>
                        <a:rPr lang="de-DE" sz="1400"/>
                        <a:t>3</a:t>
                      </a:r>
                    </a:p>
                  </a:txBody>
                  <a:tcPr marL="103680" marR="103680" marT="54261" marB="54261" anchor="ctr"/>
                </a:tc>
                <a:tc>
                  <a:txBody>
                    <a:bodyPr/>
                    <a:lstStyle/>
                    <a:p>
                      <a:pPr algn="ctr"/>
                      <a:r>
                        <a:rPr lang="de-DE" sz="1400"/>
                        <a:t>4</a:t>
                      </a:r>
                    </a:p>
                  </a:txBody>
                  <a:tcPr marL="103680" marR="103680" marT="54261" marB="54261" anchor="ctr"/>
                </a:tc>
                <a:tc>
                  <a:txBody>
                    <a:bodyPr/>
                    <a:lstStyle/>
                    <a:p>
                      <a:pPr algn="ctr"/>
                      <a:r>
                        <a:rPr lang="de-DE" sz="1400"/>
                        <a:t>5</a:t>
                      </a:r>
                    </a:p>
                  </a:txBody>
                  <a:tcPr marL="103680" marR="103680" marT="54261" marB="54261" anchor="ctr"/>
                </a:tc>
                <a:extLst>
                  <a:ext uri="{0D108BD9-81ED-4DB2-BD59-A6C34878D82A}">
                    <a16:rowId xmlns:a16="http://schemas.microsoft.com/office/drawing/2014/main" val="10000"/>
                  </a:ext>
                </a:extLst>
              </a:tr>
            </a:tbl>
          </a:graphicData>
        </a:graphic>
      </p:graphicFrame>
      <p:graphicFrame>
        <p:nvGraphicFramePr>
          <p:cNvPr id="15" name="Tabelle 14"/>
          <p:cNvGraphicFramePr>
            <a:graphicFrameLocks noGrp="1"/>
          </p:cNvGraphicFramePr>
          <p:nvPr/>
        </p:nvGraphicFramePr>
        <p:xfrm>
          <a:off x="5157193" y="2123729"/>
          <a:ext cx="337535" cy="4821766"/>
        </p:xfrm>
        <a:graphic>
          <a:graphicData uri="http://schemas.openxmlformats.org/drawingml/2006/table">
            <a:tbl>
              <a:tblPr firstRow="1" bandRow="1">
                <a:tableStyleId>{2D5ABB26-0587-4C30-8999-92F81FD0307C}</a:tableStyleId>
              </a:tblPr>
              <a:tblGrid>
                <a:gridCol w="337535">
                  <a:extLst>
                    <a:ext uri="{9D8B030D-6E8A-4147-A177-3AD203B41FA5}">
                      <a16:colId xmlns:a16="http://schemas.microsoft.com/office/drawing/2014/main" val="20000"/>
                    </a:ext>
                  </a:extLst>
                </a:gridCol>
              </a:tblGrid>
              <a:tr h="792088">
                <a:tc>
                  <a:txBody>
                    <a:bodyPr/>
                    <a:lstStyle/>
                    <a:p>
                      <a:r>
                        <a:rPr lang="de-DE" sz="1400"/>
                        <a:t>f</a:t>
                      </a:r>
                    </a:p>
                  </a:txBody>
                  <a:tcPr marL="103680" marR="103680" marT="54261" marB="54261" anchor="ctr"/>
                </a:tc>
                <a:extLst>
                  <a:ext uri="{0D108BD9-81ED-4DB2-BD59-A6C34878D82A}">
                    <a16:rowId xmlns:a16="http://schemas.microsoft.com/office/drawing/2014/main" val="10000"/>
                  </a:ext>
                </a:extLst>
              </a:tr>
              <a:tr h="792088">
                <a:tc>
                  <a:txBody>
                    <a:bodyPr/>
                    <a:lstStyle/>
                    <a:p>
                      <a:r>
                        <a:rPr lang="de-DE" sz="1400"/>
                        <a:t>e</a:t>
                      </a:r>
                    </a:p>
                  </a:txBody>
                  <a:tcPr marL="103680" marR="103680" marT="54261" marB="54261" anchor="ctr"/>
                </a:tc>
                <a:extLst>
                  <a:ext uri="{0D108BD9-81ED-4DB2-BD59-A6C34878D82A}">
                    <a16:rowId xmlns:a16="http://schemas.microsoft.com/office/drawing/2014/main" val="10001"/>
                  </a:ext>
                </a:extLst>
              </a:tr>
              <a:tr h="792088">
                <a:tc>
                  <a:txBody>
                    <a:bodyPr/>
                    <a:lstStyle/>
                    <a:p>
                      <a:r>
                        <a:rPr lang="de-DE" sz="1400"/>
                        <a:t>d</a:t>
                      </a:r>
                    </a:p>
                  </a:txBody>
                  <a:tcPr marL="103680" marR="103680" marT="54261" marB="54261" anchor="ctr"/>
                </a:tc>
                <a:extLst>
                  <a:ext uri="{0D108BD9-81ED-4DB2-BD59-A6C34878D82A}">
                    <a16:rowId xmlns:a16="http://schemas.microsoft.com/office/drawing/2014/main" val="10002"/>
                  </a:ext>
                </a:extLst>
              </a:tr>
              <a:tr h="792088">
                <a:tc>
                  <a:txBody>
                    <a:bodyPr/>
                    <a:lstStyle/>
                    <a:p>
                      <a:r>
                        <a:rPr lang="de-DE" sz="1400"/>
                        <a:t>c</a:t>
                      </a:r>
                    </a:p>
                  </a:txBody>
                  <a:tcPr marL="103680" marR="103680" marT="54261" marB="54261" anchor="ctr"/>
                </a:tc>
                <a:extLst>
                  <a:ext uri="{0D108BD9-81ED-4DB2-BD59-A6C34878D82A}">
                    <a16:rowId xmlns:a16="http://schemas.microsoft.com/office/drawing/2014/main" val="10003"/>
                  </a:ext>
                </a:extLst>
              </a:tr>
              <a:tr h="864096">
                <a:tc>
                  <a:txBody>
                    <a:bodyPr/>
                    <a:lstStyle/>
                    <a:p>
                      <a:r>
                        <a:rPr lang="de-DE" sz="1400"/>
                        <a:t>b</a:t>
                      </a:r>
                    </a:p>
                  </a:txBody>
                  <a:tcPr marL="103680" marR="103680" marT="54261" marB="54261" anchor="ctr"/>
                </a:tc>
                <a:extLst>
                  <a:ext uri="{0D108BD9-81ED-4DB2-BD59-A6C34878D82A}">
                    <a16:rowId xmlns:a16="http://schemas.microsoft.com/office/drawing/2014/main" val="10004"/>
                  </a:ext>
                </a:extLst>
              </a:tr>
              <a:tr h="789318">
                <a:tc>
                  <a:txBody>
                    <a:bodyPr/>
                    <a:lstStyle/>
                    <a:p>
                      <a:r>
                        <a:rPr lang="de-DE" sz="1400"/>
                        <a:t>a</a:t>
                      </a:r>
                    </a:p>
                  </a:txBody>
                  <a:tcPr marL="103680" marR="103680" marT="54261" marB="54261"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984781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3"/>
          <p:cNvSpPr/>
          <p:nvPr/>
        </p:nvSpPr>
        <p:spPr>
          <a:xfrm>
            <a:off x="404664" y="395536"/>
            <a:ext cx="6048672" cy="369332"/>
          </a:xfrm>
          <a:prstGeom prst="rect">
            <a:avLst/>
          </a:prstGeom>
        </p:spPr>
        <p:txBody>
          <a:bodyPr wrap="square">
            <a:spAutoFit/>
          </a:bodyPr>
          <a:lstStyle/>
          <a:p>
            <a:pPr algn="just"/>
            <a:r>
              <a:rPr lang="de-DE" b="1">
                <a:solidFill>
                  <a:prstClr val="black"/>
                </a:solidFill>
              </a:rPr>
              <a:t>Legend Layer E:</a:t>
            </a:r>
            <a:endParaRPr lang="en-US">
              <a:solidFill>
                <a:prstClr val="black"/>
              </a:solidFill>
            </a:endParaRPr>
          </a:p>
        </p:txBody>
      </p:sp>
      <p:graphicFrame>
        <p:nvGraphicFramePr>
          <p:cNvPr id="3" name="Tabelle 2"/>
          <p:cNvGraphicFramePr>
            <a:graphicFrameLocks noGrp="1"/>
          </p:cNvGraphicFramePr>
          <p:nvPr/>
        </p:nvGraphicFramePr>
        <p:xfrm>
          <a:off x="281136" y="1043608"/>
          <a:ext cx="6172200" cy="1872208"/>
        </p:xfrm>
        <a:graphic>
          <a:graphicData uri="http://schemas.openxmlformats.org/drawingml/2006/table">
            <a:tbl>
              <a:tblPr firstRow="1" firstCol="1" bandRow="1">
                <a:tableStyleId>{5940675A-B579-460E-94D1-54222C63F5DA}</a:tableStyleId>
              </a:tblPr>
              <a:tblGrid>
                <a:gridCol w="2067744">
                  <a:extLst>
                    <a:ext uri="{9D8B030D-6E8A-4147-A177-3AD203B41FA5}">
                      <a16:colId xmlns:a16="http://schemas.microsoft.com/office/drawing/2014/main" val="20000"/>
                    </a:ext>
                  </a:extLst>
                </a:gridCol>
                <a:gridCol w="4104456">
                  <a:extLst>
                    <a:ext uri="{9D8B030D-6E8A-4147-A177-3AD203B41FA5}">
                      <a16:colId xmlns:a16="http://schemas.microsoft.com/office/drawing/2014/main" val="20001"/>
                    </a:ext>
                  </a:extLst>
                </a:gridCol>
              </a:tblGrid>
              <a:tr h="182880">
                <a:tc>
                  <a:txBody>
                    <a:bodyPr/>
                    <a:lstStyle/>
                    <a:p>
                      <a:pPr>
                        <a:spcAft>
                          <a:spcPts val="0"/>
                        </a:spcAft>
                      </a:pPr>
                      <a:r>
                        <a:rPr lang="en-US" sz="1200" b="1">
                          <a:effectLst/>
                        </a:rPr>
                        <a:t>Symbol</a:t>
                      </a:r>
                      <a:endParaRPr lang="en-US" sz="1200" b="1">
                        <a:effectLst/>
                        <a:latin typeface="Arial"/>
                        <a:ea typeface="Times New Roman"/>
                        <a:cs typeface="Times New Roman"/>
                      </a:endParaRPr>
                    </a:p>
                  </a:txBody>
                  <a:tcPr marL="68166" marR="68166" marT="0" marB="0"/>
                </a:tc>
                <a:tc>
                  <a:txBody>
                    <a:bodyPr/>
                    <a:lstStyle/>
                    <a:p>
                      <a:pPr>
                        <a:spcAft>
                          <a:spcPts val="0"/>
                        </a:spcAft>
                      </a:pPr>
                      <a:r>
                        <a:rPr lang="en-US" sz="1200" b="1">
                          <a:effectLst/>
                        </a:rPr>
                        <a:t>Description</a:t>
                      </a:r>
                      <a:endParaRPr lang="en-US" sz="1200" b="1">
                        <a:effectLst/>
                        <a:latin typeface="Arial"/>
                        <a:ea typeface="Times New Roman"/>
                        <a:cs typeface="Times New Roman"/>
                      </a:endParaRPr>
                    </a:p>
                  </a:txBody>
                  <a:tcPr marL="68166" marR="68166" marT="0" marB="0"/>
                </a:tc>
                <a:extLst>
                  <a:ext uri="{0D108BD9-81ED-4DB2-BD59-A6C34878D82A}">
                    <a16:rowId xmlns:a16="http://schemas.microsoft.com/office/drawing/2014/main" val="10000"/>
                  </a:ext>
                </a:extLst>
              </a:tr>
              <a:tr h="1689328">
                <a:tc>
                  <a:txBody>
                    <a:bodyPr/>
                    <a:lstStyle/>
                    <a:p>
                      <a:pPr>
                        <a:spcAft>
                          <a:spcPts val="0"/>
                        </a:spcAft>
                      </a:pPr>
                      <a:endParaRPr lang="en-US" sz="1200">
                        <a:effectLst/>
                        <a:latin typeface="Arial"/>
                        <a:ea typeface="Times New Roman"/>
                        <a:cs typeface="Times New Roman"/>
                      </a:endParaRPr>
                    </a:p>
                  </a:txBody>
                  <a:tcPr marL="68166" marR="68166" marT="0" marB="0"/>
                </a:tc>
                <a:tc>
                  <a:txBody>
                    <a:bodyPr/>
                    <a:lstStyle/>
                    <a:p>
                      <a:pPr>
                        <a:spcAft>
                          <a:spcPts val="0"/>
                        </a:spcAft>
                      </a:pPr>
                      <a:r>
                        <a:rPr lang="en-US" sz="1200">
                          <a:effectLst/>
                        </a:rPr>
                        <a:t>business objectives, business processes, economic and regulatory constraints</a:t>
                      </a:r>
                      <a:endParaRPr lang="en-US" sz="1200">
                        <a:effectLst/>
                        <a:latin typeface="Arial"/>
                        <a:ea typeface="Times New Roman"/>
                        <a:cs typeface="Times New Roman"/>
                      </a:endParaRPr>
                    </a:p>
                  </a:txBody>
                  <a:tcPr marL="68166" marR="68166" marT="0" marB="0" anchor="ctr"/>
                </a:tc>
                <a:extLst>
                  <a:ext uri="{0D108BD9-81ED-4DB2-BD59-A6C34878D82A}">
                    <a16:rowId xmlns:a16="http://schemas.microsoft.com/office/drawing/2014/main" val="10001"/>
                  </a:ext>
                </a:extLst>
              </a:tr>
            </a:tbl>
          </a:graphicData>
        </a:graphic>
      </p:graphicFrame>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81" y="1619675"/>
            <a:ext cx="1476375" cy="790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798286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pPr algn="l"/>
            <a:r>
              <a:rPr lang="de-DE"/>
              <a:t>Layer D: </a:t>
            </a:r>
            <a:r>
              <a:rPr lang="de-DE" err="1"/>
              <a:t>Function</a:t>
            </a:r>
            <a:endParaRPr lang="de-DE"/>
          </a:p>
        </p:txBody>
      </p:sp>
      <p:graphicFrame>
        <p:nvGraphicFramePr>
          <p:cNvPr id="5" name="Tabelle 4"/>
          <p:cNvGraphicFramePr>
            <a:graphicFrameLocks noGrp="1"/>
          </p:cNvGraphicFramePr>
          <p:nvPr/>
        </p:nvGraphicFramePr>
        <p:xfrm>
          <a:off x="332657" y="2123728"/>
          <a:ext cx="4824535" cy="4824534"/>
        </p:xfrm>
        <a:graphic>
          <a:graphicData uri="http://schemas.openxmlformats.org/drawingml/2006/table">
            <a:tbl>
              <a:tblPr firstRow="1" bandRow="1">
                <a:tableStyleId>{5940675A-B579-460E-94D1-54222C63F5DA}</a:tableStyleId>
              </a:tblPr>
              <a:tblGrid>
                <a:gridCol w="964907">
                  <a:extLst>
                    <a:ext uri="{9D8B030D-6E8A-4147-A177-3AD203B41FA5}">
                      <a16:colId xmlns:a16="http://schemas.microsoft.com/office/drawing/2014/main" val="20000"/>
                    </a:ext>
                  </a:extLst>
                </a:gridCol>
                <a:gridCol w="964907">
                  <a:extLst>
                    <a:ext uri="{9D8B030D-6E8A-4147-A177-3AD203B41FA5}">
                      <a16:colId xmlns:a16="http://schemas.microsoft.com/office/drawing/2014/main" val="20001"/>
                    </a:ext>
                  </a:extLst>
                </a:gridCol>
                <a:gridCol w="964907">
                  <a:extLst>
                    <a:ext uri="{9D8B030D-6E8A-4147-A177-3AD203B41FA5}">
                      <a16:colId xmlns:a16="http://schemas.microsoft.com/office/drawing/2014/main" val="20002"/>
                    </a:ext>
                  </a:extLst>
                </a:gridCol>
                <a:gridCol w="964907">
                  <a:extLst>
                    <a:ext uri="{9D8B030D-6E8A-4147-A177-3AD203B41FA5}">
                      <a16:colId xmlns:a16="http://schemas.microsoft.com/office/drawing/2014/main" val="20003"/>
                    </a:ext>
                  </a:extLst>
                </a:gridCol>
                <a:gridCol w="964907">
                  <a:extLst>
                    <a:ext uri="{9D8B030D-6E8A-4147-A177-3AD203B41FA5}">
                      <a16:colId xmlns:a16="http://schemas.microsoft.com/office/drawing/2014/main" val="20004"/>
                    </a:ext>
                  </a:extLst>
                </a:gridCol>
              </a:tblGrid>
              <a:tr h="804089">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804089">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804089">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804089">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804089">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804089">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6" name="Textfeld 5"/>
          <p:cNvSpPr txBox="1">
            <a:spLocks/>
          </p:cNvSpPr>
          <p:nvPr/>
        </p:nvSpPr>
        <p:spPr>
          <a:xfrm rot="2700000">
            <a:off x="310511" y="7777803"/>
            <a:ext cx="1260000" cy="322160"/>
          </a:xfrm>
          <a:prstGeom prst="rect">
            <a:avLst/>
          </a:prstGeom>
          <a:noFill/>
        </p:spPr>
        <p:txBody>
          <a:bodyPr wrap="square" lIns="105684" tIns="52842" rIns="105684" bIns="52842" rtlCol="0">
            <a:spAutoFit/>
          </a:bodyPr>
          <a:lstStyle/>
          <a:p>
            <a:r>
              <a:rPr lang="de-DE" sz="1400">
                <a:solidFill>
                  <a:prstClr val="black"/>
                </a:solidFill>
              </a:rPr>
              <a:t>Generation</a:t>
            </a:r>
          </a:p>
        </p:txBody>
      </p:sp>
      <p:sp>
        <p:nvSpPr>
          <p:cNvPr id="7" name="Textfeld 6"/>
          <p:cNvSpPr txBox="1">
            <a:spLocks/>
          </p:cNvSpPr>
          <p:nvPr/>
        </p:nvSpPr>
        <p:spPr>
          <a:xfrm rot="2700000">
            <a:off x="1199362" y="7777803"/>
            <a:ext cx="1260000" cy="322160"/>
          </a:xfrm>
          <a:prstGeom prst="rect">
            <a:avLst/>
          </a:prstGeom>
          <a:noFill/>
        </p:spPr>
        <p:txBody>
          <a:bodyPr wrap="square" lIns="105684" tIns="52842" rIns="105684" bIns="52842" rtlCol="0">
            <a:spAutoFit/>
          </a:bodyPr>
          <a:lstStyle/>
          <a:p>
            <a:r>
              <a:rPr lang="de-DE" sz="1400">
                <a:solidFill>
                  <a:prstClr val="black"/>
                </a:solidFill>
              </a:rPr>
              <a:t>Transmission</a:t>
            </a:r>
          </a:p>
        </p:txBody>
      </p:sp>
      <p:sp>
        <p:nvSpPr>
          <p:cNvPr id="8" name="Textfeld 7"/>
          <p:cNvSpPr txBox="1">
            <a:spLocks/>
          </p:cNvSpPr>
          <p:nvPr/>
        </p:nvSpPr>
        <p:spPr>
          <a:xfrm rot="2700000">
            <a:off x="2307090" y="7777802"/>
            <a:ext cx="1260000" cy="322160"/>
          </a:xfrm>
          <a:prstGeom prst="rect">
            <a:avLst/>
          </a:prstGeom>
          <a:noFill/>
        </p:spPr>
        <p:txBody>
          <a:bodyPr wrap="square" lIns="105684" tIns="52842" rIns="105684" bIns="52842" rtlCol="0">
            <a:spAutoFit/>
          </a:bodyPr>
          <a:lstStyle/>
          <a:p>
            <a:r>
              <a:rPr lang="de-DE" sz="1400" b="1">
                <a:solidFill>
                  <a:prstClr val="black"/>
                </a:solidFill>
              </a:rPr>
              <a:t>Distribution</a:t>
            </a:r>
          </a:p>
        </p:txBody>
      </p:sp>
      <p:sp>
        <p:nvSpPr>
          <p:cNvPr id="9" name="Textfeld 8"/>
          <p:cNvSpPr txBox="1">
            <a:spLocks/>
          </p:cNvSpPr>
          <p:nvPr/>
        </p:nvSpPr>
        <p:spPr>
          <a:xfrm rot="2700000">
            <a:off x="3392647" y="7695879"/>
            <a:ext cx="1026000" cy="322160"/>
          </a:xfrm>
          <a:prstGeom prst="rect">
            <a:avLst/>
          </a:prstGeom>
          <a:noFill/>
        </p:spPr>
        <p:txBody>
          <a:bodyPr wrap="square" lIns="105684" tIns="52842" rIns="105684" bIns="52842" rtlCol="0">
            <a:spAutoFit/>
          </a:bodyPr>
          <a:lstStyle/>
          <a:p>
            <a:r>
              <a:rPr lang="de-DE" sz="1400" b="1">
                <a:solidFill>
                  <a:prstClr val="black"/>
                </a:solidFill>
              </a:rPr>
              <a:t>DER</a:t>
            </a:r>
          </a:p>
        </p:txBody>
      </p:sp>
      <p:sp>
        <p:nvSpPr>
          <p:cNvPr id="10" name="Textfeld 9"/>
          <p:cNvSpPr txBox="1">
            <a:spLocks/>
          </p:cNvSpPr>
          <p:nvPr/>
        </p:nvSpPr>
        <p:spPr>
          <a:xfrm rot="2700000">
            <a:off x="4357490" y="7666174"/>
            <a:ext cx="1026000" cy="537603"/>
          </a:xfrm>
          <a:prstGeom prst="rect">
            <a:avLst/>
          </a:prstGeom>
          <a:noFill/>
        </p:spPr>
        <p:txBody>
          <a:bodyPr wrap="square" lIns="105684" tIns="52842" rIns="105684" bIns="52842" rtlCol="0">
            <a:spAutoFit/>
          </a:bodyPr>
          <a:lstStyle/>
          <a:p>
            <a:r>
              <a:rPr lang="de-DE" sz="1400" b="1">
                <a:solidFill>
                  <a:prstClr val="black"/>
                </a:solidFill>
              </a:rPr>
              <a:t>Customer </a:t>
            </a:r>
            <a:r>
              <a:rPr lang="de-DE" sz="1400" b="1" err="1">
                <a:solidFill>
                  <a:prstClr val="black"/>
                </a:solidFill>
              </a:rPr>
              <a:t>Premise</a:t>
            </a:r>
            <a:endParaRPr lang="de-DE" sz="1400" b="1">
              <a:solidFill>
                <a:prstClr val="black"/>
              </a:solidFill>
            </a:endParaRPr>
          </a:p>
        </p:txBody>
      </p:sp>
      <p:graphicFrame>
        <p:nvGraphicFramePr>
          <p:cNvPr id="13" name="Tabelle 12"/>
          <p:cNvGraphicFramePr>
            <a:graphicFrameLocks noGrp="1"/>
          </p:cNvGraphicFramePr>
          <p:nvPr/>
        </p:nvGraphicFramePr>
        <p:xfrm>
          <a:off x="5517232" y="2123729"/>
          <a:ext cx="1080120" cy="4821766"/>
        </p:xfrm>
        <a:graphic>
          <a:graphicData uri="http://schemas.openxmlformats.org/drawingml/2006/table">
            <a:tbl>
              <a:tblPr firstRow="1" bandRow="1">
                <a:tableStyleId>{2D5ABB26-0587-4C30-8999-92F81FD0307C}</a:tableStyleId>
              </a:tblPr>
              <a:tblGrid>
                <a:gridCol w="1080120">
                  <a:extLst>
                    <a:ext uri="{9D8B030D-6E8A-4147-A177-3AD203B41FA5}">
                      <a16:colId xmlns:a16="http://schemas.microsoft.com/office/drawing/2014/main" val="20000"/>
                    </a:ext>
                  </a:extLst>
                </a:gridCol>
              </a:tblGrid>
              <a:tr h="792088">
                <a:tc>
                  <a:txBody>
                    <a:bodyPr/>
                    <a:lstStyle/>
                    <a:p>
                      <a:r>
                        <a:rPr lang="de-DE" sz="1400"/>
                        <a:t>Market</a:t>
                      </a:r>
                    </a:p>
                  </a:txBody>
                  <a:tcPr marL="103680" marR="103680" marT="54261" marB="54261" anchor="ctr"/>
                </a:tc>
                <a:extLst>
                  <a:ext uri="{0D108BD9-81ED-4DB2-BD59-A6C34878D82A}">
                    <a16:rowId xmlns:a16="http://schemas.microsoft.com/office/drawing/2014/main" val="10000"/>
                  </a:ext>
                </a:extLst>
              </a:tr>
              <a:tr h="792088">
                <a:tc>
                  <a:txBody>
                    <a:bodyPr/>
                    <a:lstStyle/>
                    <a:p>
                      <a:r>
                        <a:rPr lang="de-DE" sz="1400"/>
                        <a:t>Enterprise</a:t>
                      </a:r>
                    </a:p>
                  </a:txBody>
                  <a:tcPr marL="103680" marR="103680" marT="54261" marB="54261" anchor="ctr"/>
                </a:tc>
                <a:extLst>
                  <a:ext uri="{0D108BD9-81ED-4DB2-BD59-A6C34878D82A}">
                    <a16:rowId xmlns:a16="http://schemas.microsoft.com/office/drawing/2014/main" val="10001"/>
                  </a:ext>
                </a:extLst>
              </a:tr>
              <a:tr h="792088">
                <a:tc>
                  <a:txBody>
                    <a:bodyPr/>
                    <a:lstStyle/>
                    <a:p>
                      <a:r>
                        <a:rPr lang="de-DE" sz="1400"/>
                        <a:t>Operation</a:t>
                      </a:r>
                    </a:p>
                  </a:txBody>
                  <a:tcPr marL="103680" marR="103680" marT="54261" marB="54261" anchor="ctr"/>
                </a:tc>
                <a:extLst>
                  <a:ext uri="{0D108BD9-81ED-4DB2-BD59-A6C34878D82A}">
                    <a16:rowId xmlns:a16="http://schemas.microsoft.com/office/drawing/2014/main" val="10002"/>
                  </a:ext>
                </a:extLst>
              </a:tr>
              <a:tr h="792088">
                <a:tc>
                  <a:txBody>
                    <a:bodyPr/>
                    <a:lstStyle/>
                    <a:p>
                      <a:r>
                        <a:rPr lang="de-DE" sz="1400"/>
                        <a:t>Station</a:t>
                      </a:r>
                    </a:p>
                  </a:txBody>
                  <a:tcPr marL="103680" marR="103680" marT="54261" marB="54261" anchor="ctr"/>
                </a:tc>
                <a:extLst>
                  <a:ext uri="{0D108BD9-81ED-4DB2-BD59-A6C34878D82A}">
                    <a16:rowId xmlns:a16="http://schemas.microsoft.com/office/drawing/2014/main" val="10003"/>
                  </a:ext>
                </a:extLst>
              </a:tr>
              <a:tr h="864096">
                <a:tc>
                  <a:txBody>
                    <a:bodyPr/>
                    <a:lstStyle/>
                    <a:p>
                      <a:r>
                        <a:rPr lang="de-DE" sz="1400"/>
                        <a:t>Field</a:t>
                      </a:r>
                    </a:p>
                  </a:txBody>
                  <a:tcPr marL="103680" marR="103680" marT="54261" marB="54261" anchor="ctr"/>
                </a:tc>
                <a:extLst>
                  <a:ext uri="{0D108BD9-81ED-4DB2-BD59-A6C34878D82A}">
                    <a16:rowId xmlns:a16="http://schemas.microsoft.com/office/drawing/2014/main" val="10004"/>
                  </a:ext>
                </a:extLst>
              </a:tr>
              <a:tr h="789318">
                <a:tc>
                  <a:txBody>
                    <a:bodyPr/>
                    <a:lstStyle/>
                    <a:p>
                      <a:r>
                        <a:rPr lang="de-DE" sz="1400" err="1"/>
                        <a:t>Process</a:t>
                      </a:r>
                      <a:endParaRPr lang="de-DE" sz="1400"/>
                    </a:p>
                  </a:txBody>
                  <a:tcPr marL="103680" marR="103680" marT="54261" marB="54261" anchor="ctr"/>
                </a:tc>
                <a:extLst>
                  <a:ext uri="{0D108BD9-81ED-4DB2-BD59-A6C34878D82A}">
                    <a16:rowId xmlns:a16="http://schemas.microsoft.com/office/drawing/2014/main" val="10005"/>
                  </a:ext>
                </a:extLst>
              </a:tr>
            </a:tbl>
          </a:graphicData>
        </a:graphic>
      </p:graphicFrame>
      <p:graphicFrame>
        <p:nvGraphicFramePr>
          <p:cNvPr id="14" name="Tabelle 13"/>
          <p:cNvGraphicFramePr>
            <a:graphicFrameLocks noGrp="1"/>
          </p:cNvGraphicFramePr>
          <p:nvPr/>
        </p:nvGraphicFramePr>
        <p:xfrm>
          <a:off x="332657" y="7020273"/>
          <a:ext cx="4824535" cy="384071"/>
        </p:xfrm>
        <a:graphic>
          <a:graphicData uri="http://schemas.openxmlformats.org/drawingml/2006/table">
            <a:tbl>
              <a:tblPr firstRow="1" bandRow="1">
                <a:tableStyleId>{2D5ABB26-0587-4C30-8999-92F81FD0307C}</a:tableStyleId>
              </a:tblPr>
              <a:tblGrid>
                <a:gridCol w="964907">
                  <a:extLst>
                    <a:ext uri="{9D8B030D-6E8A-4147-A177-3AD203B41FA5}">
                      <a16:colId xmlns:a16="http://schemas.microsoft.com/office/drawing/2014/main" val="20000"/>
                    </a:ext>
                  </a:extLst>
                </a:gridCol>
                <a:gridCol w="964907">
                  <a:extLst>
                    <a:ext uri="{9D8B030D-6E8A-4147-A177-3AD203B41FA5}">
                      <a16:colId xmlns:a16="http://schemas.microsoft.com/office/drawing/2014/main" val="20001"/>
                    </a:ext>
                  </a:extLst>
                </a:gridCol>
                <a:gridCol w="964907">
                  <a:extLst>
                    <a:ext uri="{9D8B030D-6E8A-4147-A177-3AD203B41FA5}">
                      <a16:colId xmlns:a16="http://schemas.microsoft.com/office/drawing/2014/main" val="20002"/>
                    </a:ext>
                  </a:extLst>
                </a:gridCol>
                <a:gridCol w="964907">
                  <a:extLst>
                    <a:ext uri="{9D8B030D-6E8A-4147-A177-3AD203B41FA5}">
                      <a16:colId xmlns:a16="http://schemas.microsoft.com/office/drawing/2014/main" val="20003"/>
                    </a:ext>
                  </a:extLst>
                </a:gridCol>
                <a:gridCol w="964907">
                  <a:extLst>
                    <a:ext uri="{9D8B030D-6E8A-4147-A177-3AD203B41FA5}">
                      <a16:colId xmlns:a16="http://schemas.microsoft.com/office/drawing/2014/main" val="20004"/>
                    </a:ext>
                  </a:extLst>
                </a:gridCol>
              </a:tblGrid>
              <a:tr h="384071">
                <a:tc>
                  <a:txBody>
                    <a:bodyPr/>
                    <a:lstStyle/>
                    <a:p>
                      <a:pPr algn="ctr"/>
                      <a:r>
                        <a:rPr lang="de-DE" sz="1400"/>
                        <a:t>1</a:t>
                      </a:r>
                    </a:p>
                  </a:txBody>
                  <a:tcPr marL="103680" marR="103680" marT="54261" marB="54261" anchor="ctr"/>
                </a:tc>
                <a:tc>
                  <a:txBody>
                    <a:bodyPr/>
                    <a:lstStyle/>
                    <a:p>
                      <a:pPr algn="ctr"/>
                      <a:r>
                        <a:rPr lang="de-DE" sz="1400"/>
                        <a:t>2</a:t>
                      </a:r>
                    </a:p>
                  </a:txBody>
                  <a:tcPr marL="103680" marR="103680" marT="54261" marB="54261" anchor="ctr"/>
                </a:tc>
                <a:tc>
                  <a:txBody>
                    <a:bodyPr/>
                    <a:lstStyle/>
                    <a:p>
                      <a:pPr algn="ctr"/>
                      <a:r>
                        <a:rPr lang="de-DE" sz="1400"/>
                        <a:t>3</a:t>
                      </a:r>
                    </a:p>
                  </a:txBody>
                  <a:tcPr marL="103680" marR="103680" marT="54261" marB="54261" anchor="ctr"/>
                </a:tc>
                <a:tc>
                  <a:txBody>
                    <a:bodyPr/>
                    <a:lstStyle/>
                    <a:p>
                      <a:pPr algn="ctr"/>
                      <a:r>
                        <a:rPr lang="de-DE" sz="1400"/>
                        <a:t>4</a:t>
                      </a:r>
                    </a:p>
                  </a:txBody>
                  <a:tcPr marL="103680" marR="103680" marT="54261" marB="54261" anchor="ctr"/>
                </a:tc>
                <a:tc>
                  <a:txBody>
                    <a:bodyPr/>
                    <a:lstStyle/>
                    <a:p>
                      <a:pPr algn="ctr"/>
                      <a:r>
                        <a:rPr lang="de-DE" sz="1400"/>
                        <a:t>5</a:t>
                      </a:r>
                    </a:p>
                  </a:txBody>
                  <a:tcPr marL="103680" marR="103680" marT="54261" marB="54261" anchor="ctr"/>
                </a:tc>
                <a:extLst>
                  <a:ext uri="{0D108BD9-81ED-4DB2-BD59-A6C34878D82A}">
                    <a16:rowId xmlns:a16="http://schemas.microsoft.com/office/drawing/2014/main" val="10000"/>
                  </a:ext>
                </a:extLst>
              </a:tr>
            </a:tbl>
          </a:graphicData>
        </a:graphic>
      </p:graphicFrame>
      <p:graphicFrame>
        <p:nvGraphicFramePr>
          <p:cNvPr id="15" name="Tabelle 14"/>
          <p:cNvGraphicFramePr>
            <a:graphicFrameLocks noGrp="1"/>
          </p:cNvGraphicFramePr>
          <p:nvPr/>
        </p:nvGraphicFramePr>
        <p:xfrm>
          <a:off x="5157193" y="2123729"/>
          <a:ext cx="337535" cy="4821766"/>
        </p:xfrm>
        <a:graphic>
          <a:graphicData uri="http://schemas.openxmlformats.org/drawingml/2006/table">
            <a:tbl>
              <a:tblPr firstRow="1" bandRow="1">
                <a:tableStyleId>{2D5ABB26-0587-4C30-8999-92F81FD0307C}</a:tableStyleId>
              </a:tblPr>
              <a:tblGrid>
                <a:gridCol w="337535">
                  <a:extLst>
                    <a:ext uri="{9D8B030D-6E8A-4147-A177-3AD203B41FA5}">
                      <a16:colId xmlns:a16="http://schemas.microsoft.com/office/drawing/2014/main" val="20000"/>
                    </a:ext>
                  </a:extLst>
                </a:gridCol>
              </a:tblGrid>
              <a:tr h="792088">
                <a:tc>
                  <a:txBody>
                    <a:bodyPr/>
                    <a:lstStyle/>
                    <a:p>
                      <a:r>
                        <a:rPr lang="de-DE" sz="1400"/>
                        <a:t>f</a:t>
                      </a:r>
                    </a:p>
                  </a:txBody>
                  <a:tcPr marL="103680" marR="103680" marT="54261" marB="54261" anchor="ctr"/>
                </a:tc>
                <a:extLst>
                  <a:ext uri="{0D108BD9-81ED-4DB2-BD59-A6C34878D82A}">
                    <a16:rowId xmlns:a16="http://schemas.microsoft.com/office/drawing/2014/main" val="10000"/>
                  </a:ext>
                </a:extLst>
              </a:tr>
              <a:tr h="792088">
                <a:tc>
                  <a:txBody>
                    <a:bodyPr/>
                    <a:lstStyle/>
                    <a:p>
                      <a:r>
                        <a:rPr lang="de-DE" sz="1400"/>
                        <a:t>e</a:t>
                      </a:r>
                    </a:p>
                  </a:txBody>
                  <a:tcPr marL="103680" marR="103680" marT="54261" marB="54261" anchor="ctr"/>
                </a:tc>
                <a:extLst>
                  <a:ext uri="{0D108BD9-81ED-4DB2-BD59-A6C34878D82A}">
                    <a16:rowId xmlns:a16="http://schemas.microsoft.com/office/drawing/2014/main" val="10001"/>
                  </a:ext>
                </a:extLst>
              </a:tr>
              <a:tr h="792088">
                <a:tc>
                  <a:txBody>
                    <a:bodyPr/>
                    <a:lstStyle/>
                    <a:p>
                      <a:r>
                        <a:rPr lang="de-DE" sz="1400"/>
                        <a:t>d</a:t>
                      </a:r>
                    </a:p>
                  </a:txBody>
                  <a:tcPr marL="103680" marR="103680" marT="54261" marB="54261" anchor="ctr"/>
                </a:tc>
                <a:extLst>
                  <a:ext uri="{0D108BD9-81ED-4DB2-BD59-A6C34878D82A}">
                    <a16:rowId xmlns:a16="http://schemas.microsoft.com/office/drawing/2014/main" val="10002"/>
                  </a:ext>
                </a:extLst>
              </a:tr>
              <a:tr h="792088">
                <a:tc>
                  <a:txBody>
                    <a:bodyPr/>
                    <a:lstStyle/>
                    <a:p>
                      <a:r>
                        <a:rPr lang="de-DE" sz="1400"/>
                        <a:t>c</a:t>
                      </a:r>
                    </a:p>
                  </a:txBody>
                  <a:tcPr marL="103680" marR="103680" marT="54261" marB="54261" anchor="ctr"/>
                </a:tc>
                <a:extLst>
                  <a:ext uri="{0D108BD9-81ED-4DB2-BD59-A6C34878D82A}">
                    <a16:rowId xmlns:a16="http://schemas.microsoft.com/office/drawing/2014/main" val="10003"/>
                  </a:ext>
                </a:extLst>
              </a:tr>
              <a:tr h="864096">
                <a:tc>
                  <a:txBody>
                    <a:bodyPr/>
                    <a:lstStyle/>
                    <a:p>
                      <a:r>
                        <a:rPr lang="de-DE" sz="1400"/>
                        <a:t>b</a:t>
                      </a:r>
                    </a:p>
                  </a:txBody>
                  <a:tcPr marL="103680" marR="103680" marT="54261" marB="54261" anchor="ctr"/>
                </a:tc>
                <a:extLst>
                  <a:ext uri="{0D108BD9-81ED-4DB2-BD59-A6C34878D82A}">
                    <a16:rowId xmlns:a16="http://schemas.microsoft.com/office/drawing/2014/main" val="10004"/>
                  </a:ext>
                </a:extLst>
              </a:tr>
              <a:tr h="789318">
                <a:tc>
                  <a:txBody>
                    <a:bodyPr/>
                    <a:lstStyle/>
                    <a:p>
                      <a:r>
                        <a:rPr lang="de-DE" sz="1400"/>
                        <a:t>a</a:t>
                      </a:r>
                    </a:p>
                  </a:txBody>
                  <a:tcPr marL="103680" marR="103680" marT="54261" marB="54261"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52413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3"/>
          <p:cNvSpPr/>
          <p:nvPr/>
        </p:nvSpPr>
        <p:spPr>
          <a:xfrm>
            <a:off x="404664" y="395536"/>
            <a:ext cx="6048672" cy="369332"/>
          </a:xfrm>
          <a:prstGeom prst="rect">
            <a:avLst/>
          </a:prstGeom>
        </p:spPr>
        <p:txBody>
          <a:bodyPr wrap="square">
            <a:spAutoFit/>
          </a:bodyPr>
          <a:lstStyle/>
          <a:p>
            <a:pPr algn="just"/>
            <a:r>
              <a:rPr lang="de-DE" b="1">
                <a:solidFill>
                  <a:prstClr val="black"/>
                </a:solidFill>
              </a:rPr>
              <a:t>Legend Layer D:</a:t>
            </a:r>
            <a:endParaRPr lang="en-US">
              <a:solidFill>
                <a:prstClr val="black"/>
              </a:solidFill>
            </a:endParaRPr>
          </a:p>
        </p:txBody>
      </p:sp>
      <p:graphicFrame>
        <p:nvGraphicFramePr>
          <p:cNvPr id="3" name="Tabelle 2"/>
          <p:cNvGraphicFramePr>
            <a:graphicFrameLocks noGrp="1"/>
          </p:cNvGraphicFramePr>
          <p:nvPr/>
        </p:nvGraphicFramePr>
        <p:xfrm>
          <a:off x="281136" y="1043608"/>
          <a:ext cx="6172200" cy="1224136"/>
        </p:xfrm>
        <a:graphic>
          <a:graphicData uri="http://schemas.openxmlformats.org/drawingml/2006/table">
            <a:tbl>
              <a:tblPr firstRow="1" firstCol="1" bandRow="1">
                <a:tableStyleId>{5940675A-B579-460E-94D1-54222C63F5DA}</a:tableStyleId>
              </a:tblPr>
              <a:tblGrid>
                <a:gridCol w="1563688">
                  <a:extLst>
                    <a:ext uri="{9D8B030D-6E8A-4147-A177-3AD203B41FA5}">
                      <a16:colId xmlns:a16="http://schemas.microsoft.com/office/drawing/2014/main" val="20000"/>
                    </a:ext>
                  </a:extLst>
                </a:gridCol>
                <a:gridCol w="4608512">
                  <a:extLst>
                    <a:ext uri="{9D8B030D-6E8A-4147-A177-3AD203B41FA5}">
                      <a16:colId xmlns:a16="http://schemas.microsoft.com/office/drawing/2014/main" val="20001"/>
                    </a:ext>
                  </a:extLst>
                </a:gridCol>
              </a:tblGrid>
              <a:tr h="182880">
                <a:tc>
                  <a:txBody>
                    <a:bodyPr/>
                    <a:lstStyle/>
                    <a:p>
                      <a:pPr>
                        <a:spcAft>
                          <a:spcPts val="0"/>
                        </a:spcAft>
                      </a:pPr>
                      <a:r>
                        <a:rPr lang="en-US" sz="1200" b="1">
                          <a:effectLst/>
                        </a:rPr>
                        <a:t>Symbol</a:t>
                      </a:r>
                      <a:endParaRPr lang="en-US" sz="1200" b="1">
                        <a:effectLst/>
                        <a:latin typeface="Arial"/>
                        <a:ea typeface="Times New Roman"/>
                        <a:cs typeface="Times New Roman"/>
                      </a:endParaRPr>
                    </a:p>
                  </a:txBody>
                  <a:tcPr marL="68166" marR="68166" marT="0" marB="0"/>
                </a:tc>
                <a:tc>
                  <a:txBody>
                    <a:bodyPr/>
                    <a:lstStyle/>
                    <a:p>
                      <a:pPr>
                        <a:spcAft>
                          <a:spcPts val="0"/>
                        </a:spcAft>
                      </a:pPr>
                      <a:r>
                        <a:rPr lang="en-US" sz="1200" b="1">
                          <a:effectLst/>
                        </a:rPr>
                        <a:t>Description</a:t>
                      </a:r>
                      <a:endParaRPr lang="en-US" sz="1200" b="1">
                        <a:effectLst/>
                        <a:latin typeface="Arial"/>
                        <a:ea typeface="Times New Roman"/>
                        <a:cs typeface="Times New Roman"/>
                      </a:endParaRPr>
                    </a:p>
                  </a:txBody>
                  <a:tcPr marL="68166" marR="68166" marT="0" marB="0"/>
                </a:tc>
                <a:extLst>
                  <a:ext uri="{0D108BD9-81ED-4DB2-BD59-A6C34878D82A}">
                    <a16:rowId xmlns:a16="http://schemas.microsoft.com/office/drawing/2014/main" val="10000"/>
                  </a:ext>
                </a:extLst>
              </a:tr>
              <a:tr h="609208">
                <a:tc>
                  <a:txBody>
                    <a:bodyPr/>
                    <a:lstStyle/>
                    <a:p>
                      <a:pPr>
                        <a:spcAft>
                          <a:spcPts val="0"/>
                        </a:spcAft>
                      </a:pPr>
                      <a:endParaRPr lang="en-US" sz="1200">
                        <a:effectLst/>
                        <a:latin typeface="Arial"/>
                        <a:ea typeface="Times New Roman"/>
                        <a:cs typeface="Times New Roman"/>
                      </a:endParaRPr>
                    </a:p>
                  </a:txBody>
                  <a:tcPr marL="68166" marR="68166" marT="0" marB="0"/>
                </a:tc>
                <a:tc>
                  <a:txBody>
                    <a:bodyPr/>
                    <a:lstStyle/>
                    <a:p>
                      <a:pPr>
                        <a:spcAft>
                          <a:spcPts val="0"/>
                        </a:spcAft>
                      </a:pPr>
                      <a:r>
                        <a:rPr lang="de-DE" sz="1200" err="1">
                          <a:effectLst/>
                          <a:latin typeface="Arial"/>
                          <a:ea typeface="Times New Roman"/>
                          <a:cs typeface="Times New Roman"/>
                        </a:rPr>
                        <a:t>function</a:t>
                      </a:r>
                      <a:endParaRPr lang="en-US" sz="1200">
                        <a:effectLst/>
                        <a:latin typeface="Arial"/>
                        <a:ea typeface="Times New Roman"/>
                        <a:cs typeface="Times New Roman"/>
                      </a:endParaRPr>
                    </a:p>
                  </a:txBody>
                  <a:tcPr marL="68166" marR="68166" marT="0" marB="0" anchor="ctr"/>
                </a:tc>
                <a:extLst>
                  <a:ext uri="{0D108BD9-81ED-4DB2-BD59-A6C34878D82A}">
                    <a16:rowId xmlns:a16="http://schemas.microsoft.com/office/drawing/2014/main" val="10001"/>
                  </a:ext>
                </a:extLst>
              </a:tr>
              <a:tr h="432048">
                <a:tc>
                  <a:txBody>
                    <a:bodyPr/>
                    <a:lstStyle/>
                    <a:p>
                      <a:pPr>
                        <a:spcAft>
                          <a:spcPts val="0"/>
                        </a:spcAft>
                      </a:pPr>
                      <a:endParaRPr lang="en-US" sz="1200">
                        <a:effectLst/>
                        <a:latin typeface="Arial"/>
                        <a:ea typeface="Times New Roman"/>
                        <a:cs typeface="Times New Roman"/>
                      </a:endParaRPr>
                    </a:p>
                  </a:txBody>
                  <a:tcPr marL="68166" marR="68166" marT="0" marB="0"/>
                </a:tc>
                <a:tc>
                  <a:txBody>
                    <a:bodyPr/>
                    <a:lstStyle/>
                    <a:p>
                      <a:pPr>
                        <a:spcAft>
                          <a:spcPts val="0"/>
                        </a:spcAft>
                      </a:pPr>
                      <a:r>
                        <a:rPr lang="de-DE" sz="1200" err="1">
                          <a:effectLst/>
                          <a:latin typeface="Arial"/>
                          <a:ea typeface="Times New Roman"/>
                          <a:cs typeface="Times New Roman"/>
                        </a:rPr>
                        <a:t>interrelation</a:t>
                      </a:r>
                      <a:r>
                        <a:rPr lang="de-DE" sz="1200">
                          <a:effectLst/>
                          <a:latin typeface="Arial"/>
                          <a:ea typeface="Times New Roman"/>
                          <a:cs typeface="Times New Roman"/>
                        </a:rPr>
                        <a:t> (</a:t>
                      </a:r>
                      <a:r>
                        <a:rPr lang="de-DE" sz="1200" err="1">
                          <a:effectLst/>
                          <a:latin typeface="Arial"/>
                          <a:ea typeface="Times New Roman"/>
                          <a:cs typeface="Times New Roman"/>
                        </a:rPr>
                        <a:t>exchanged</a:t>
                      </a:r>
                      <a:r>
                        <a:rPr lang="de-DE" sz="1200">
                          <a:effectLst/>
                          <a:latin typeface="Arial"/>
                          <a:ea typeface="Times New Roman"/>
                          <a:cs typeface="Times New Roman"/>
                        </a:rPr>
                        <a:t> </a:t>
                      </a:r>
                      <a:r>
                        <a:rPr lang="de-DE" sz="1200" err="1">
                          <a:effectLst/>
                          <a:latin typeface="Arial"/>
                          <a:ea typeface="Times New Roman"/>
                          <a:cs typeface="Times New Roman"/>
                        </a:rPr>
                        <a:t>information</a:t>
                      </a:r>
                      <a:r>
                        <a:rPr lang="de-DE" sz="1200">
                          <a:effectLst/>
                          <a:latin typeface="Arial"/>
                          <a:ea typeface="Times New Roman"/>
                          <a:cs typeface="Times New Roman"/>
                        </a:rPr>
                        <a:t>)</a:t>
                      </a:r>
                      <a:endParaRPr lang="en-US" sz="1200">
                        <a:effectLst/>
                        <a:latin typeface="Arial"/>
                        <a:ea typeface="Times New Roman"/>
                        <a:cs typeface="Times New Roman"/>
                      </a:endParaRPr>
                    </a:p>
                  </a:txBody>
                  <a:tcPr marL="68166" marR="68166" marT="0" marB="0" anchor="ctr"/>
                </a:tc>
                <a:extLst>
                  <a:ext uri="{0D108BD9-81ED-4DB2-BD59-A6C34878D82A}">
                    <a16:rowId xmlns:a16="http://schemas.microsoft.com/office/drawing/2014/main" val="10002"/>
                  </a:ext>
                </a:extLst>
              </a:tr>
            </a:tbl>
          </a:graphicData>
        </a:graphic>
      </p:graphicFrame>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0688" y="1331641"/>
            <a:ext cx="762000" cy="447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938" y="2051723"/>
            <a:ext cx="571500" cy="28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15898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pPr algn="l"/>
            <a:r>
              <a:rPr lang="de-DE"/>
              <a:t>Layer C: Information</a:t>
            </a:r>
          </a:p>
        </p:txBody>
      </p:sp>
      <p:graphicFrame>
        <p:nvGraphicFramePr>
          <p:cNvPr id="5" name="Tabelle 4"/>
          <p:cNvGraphicFramePr>
            <a:graphicFrameLocks noGrp="1"/>
          </p:cNvGraphicFramePr>
          <p:nvPr/>
        </p:nvGraphicFramePr>
        <p:xfrm>
          <a:off x="332657" y="2123728"/>
          <a:ext cx="4824535" cy="4824534"/>
        </p:xfrm>
        <a:graphic>
          <a:graphicData uri="http://schemas.openxmlformats.org/drawingml/2006/table">
            <a:tbl>
              <a:tblPr firstRow="1" bandRow="1">
                <a:tableStyleId>{5940675A-B579-460E-94D1-54222C63F5DA}</a:tableStyleId>
              </a:tblPr>
              <a:tblGrid>
                <a:gridCol w="964907">
                  <a:extLst>
                    <a:ext uri="{9D8B030D-6E8A-4147-A177-3AD203B41FA5}">
                      <a16:colId xmlns:a16="http://schemas.microsoft.com/office/drawing/2014/main" val="20000"/>
                    </a:ext>
                  </a:extLst>
                </a:gridCol>
                <a:gridCol w="964907">
                  <a:extLst>
                    <a:ext uri="{9D8B030D-6E8A-4147-A177-3AD203B41FA5}">
                      <a16:colId xmlns:a16="http://schemas.microsoft.com/office/drawing/2014/main" val="20001"/>
                    </a:ext>
                  </a:extLst>
                </a:gridCol>
                <a:gridCol w="964907">
                  <a:extLst>
                    <a:ext uri="{9D8B030D-6E8A-4147-A177-3AD203B41FA5}">
                      <a16:colId xmlns:a16="http://schemas.microsoft.com/office/drawing/2014/main" val="20002"/>
                    </a:ext>
                  </a:extLst>
                </a:gridCol>
                <a:gridCol w="964907">
                  <a:extLst>
                    <a:ext uri="{9D8B030D-6E8A-4147-A177-3AD203B41FA5}">
                      <a16:colId xmlns:a16="http://schemas.microsoft.com/office/drawing/2014/main" val="20003"/>
                    </a:ext>
                  </a:extLst>
                </a:gridCol>
                <a:gridCol w="964907">
                  <a:extLst>
                    <a:ext uri="{9D8B030D-6E8A-4147-A177-3AD203B41FA5}">
                      <a16:colId xmlns:a16="http://schemas.microsoft.com/office/drawing/2014/main" val="20004"/>
                    </a:ext>
                  </a:extLst>
                </a:gridCol>
              </a:tblGrid>
              <a:tr h="804089">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804089">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804089">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804089">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804089">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804089">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6"/>
                      </a:solidFill>
                      <a:prstDash val="solid"/>
                      <a:round/>
                      <a:headEnd type="none" w="med" len="med"/>
                      <a:tailEnd type="none" w="med" len="med"/>
                    </a:lnL>
                    <a:lnR w="38100" cap="flat" cmpd="sng" algn="ctr">
                      <a:solidFill>
                        <a:schemeClr val="accent6"/>
                      </a:solidFill>
                      <a:prstDash val="solid"/>
                      <a:round/>
                      <a:headEnd type="none" w="med" len="med"/>
                      <a:tailEnd type="none" w="med" len="med"/>
                    </a:lnR>
                    <a:lnT w="38100" cap="flat" cmpd="sng" algn="ctr">
                      <a:solidFill>
                        <a:schemeClr val="accent6"/>
                      </a:solidFill>
                      <a:prstDash val="solid"/>
                      <a:round/>
                      <a:headEnd type="none" w="med" len="med"/>
                      <a:tailEnd type="none" w="med" len="med"/>
                    </a:lnT>
                    <a:lnB w="381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6" name="Textfeld 5"/>
          <p:cNvSpPr txBox="1">
            <a:spLocks/>
          </p:cNvSpPr>
          <p:nvPr/>
        </p:nvSpPr>
        <p:spPr>
          <a:xfrm rot="2700000">
            <a:off x="310511" y="7777803"/>
            <a:ext cx="1260000" cy="322160"/>
          </a:xfrm>
          <a:prstGeom prst="rect">
            <a:avLst/>
          </a:prstGeom>
          <a:noFill/>
        </p:spPr>
        <p:txBody>
          <a:bodyPr wrap="square" lIns="105684" tIns="52842" rIns="105684" bIns="52842" rtlCol="0">
            <a:spAutoFit/>
          </a:bodyPr>
          <a:lstStyle/>
          <a:p>
            <a:r>
              <a:rPr lang="de-DE" sz="1400">
                <a:solidFill>
                  <a:prstClr val="black"/>
                </a:solidFill>
              </a:rPr>
              <a:t>Generation</a:t>
            </a:r>
          </a:p>
        </p:txBody>
      </p:sp>
      <p:sp>
        <p:nvSpPr>
          <p:cNvPr id="7" name="Textfeld 6"/>
          <p:cNvSpPr txBox="1">
            <a:spLocks/>
          </p:cNvSpPr>
          <p:nvPr/>
        </p:nvSpPr>
        <p:spPr>
          <a:xfrm rot="2700000">
            <a:off x="1199362" y="7777803"/>
            <a:ext cx="1260000" cy="322160"/>
          </a:xfrm>
          <a:prstGeom prst="rect">
            <a:avLst/>
          </a:prstGeom>
          <a:noFill/>
        </p:spPr>
        <p:txBody>
          <a:bodyPr wrap="square" lIns="105684" tIns="52842" rIns="105684" bIns="52842" rtlCol="0">
            <a:spAutoFit/>
          </a:bodyPr>
          <a:lstStyle/>
          <a:p>
            <a:r>
              <a:rPr lang="de-DE" sz="1400">
                <a:solidFill>
                  <a:prstClr val="black"/>
                </a:solidFill>
              </a:rPr>
              <a:t>Transmission</a:t>
            </a:r>
          </a:p>
        </p:txBody>
      </p:sp>
      <p:sp>
        <p:nvSpPr>
          <p:cNvPr id="8" name="Textfeld 7"/>
          <p:cNvSpPr txBox="1">
            <a:spLocks/>
          </p:cNvSpPr>
          <p:nvPr/>
        </p:nvSpPr>
        <p:spPr>
          <a:xfrm rot="2700000">
            <a:off x="2307090" y="7777802"/>
            <a:ext cx="1260000" cy="322160"/>
          </a:xfrm>
          <a:prstGeom prst="rect">
            <a:avLst/>
          </a:prstGeom>
          <a:noFill/>
        </p:spPr>
        <p:txBody>
          <a:bodyPr wrap="square" lIns="105684" tIns="52842" rIns="105684" bIns="52842" rtlCol="0">
            <a:spAutoFit/>
          </a:bodyPr>
          <a:lstStyle/>
          <a:p>
            <a:r>
              <a:rPr lang="de-DE" sz="1400" b="1">
                <a:solidFill>
                  <a:prstClr val="black"/>
                </a:solidFill>
              </a:rPr>
              <a:t>Distribution</a:t>
            </a:r>
          </a:p>
        </p:txBody>
      </p:sp>
      <p:sp>
        <p:nvSpPr>
          <p:cNvPr id="9" name="Textfeld 8"/>
          <p:cNvSpPr txBox="1">
            <a:spLocks/>
          </p:cNvSpPr>
          <p:nvPr/>
        </p:nvSpPr>
        <p:spPr>
          <a:xfrm rot="2700000">
            <a:off x="3392647" y="7695879"/>
            <a:ext cx="1026000" cy="322160"/>
          </a:xfrm>
          <a:prstGeom prst="rect">
            <a:avLst/>
          </a:prstGeom>
          <a:noFill/>
        </p:spPr>
        <p:txBody>
          <a:bodyPr wrap="square" lIns="105684" tIns="52842" rIns="105684" bIns="52842" rtlCol="0">
            <a:spAutoFit/>
          </a:bodyPr>
          <a:lstStyle/>
          <a:p>
            <a:r>
              <a:rPr lang="de-DE" sz="1400" b="1">
                <a:solidFill>
                  <a:prstClr val="black"/>
                </a:solidFill>
              </a:rPr>
              <a:t>DER</a:t>
            </a:r>
          </a:p>
        </p:txBody>
      </p:sp>
      <p:sp>
        <p:nvSpPr>
          <p:cNvPr id="10" name="Textfeld 9"/>
          <p:cNvSpPr txBox="1">
            <a:spLocks/>
          </p:cNvSpPr>
          <p:nvPr/>
        </p:nvSpPr>
        <p:spPr>
          <a:xfrm rot="2700000">
            <a:off x="4357490" y="7666174"/>
            <a:ext cx="1026000" cy="537603"/>
          </a:xfrm>
          <a:prstGeom prst="rect">
            <a:avLst/>
          </a:prstGeom>
          <a:noFill/>
        </p:spPr>
        <p:txBody>
          <a:bodyPr wrap="square" lIns="105684" tIns="52842" rIns="105684" bIns="52842" rtlCol="0">
            <a:spAutoFit/>
          </a:bodyPr>
          <a:lstStyle/>
          <a:p>
            <a:r>
              <a:rPr lang="de-DE" sz="1400" b="1">
                <a:solidFill>
                  <a:prstClr val="black"/>
                </a:solidFill>
              </a:rPr>
              <a:t>Customer </a:t>
            </a:r>
            <a:r>
              <a:rPr lang="de-DE" sz="1400" b="1" err="1">
                <a:solidFill>
                  <a:prstClr val="black"/>
                </a:solidFill>
              </a:rPr>
              <a:t>Premise</a:t>
            </a:r>
            <a:endParaRPr lang="de-DE" sz="1400" b="1">
              <a:solidFill>
                <a:prstClr val="black"/>
              </a:solidFill>
            </a:endParaRPr>
          </a:p>
        </p:txBody>
      </p:sp>
      <p:graphicFrame>
        <p:nvGraphicFramePr>
          <p:cNvPr id="13" name="Tabelle 12"/>
          <p:cNvGraphicFramePr>
            <a:graphicFrameLocks noGrp="1"/>
          </p:cNvGraphicFramePr>
          <p:nvPr/>
        </p:nvGraphicFramePr>
        <p:xfrm>
          <a:off x="5517232" y="2123729"/>
          <a:ext cx="1080120" cy="4821766"/>
        </p:xfrm>
        <a:graphic>
          <a:graphicData uri="http://schemas.openxmlformats.org/drawingml/2006/table">
            <a:tbl>
              <a:tblPr firstRow="1" bandRow="1">
                <a:tableStyleId>{2D5ABB26-0587-4C30-8999-92F81FD0307C}</a:tableStyleId>
              </a:tblPr>
              <a:tblGrid>
                <a:gridCol w="1080120">
                  <a:extLst>
                    <a:ext uri="{9D8B030D-6E8A-4147-A177-3AD203B41FA5}">
                      <a16:colId xmlns:a16="http://schemas.microsoft.com/office/drawing/2014/main" val="20000"/>
                    </a:ext>
                  </a:extLst>
                </a:gridCol>
              </a:tblGrid>
              <a:tr h="792088">
                <a:tc>
                  <a:txBody>
                    <a:bodyPr/>
                    <a:lstStyle/>
                    <a:p>
                      <a:r>
                        <a:rPr lang="de-DE" sz="1400"/>
                        <a:t>Market</a:t>
                      </a:r>
                    </a:p>
                  </a:txBody>
                  <a:tcPr marL="103680" marR="103680" marT="54261" marB="54261" anchor="ctr"/>
                </a:tc>
                <a:extLst>
                  <a:ext uri="{0D108BD9-81ED-4DB2-BD59-A6C34878D82A}">
                    <a16:rowId xmlns:a16="http://schemas.microsoft.com/office/drawing/2014/main" val="10000"/>
                  </a:ext>
                </a:extLst>
              </a:tr>
              <a:tr h="792088">
                <a:tc>
                  <a:txBody>
                    <a:bodyPr/>
                    <a:lstStyle/>
                    <a:p>
                      <a:r>
                        <a:rPr lang="de-DE" sz="1400"/>
                        <a:t>Enterprise</a:t>
                      </a:r>
                    </a:p>
                  </a:txBody>
                  <a:tcPr marL="103680" marR="103680" marT="54261" marB="54261" anchor="ctr"/>
                </a:tc>
                <a:extLst>
                  <a:ext uri="{0D108BD9-81ED-4DB2-BD59-A6C34878D82A}">
                    <a16:rowId xmlns:a16="http://schemas.microsoft.com/office/drawing/2014/main" val="10001"/>
                  </a:ext>
                </a:extLst>
              </a:tr>
              <a:tr h="792088">
                <a:tc>
                  <a:txBody>
                    <a:bodyPr/>
                    <a:lstStyle/>
                    <a:p>
                      <a:r>
                        <a:rPr lang="de-DE" sz="1400"/>
                        <a:t>Operation</a:t>
                      </a:r>
                    </a:p>
                  </a:txBody>
                  <a:tcPr marL="103680" marR="103680" marT="54261" marB="54261" anchor="ctr"/>
                </a:tc>
                <a:extLst>
                  <a:ext uri="{0D108BD9-81ED-4DB2-BD59-A6C34878D82A}">
                    <a16:rowId xmlns:a16="http://schemas.microsoft.com/office/drawing/2014/main" val="10002"/>
                  </a:ext>
                </a:extLst>
              </a:tr>
              <a:tr h="792088">
                <a:tc>
                  <a:txBody>
                    <a:bodyPr/>
                    <a:lstStyle/>
                    <a:p>
                      <a:r>
                        <a:rPr lang="de-DE" sz="1400"/>
                        <a:t>Station</a:t>
                      </a:r>
                    </a:p>
                  </a:txBody>
                  <a:tcPr marL="103680" marR="103680" marT="54261" marB="54261" anchor="ctr"/>
                </a:tc>
                <a:extLst>
                  <a:ext uri="{0D108BD9-81ED-4DB2-BD59-A6C34878D82A}">
                    <a16:rowId xmlns:a16="http://schemas.microsoft.com/office/drawing/2014/main" val="10003"/>
                  </a:ext>
                </a:extLst>
              </a:tr>
              <a:tr h="864096">
                <a:tc>
                  <a:txBody>
                    <a:bodyPr/>
                    <a:lstStyle/>
                    <a:p>
                      <a:r>
                        <a:rPr lang="de-DE" sz="1400"/>
                        <a:t>Field</a:t>
                      </a:r>
                    </a:p>
                  </a:txBody>
                  <a:tcPr marL="103680" marR="103680" marT="54261" marB="54261" anchor="ctr"/>
                </a:tc>
                <a:extLst>
                  <a:ext uri="{0D108BD9-81ED-4DB2-BD59-A6C34878D82A}">
                    <a16:rowId xmlns:a16="http://schemas.microsoft.com/office/drawing/2014/main" val="10004"/>
                  </a:ext>
                </a:extLst>
              </a:tr>
              <a:tr h="789318">
                <a:tc>
                  <a:txBody>
                    <a:bodyPr/>
                    <a:lstStyle/>
                    <a:p>
                      <a:r>
                        <a:rPr lang="de-DE" sz="1400" err="1"/>
                        <a:t>Process</a:t>
                      </a:r>
                      <a:endParaRPr lang="de-DE" sz="1400"/>
                    </a:p>
                  </a:txBody>
                  <a:tcPr marL="103680" marR="103680" marT="54261" marB="54261" anchor="ctr"/>
                </a:tc>
                <a:extLst>
                  <a:ext uri="{0D108BD9-81ED-4DB2-BD59-A6C34878D82A}">
                    <a16:rowId xmlns:a16="http://schemas.microsoft.com/office/drawing/2014/main" val="10005"/>
                  </a:ext>
                </a:extLst>
              </a:tr>
            </a:tbl>
          </a:graphicData>
        </a:graphic>
      </p:graphicFrame>
      <p:graphicFrame>
        <p:nvGraphicFramePr>
          <p:cNvPr id="14" name="Tabelle 13"/>
          <p:cNvGraphicFramePr>
            <a:graphicFrameLocks noGrp="1"/>
          </p:cNvGraphicFramePr>
          <p:nvPr/>
        </p:nvGraphicFramePr>
        <p:xfrm>
          <a:off x="332657" y="7020273"/>
          <a:ext cx="4824535" cy="384071"/>
        </p:xfrm>
        <a:graphic>
          <a:graphicData uri="http://schemas.openxmlformats.org/drawingml/2006/table">
            <a:tbl>
              <a:tblPr firstRow="1" bandRow="1">
                <a:tableStyleId>{2D5ABB26-0587-4C30-8999-92F81FD0307C}</a:tableStyleId>
              </a:tblPr>
              <a:tblGrid>
                <a:gridCol w="964907">
                  <a:extLst>
                    <a:ext uri="{9D8B030D-6E8A-4147-A177-3AD203B41FA5}">
                      <a16:colId xmlns:a16="http://schemas.microsoft.com/office/drawing/2014/main" val="20000"/>
                    </a:ext>
                  </a:extLst>
                </a:gridCol>
                <a:gridCol w="964907">
                  <a:extLst>
                    <a:ext uri="{9D8B030D-6E8A-4147-A177-3AD203B41FA5}">
                      <a16:colId xmlns:a16="http://schemas.microsoft.com/office/drawing/2014/main" val="20001"/>
                    </a:ext>
                  </a:extLst>
                </a:gridCol>
                <a:gridCol w="964907">
                  <a:extLst>
                    <a:ext uri="{9D8B030D-6E8A-4147-A177-3AD203B41FA5}">
                      <a16:colId xmlns:a16="http://schemas.microsoft.com/office/drawing/2014/main" val="20002"/>
                    </a:ext>
                  </a:extLst>
                </a:gridCol>
                <a:gridCol w="964907">
                  <a:extLst>
                    <a:ext uri="{9D8B030D-6E8A-4147-A177-3AD203B41FA5}">
                      <a16:colId xmlns:a16="http://schemas.microsoft.com/office/drawing/2014/main" val="20003"/>
                    </a:ext>
                  </a:extLst>
                </a:gridCol>
                <a:gridCol w="964907">
                  <a:extLst>
                    <a:ext uri="{9D8B030D-6E8A-4147-A177-3AD203B41FA5}">
                      <a16:colId xmlns:a16="http://schemas.microsoft.com/office/drawing/2014/main" val="20004"/>
                    </a:ext>
                  </a:extLst>
                </a:gridCol>
              </a:tblGrid>
              <a:tr h="384071">
                <a:tc>
                  <a:txBody>
                    <a:bodyPr/>
                    <a:lstStyle/>
                    <a:p>
                      <a:pPr algn="ctr"/>
                      <a:r>
                        <a:rPr lang="de-DE" sz="1400"/>
                        <a:t>1</a:t>
                      </a:r>
                    </a:p>
                  </a:txBody>
                  <a:tcPr marL="103680" marR="103680" marT="54261" marB="54261" anchor="ctr"/>
                </a:tc>
                <a:tc>
                  <a:txBody>
                    <a:bodyPr/>
                    <a:lstStyle/>
                    <a:p>
                      <a:pPr algn="ctr"/>
                      <a:r>
                        <a:rPr lang="de-DE" sz="1400"/>
                        <a:t>2</a:t>
                      </a:r>
                    </a:p>
                  </a:txBody>
                  <a:tcPr marL="103680" marR="103680" marT="54261" marB="54261" anchor="ctr"/>
                </a:tc>
                <a:tc>
                  <a:txBody>
                    <a:bodyPr/>
                    <a:lstStyle/>
                    <a:p>
                      <a:pPr algn="ctr"/>
                      <a:r>
                        <a:rPr lang="de-DE" sz="1400"/>
                        <a:t>3</a:t>
                      </a:r>
                    </a:p>
                  </a:txBody>
                  <a:tcPr marL="103680" marR="103680" marT="54261" marB="54261" anchor="ctr"/>
                </a:tc>
                <a:tc>
                  <a:txBody>
                    <a:bodyPr/>
                    <a:lstStyle/>
                    <a:p>
                      <a:pPr algn="ctr"/>
                      <a:r>
                        <a:rPr lang="de-DE" sz="1400"/>
                        <a:t>4</a:t>
                      </a:r>
                    </a:p>
                  </a:txBody>
                  <a:tcPr marL="103680" marR="103680" marT="54261" marB="54261" anchor="ctr"/>
                </a:tc>
                <a:tc>
                  <a:txBody>
                    <a:bodyPr/>
                    <a:lstStyle/>
                    <a:p>
                      <a:pPr algn="ctr"/>
                      <a:r>
                        <a:rPr lang="de-DE" sz="1400"/>
                        <a:t>5</a:t>
                      </a:r>
                    </a:p>
                  </a:txBody>
                  <a:tcPr marL="103680" marR="103680" marT="54261" marB="54261" anchor="ctr"/>
                </a:tc>
                <a:extLst>
                  <a:ext uri="{0D108BD9-81ED-4DB2-BD59-A6C34878D82A}">
                    <a16:rowId xmlns:a16="http://schemas.microsoft.com/office/drawing/2014/main" val="10000"/>
                  </a:ext>
                </a:extLst>
              </a:tr>
            </a:tbl>
          </a:graphicData>
        </a:graphic>
      </p:graphicFrame>
      <p:graphicFrame>
        <p:nvGraphicFramePr>
          <p:cNvPr id="15" name="Tabelle 14"/>
          <p:cNvGraphicFramePr>
            <a:graphicFrameLocks noGrp="1"/>
          </p:cNvGraphicFramePr>
          <p:nvPr/>
        </p:nvGraphicFramePr>
        <p:xfrm>
          <a:off x="5157193" y="2123729"/>
          <a:ext cx="337535" cy="4821766"/>
        </p:xfrm>
        <a:graphic>
          <a:graphicData uri="http://schemas.openxmlformats.org/drawingml/2006/table">
            <a:tbl>
              <a:tblPr firstRow="1" bandRow="1">
                <a:tableStyleId>{2D5ABB26-0587-4C30-8999-92F81FD0307C}</a:tableStyleId>
              </a:tblPr>
              <a:tblGrid>
                <a:gridCol w="337535">
                  <a:extLst>
                    <a:ext uri="{9D8B030D-6E8A-4147-A177-3AD203B41FA5}">
                      <a16:colId xmlns:a16="http://schemas.microsoft.com/office/drawing/2014/main" val="20000"/>
                    </a:ext>
                  </a:extLst>
                </a:gridCol>
              </a:tblGrid>
              <a:tr h="792088">
                <a:tc>
                  <a:txBody>
                    <a:bodyPr/>
                    <a:lstStyle/>
                    <a:p>
                      <a:r>
                        <a:rPr lang="de-DE" sz="1400"/>
                        <a:t>f</a:t>
                      </a:r>
                    </a:p>
                  </a:txBody>
                  <a:tcPr marL="103680" marR="103680" marT="54261" marB="54261" anchor="ctr"/>
                </a:tc>
                <a:extLst>
                  <a:ext uri="{0D108BD9-81ED-4DB2-BD59-A6C34878D82A}">
                    <a16:rowId xmlns:a16="http://schemas.microsoft.com/office/drawing/2014/main" val="10000"/>
                  </a:ext>
                </a:extLst>
              </a:tr>
              <a:tr h="792088">
                <a:tc>
                  <a:txBody>
                    <a:bodyPr/>
                    <a:lstStyle/>
                    <a:p>
                      <a:r>
                        <a:rPr lang="de-DE" sz="1400"/>
                        <a:t>e</a:t>
                      </a:r>
                    </a:p>
                  </a:txBody>
                  <a:tcPr marL="103680" marR="103680" marT="54261" marB="54261" anchor="ctr"/>
                </a:tc>
                <a:extLst>
                  <a:ext uri="{0D108BD9-81ED-4DB2-BD59-A6C34878D82A}">
                    <a16:rowId xmlns:a16="http://schemas.microsoft.com/office/drawing/2014/main" val="10001"/>
                  </a:ext>
                </a:extLst>
              </a:tr>
              <a:tr h="792088">
                <a:tc>
                  <a:txBody>
                    <a:bodyPr/>
                    <a:lstStyle/>
                    <a:p>
                      <a:r>
                        <a:rPr lang="de-DE" sz="1400"/>
                        <a:t>d</a:t>
                      </a:r>
                    </a:p>
                  </a:txBody>
                  <a:tcPr marL="103680" marR="103680" marT="54261" marB="54261" anchor="ctr"/>
                </a:tc>
                <a:extLst>
                  <a:ext uri="{0D108BD9-81ED-4DB2-BD59-A6C34878D82A}">
                    <a16:rowId xmlns:a16="http://schemas.microsoft.com/office/drawing/2014/main" val="10002"/>
                  </a:ext>
                </a:extLst>
              </a:tr>
              <a:tr h="792088">
                <a:tc>
                  <a:txBody>
                    <a:bodyPr/>
                    <a:lstStyle/>
                    <a:p>
                      <a:r>
                        <a:rPr lang="de-DE" sz="1400"/>
                        <a:t>c</a:t>
                      </a:r>
                    </a:p>
                  </a:txBody>
                  <a:tcPr marL="103680" marR="103680" marT="54261" marB="54261" anchor="ctr"/>
                </a:tc>
                <a:extLst>
                  <a:ext uri="{0D108BD9-81ED-4DB2-BD59-A6C34878D82A}">
                    <a16:rowId xmlns:a16="http://schemas.microsoft.com/office/drawing/2014/main" val="10003"/>
                  </a:ext>
                </a:extLst>
              </a:tr>
              <a:tr h="864096">
                <a:tc>
                  <a:txBody>
                    <a:bodyPr/>
                    <a:lstStyle/>
                    <a:p>
                      <a:r>
                        <a:rPr lang="de-DE" sz="1400"/>
                        <a:t>b</a:t>
                      </a:r>
                    </a:p>
                  </a:txBody>
                  <a:tcPr marL="103680" marR="103680" marT="54261" marB="54261" anchor="ctr"/>
                </a:tc>
                <a:extLst>
                  <a:ext uri="{0D108BD9-81ED-4DB2-BD59-A6C34878D82A}">
                    <a16:rowId xmlns:a16="http://schemas.microsoft.com/office/drawing/2014/main" val="10004"/>
                  </a:ext>
                </a:extLst>
              </a:tr>
              <a:tr h="789318">
                <a:tc>
                  <a:txBody>
                    <a:bodyPr/>
                    <a:lstStyle/>
                    <a:p>
                      <a:r>
                        <a:rPr lang="de-DE" sz="1400"/>
                        <a:t>a</a:t>
                      </a:r>
                    </a:p>
                  </a:txBody>
                  <a:tcPr marL="103680" marR="103680" marT="54261" marB="54261"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1609683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3"/>
          <p:cNvSpPr/>
          <p:nvPr/>
        </p:nvSpPr>
        <p:spPr>
          <a:xfrm>
            <a:off x="404664" y="395536"/>
            <a:ext cx="6048672" cy="369332"/>
          </a:xfrm>
          <a:prstGeom prst="rect">
            <a:avLst/>
          </a:prstGeom>
        </p:spPr>
        <p:txBody>
          <a:bodyPr wrap="square">
            <a:spAutoFit/>
          </a:bodyPr>
          <a:lstStyle/>
          <a:p>
            <a:pPr algn="just"/>
            <a:r>
              <a:rPr lang="de-DE" b="1">
                <a:solidFill>
                  <a:prstClr val="black"/>
                </a:solidFill>
              </a:rPr>
              <a:t>Legend Layer C:</a:t>
            </a:r>
            <a:endParaRPr lang="en-US">
              <a:solidFill>
                <a:prstClr val="black"/>
              </a:solidFill>
            </a:endParaRPr>
          </a:p>
        </p:txBody>
      </p:sp>
      <p:graphicFrame>
        <p:nvGraphicFramePr>
          <p:cNvPr id="3" name="Tabelle 2"/>
          <p:cNvGraphicFramePr>
            <a:graphicFrameLocks noGrp="1"/>
          </p:cNvGraphicFramePr>
          <p:nvPr/>
        </p:nvGraphicFramePr>
        <p:xfrm>
          <a:off x="281136" y="1043608"/>
          <a:ext cx="6172200" cy="1944216"/>
        </p:xfrm>
        <a:graphic>
          <a:graphicData uri="http://schemas.openxmlformats.org/drawingml/2006/table">
            <a:tbl>
              <a:tblPr firstRow="1" firstCol="1" bandRow="1">
                <a:tableStyleId>{5940675A-B579-460E-94D1-54222C63F5DA}</a:tableStyleId>
              </a:tblPr>
              <a:tblGrid>
                <a:gridCol w="1419672">
                  <a:extLst>
                    <a:ext uri="{9D8B030D-6E8A-4147-A177-3AD203B41FA5}">
                      <a16:colId xmlns:a16="http://schemas.microsoft.com/office/drawing/2014/main" val="20000"/>
                    </a:ext>
                  </a:extLst>
                </a:gridCol>
                <a:gridCol w="4752528">
                  <a:extLst>
                    <a:ext uri="{9D8B030D-6E8A-4147-A177-3AD203B41FA5}">
                      <a16:colId xmlns:a16="http://schemas.microsoft.com/office/drawing/2014/main" val="20001"/>
                    </a:ext>
                  </a:extLst>
                </a:gridCol>
              </a:tblGrid>
              <a:tr h="182880">
                <a:tc>
                  <a:txBody>
                    <a:bodyPr/>
                    <a:lstStyle/>
                    <a:p>
                      <a:pPr>
                        <a:spcAft>
                          <a:spcPts val="0"/>
                        </a:spcAft>
                      </a:pPr>
                      <a:r>
                        <a:rPr lang="en-US" sz="1200" b="1">
                          <a:effectLst/>
                        </a:rPr>
                        <a:t>Symbol</a:t>
                      </a:r>
                      <a:endParaRPr lang="en-US" sz="1200" b="1">
                        <a:effectLst/>
                        <a:latin typeface="Arial"/>
                        <a:ea typeface="Times New Roman"/>
                        <a:cs typeface="Times New Roman"/>
                      </a:endParaRPr>
                    </a:p>
                  </a:txBody>
                  <a:tcPr marL="68166" marR="68166" marT="0" marB="0"/>
                </a:tc>
                <a:tc>
                  <a:txBody>
                    <a:bodyPr/>
                    <a:lstStyle/>
                    <a:p>
                      <a:pPr>
                        <a:spcAft>
                          <a:spcPts val="0"/>
                        </a:spcAft>
                      </a:pPr>
                      <a:r>
                        <a:rPr lang="en-US" sz="1200" b="1">
                          <a:effectLst/>
                        </a:rPr>
                        <a:t>Description</a:t>
                      </a:r>
                      <a:endParaRPr lang="en-US" sz="1200" b="1">
                        <a:effectLst/>
                        <a:latin typeface="Arial"/>
                        <a:ea typeface="Times New Roman"/>
                        <a:cs typeface="Times New Roman"/>
                      </a:endParaRPr>
                    </a:p>
                  </a:txBody>
                  <a:tcPr marL="68166" marR="68166" marT="0" marB="0"/>
                </a:tc>
                <a:extLst>
                  <a:ext uri="{0D108BD9-81ED-4DB2-BD59-A6C34878D82A}">
                    <a16:rowId xmlns:a16="http://schemas.microsoft.com/office/drawing/2014/main" val="10000"/>
                  </a:ext>
                </a:extLst>
              </a:tr>
              <a:tr h="609208">
                <a:tc>
                  <a:txBody>
                    <a:bodyPr/>
                    <a:lstStyle/>
                    <a:p>
                      <a:pPr>
                        <a:spcAft>
                          <a:spcPts val="0"/>
                        </a:spcAft>
                      </a:pPr>
                      <a:endParaRPr lang="en-US" sz="1200">
                        <a:effectLst/>
                        <a:latin typeface="Arial"/>
                        <a:ea typeface="Times New Roman"/>
                        <a:cs typeface="Times New Roman"/>
                      </a:endParaRPr>
                    </a:p>
                  </a:txBody>
                  <a:tcPr marL="68166" marR="68166" marT="0" marB="0"/>
                </a:tc>
                <a:tc>
                  <a:txBody>
                    <a:bodyPr/>
                    <a:lstStyle/>
                    <a:p>
                      <a:pPr>
                        <a:spcAft>
                          <a:spcPts val="0"/>
                        </a:spcAft>
                      </a:pPr>
                      <a:r>
                        <a:rPr lang="de-DE" sz="1200" err="1">
                          <a:effectLst/>
                          <a:latin typeface="Arial"/>
                          <a:ea typeface="Times New Roman"/>
                          <a:cs typeface="Times New Roman"/>
                        </a:rPr>
                        <a:t>component</a:t>
                      </a:r>
                      <a:r>
                        <a:rPr lang="de-DE" sz="1200">
                          <a:effectLst/>
                          <a:latin typeface="Arial"/>
                          <a:ea typeface="Times New Roman"/>
                          <a:cs typeface="Times New Roman"/>
                        </a:rPr>
                        <a:t> (</a:t>
                      </a:r>
                      <a:r>
                        <a:rPr lang="de-DE" sz="1200" err="1">
                          <a:effectLst/>
                          <a:latin typeface="Arial"/>
                          <a:ea typeface="Times New Roman"/>
                          <a:cs typeface="Times New Roman"/>
                        </a:rPr>
                        <a:t>from</a:t>
                      </a:r>
                      <a:r>
                        <a:rPr lang="de-DE" sz="1200" baseline="0">
                          <a:effectLst/>
                          <a:latin typeface="Arial"/>
                          <a:ea typeface="Times New Roman"/>
                          <a:cs typeface="Times New Roman"/>
                        </a:rPr>
                        <a:t> </a:t>
                      </a:r>
                      <a:r>
                        <a:rPr lang="de-DE" sz="1200" baseline="0" err="1">
                          <a:effectLst/>
                          <a:latin typeface="Arial"/>
                          <a:ea typeface="Times New Roman"/>
                          <a:cs typeface="Times New Roman"/>
                        </a:rPr>
                        <a:t>Component</a:t>
                      </a:r>
                      <a:r>
                        <a:rPr lang="de-DE" sz="1200" baseline="0">
                          <a:effectLst/>
                          <a:latin typeface="Arial"/>
                          <a:ea typeface="Times New Roman"/>
                          <a:cs typeface="Times New Roman"/>
                        </a:rPr>
                        <a:t> Layer)</a:t>
                      </a:r>
                      <a:endParaRPr lang="en-US" sz="1200">
                        <a:effectLst/>
                        <a:latin typeface="Arial"/>
                        <a:ea typeface="Times New Roman"/>
                        <a:cs typeface="Times New Roman"/>
                      </a:endParaRPr>
                    </a:p>
                  </a:txBody>
                  <a:tcPr marL="68166" marR="68166" marT="0" marB="0" anchor="ctr"/>
                </a:tc>
                <a:extLst>
                  <a:ext uri="{0D108BD9-81ED-4DB2-BD59-A6C34878D82A}">
                    <a16:rowId xmlns:a16="http://schemas.microsoft.com/office/drawing/2014/main" val="10001"/>
                  </a:ext>
                </a:extLst>
              </a:tr>
              <a:tr h="576064">
                <a:tc>
                  <a:txBody>
                    <a:bodyPr/>
                    <a:lstStyle/>
                    <a:p>
                      <a:pPr>
                        <a:spcAft>
                          <a:spcPts val="0"/>
                        </a:spcAft>
                      </a:pPr>
                      <a:endParaRPr lang="en-US" sz="1200">
                        <a:effectLst/>
                        <a:latin typeface="Arial"/>
                        <a:ea typeface="Times New Roman"/>
                        <a:cs typeface="Times New Roman"/>
                      </a:endParaRPr>
                    </a:p>
                  </a:txBody>
                  <a:tcPr marL="68166" marR="68166" marT="0" marB="0"/>
                </a:tc>
                <a:tc>
                  <a:txBody>
                    <a:bodyPr/>
                    <a:lstStyle/>
                    <a:p>
                      <a:pPr>
                        <a:spcAft>
                          <a:spcPts val="0"/>
                        </a:spcAft>
                      </a:pPr>
                      <a:r>
                        <a:rPr lang="de-DE" sz="1200" err="1">
                          <a:effectLst/>
                          <a:latin typeface="Arial"/>
                          <a:ea typeface="Times New Roman"/>
                          <a:cs typeface="Times New Roman"/>
                        </a:rPr>
                        <a:t>exchanged</a:t>
                      </a:r>
                      <a:r>
                        <a:rPr lang="de-DE" sz="1200">
                          <a:effectLst/>
                          <a:latin typeface="Arial"/>
                          <a:ea typeface="Times New Roman"/>
                          <a:cs typeface="Times New Roman"/>
                        </a:rPr>
                        <a:t> </a:t>
                      </a:r>
                      <a:r>
                        <a:rPr lang="de-DE" sz="1200" err="1">
                          <a:effectLst/>
                          <a:latin typeface="Arial"/>
                          <a:ea typeface="Times New Roman"/>
                          <a:cs typeface="Times New Roman"/>
                        </a:rPr>
                        <a:t>information</a:t>
                      </a:r>
                      <a:r>
                        <a:rPr lang="de-DE" sz="1200">
                          <a:effectLst/>
                          <a:latin typeface="Arial"/>
                          <a:ea typeface="Times New Roman"/>
                          <a:cs typeface="Times New Roman"/>
                        </a:rPr>
                        <a:t> </a:t>
                      </a:r>
                      <a:r>
                        <a:rPr lang="de-DE" sz="1200" err="1">
                          <a:effectLst/>
                          <a:latin typeface="Arial"/>
                          <a:ea typeface="Times New Roman"/>
                          <a:cs typeface="Times New Roman"/>
                        </a:rPr>
                        <a:t>objects</a:t>
                      </a:r>
                      <a:endParaRPr lang="en-US" sz="1200">
                        <a:effectLst/>
                        <a:latin typeface="Arial"/>
                        <a:ea typeface="Times New Roman"/>
                        <a:cs typeface="Times New Roman"/>
                      </a:endParaRPr>
                    </a:p>
                  </a:txBody>
                  <a:tcPr marL="68166" marR="68166" marT="0" marB="0" anchor="ctr"/>
                </a:tc>
                <a:extLst>
                  <a:ext uri="{0D108BD9-81ED-4DB2-BD59-A6C34878D82A}">
                    <a16:rowId xmlns:a16="http://schemas.microsoft.com/office/drawing/2014/main" val="10002"/>
                  </a:ext>
                </a:extLst>
              </a:tr>
              <a:tr h="576064">
                <a:tc>
                  <a:txBody>
                    <a:bodyPr/>
                    <a:lstStyle/>
                    <a:p>
                      <a:pPr>
                        <a:spcAft>
                          <a:spcPts val="0"/>
                        </a:spcAft>
                      </a:pPr>
                      <a:endParaRPr lang="en-US" sz="1200">
                        <a:effectLst/>
                        <a:latin typeface="Arial"/>
                        <a:ea typeface="Times New Roman"/>
                        <a:cs typeface="Times New Roman"/>
                      </a:endParaRPr>
                    </a:p>
                  </a:txBody>
                  <a:tcPr marL="68166" marR="68166" marT="0" marB="0"/>
                </a:tc>
                <a:tc>
                  <a:txBody>
                    <a:bodyPr/>
                    <a:lstStyle/>
                    <a:p>
                      <a:pPr>
                        <a:spcAft>
                          <a:spcPts val="0"/>
                        </a:spcAft>
                      </a:pPr>
                      <a:r>
                        <a:rPr lang="de-DE" sz="1200" err="1">
                          <a:effectLst/>
                          <a:latin typeface="Arial"/>
                          <a:ea typeface="Times New Roman"/>
                          <a:cs typeface="Times New Roman"/>
                        </a:rPr>
                        <a:t>canonical</a:t>
                      </a:r>
                      <a:r>
                        <a:rPr lang="de-DE" sz="1200">
                          <a:effectLst/>
                          <a:latin typeface="Arial"/>
                          <a:ea typeface="Times New Roman"/>
                          <a:cs typeface="Times New Roman"/>
                        </a:rPr>
                        <a:t> </a:t>
                      </a:r>
                      <a:r>
                        <a:rPr lang="de-DE" sz="1200" err="1">
                          <a:effectLst/>
                          <a:latin typeface="Arial"/>
                          <a:ea typeface="Times New Roman"/>
                          <a:cs typeface="Times New Roman"/>
                        </a:rPr>
                        <a:t>data</a:t>
                      </a:r>
                      <a:r>
                        <a:rPr lang="de-DE" sz="1200">
                          <a:effectLst/>
                          <a:latin typeface="Arial"/>
                          <a:ea typeface="Times New Roman"/>
                          <a:cs typeface="Times New Roman"/>
                        </a:rPr>
                        <a:t> </a:t>
                      </a:r>
                      <a:r>
                        <a:rPr lang="de-DE" sz="1200" err="1">
                          <a:effectLst/>
                          <a:latin typeface="Arial"/>
                          <a:ea typeface="Times New Roman"/>
                          <a:cs typeface="Times New Roman"/>
                        </a:rPr>
                        <a:t>model</a:t>
                      </a:r>
                      <a:r>
                        <a:rPr lang="de-DE" sz="1200">
                          <a:effectLst/>
                          <a:latin typeface="Arial"/>
                          <a:ea typeface="Times New Roman"/>
                          <a:cs typeface="Times New Roman"/>
                        </a:rPr>
                        <a:t> (</a:t>
                      </a:r>
                      <a:r>
                        <a:rPr lang="de-DE" sz="1200" err="1">
                          <a:effectLst/>
                          <a:latin typeface="Arial"/>
                          <a:ea typeface="Times New Roman"/>
                          <a:cs typeface="Times New Roman"/>
                        </a:rPr>
                        <a:t>standards</a:t>
                      </a:r>
                      <a:r>
                        <a:rPr lang="de-DE" sz="1200">
                          <a:effectLst/>
                          <a:latin typeface="Arial"/>
                          <a:ea typeface="Times New Roman"/>
                          <a:cs typeface="Times New Roman"/>
                        </a:rPr>
                        <a:t>) </a:t>
                      </a:r>
                      <a:endParaRPr lang="en-US" sz="1200">
                        <a:effectLst/>
                        <a:latin typeface="Arial"/>
                        <a:ea typeface="Times New Roman"/>
                        <a:cs typeface="Times New Roman"/>
                      </a:endParaRPr>
                    </a:p>
                  </a:txBody>
                  <a:tcPr marL="68166" marR="68166" marT="0" marB="0" anchor="ctr"/>
                </a:tc>
                <a:extLst>
                  <a:ext uri="{0D108BD9-81ED-4DB2-BD59-A6C34878D82A}">
                    <a16:rowId xmlns:a16="http://schemas.microsoft.com/office/drawing/2014/main" val="10003"/>
                  </a:ext>
                </a:extLst>
              </a:tr>
            </a:tbl>
          </a:graphicData>
        </a:graphic>
      </p:graphicFrame>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664" y="1331640"/>
            <a:ext cx="4953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4744" y="1331640"/>
            <a:ext cx="35242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123" y="1907704"/>
            <a:ext cx="733425"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6895" y="2483771"/>
            <a:ext cx="733425" cy="4429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82226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pPr algn="l"/>
            <a:r>
              <a:rPr lang="de-DE"/>
              <a:t>Layer B: Communication</a:t>
            </a:r>
          </a:p>
        </p:txBody>
      </p:sp>
      <p:graphicFrame>
        <p:nvGraphicFramePr>
          <p:cNvPr id="5" name="Tabelle 4"/>
          <p:cNvGraphicFramePr>
            <a:graphicFrameLocks noGrp="1"/>
          </p:cNvGraphicFramePr>
          <p:nvPr/>
        </p:nvGraphicFramePr>
        <p:xfrm>
          <a:off x="332657" y="2123728"/>
          <a:ext cx="4824535" cy="4824534"/>
        </p:xfrm>
        <a:graphic>
          <a:graphicData uri="http://schemas.openxmlformats.org/drawingml/2006/table">
            <a:tbl>
              <a:tblPr firstRow="1" bandRow="1">
                <a:tableStyleId>{5940675A-B579-460E-94D1-54222C63F5DA}</a:tableStyleId>
              </a:tblPr>
              <a:tblGrid>
                <a:gridCol w="964907">
                  <a:extLst>
                    <a:ext uri="{9D8B030D-6E8A-4147-A177-3AD203B41FA5}">
                      <a16:colId xmlns:a16="http://schemas.microsoft.com/office/drawing/2014/main" val="20000"/>
                    </a:ext>
                  </a:extLst>
                </a:gridCol>
                <a:gridCol w="964907">
                  <a:extLst>
                    <a:ext uri="{9D8B030D-6E8A-4147-A177-3AD203B41FA5}">
                      <a16:colId xmlns:a16="http://schemas.microsoft.com/office/drawing/2014/main" val="20001"/>
                    </a:ext>
                  </a:extLst>
                </a:gridCol>
                <a:gridCol w="964907">
                  <a:extLst>
                    <a:ext uri="{9D8B030D-6E8A-4147-A177-3AD203B41FA5}">
                      <a16:colId xmlns:a16="http://schemas.microsoft.com/office/drawing/2014/main" val="20002"/>
                    </a:ext>
                  </a:extLst>
                </a:gridCol>
                <a:gridCol w="964907">
                  <a:extLst>
                    <a:ext uri="{9D8B030D-6E8A-4147-A177-3AD203B41FA5}">
                      <a16:colId xmlns:a16="http://schemas.microsoft.com/office/drawing/2014/main" val="20003"/>
                    </a:ext>
                  </a:extLst>
                </a:gridCol>
                <a:gridCol w="964907">
                  <a:extLst>
                    <a:ext uri="{9D8B030D-6E8A-4147-A177-3AD203B41FA5}">
                      <a16:colId xmlns:a16="http://schemas.microsoft.com/office/drawing/2014/main" val="20004"/>
                    </a:ext>
                  </a:extLst>
                </a:gridCol>
              </a:tblGrid>
              <a:tr h="804089">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804089">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804089">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804089">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804089">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804089">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100"/>
                    </a:p>
                  </a:txBody>
                  <a:tcPr marL="103680" marR="103680" marT="54261" marB="54261">
                    <a:lnL w="38100" cap="flat" cmpd="sng" algn="ctr">
                      <a:solidFill>
                        <a:schemeClr val="accent3">
                          <a:lumMod val="50000"/>
                        </a:schemeClr>
                      </a:solidFill>
                      <a:prstDash val="solid"/>
                      <a:round/>
                      <a:headEnd type="none" w="med" len="med"/>
                      <a:tailEnd type="none" w="med" len="med"/>
                    </a:lnL>
                    <a:lnR w="38100" cap="flat" cmpd="sng" algn="ctr">
                      <a:solidFill>
                        <a:schemeClr val="accent3">
                          <a:lumMod val="50000"/>
                        </a:schemeClr>
                      </a:solidFill>
                      <a:prstDash val="solid"/>
                      <a:round/>
                      <a:headEnd type="none" w="med" len="med"/>
                      <a:tailEnd type="none" w="med" len="med"/>
                    </a:lnR>
                    <a:lnT w="38100" cap="flat" cmpd="sng" algn="ctr">
                      <a:solidFill>
                        <a:schemeClr val="accent3">
                          <a:lumMod val="50000"/>
                        </a:schemeClr>
                      </a:solidFill>
                      <a:prstDash val="solid"/>
                      <a:round/>
                      <a:headEnd type="none" w="med" len="med"/>
                      <a:tailEnd type="none" w="med" len="med"/>
                    </a:lnT>
                    <a:lnB w="381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6" name="Textfeld 5"/>
          <p:cNvSpPr txBox="1">
            <a:spLocks/>
          </p:cNvSpPr>
          <p:nvPr/>
        </p:nvSpPr>
        <p:spPr>
          <a:xfrm rot="2700000">
            <a:off x="310511" y="7777803"/>
            <a:ext cx="1260000" cy="322160"/>
          </a:xfrm>
          <a:prstGeom prst="rect">
            <a:avLst/>
          </a:prstGeom>
          <a:noFill/>
        </p:spPr>
        <p:txBody>
          <a:bodyPr wrap="square" lIns="105684" tIns="52842" rIns="105684" bIns="52842" rtlCol="0">
            <a:spAutoFit/>
          </a:bodyPr>
          <a:lstStyle/>
          <a:p>
            <a:r>
              <a:rPr lang="de-DE" sz="1400">
                <a:solidFill>
                  <a:prstClr val="black"/>
                </a:solidFill>
              </a:rPr>
              <a:t>Generation</a:t>
            </a:r>
          </a:p>
        </p:txBody>
      </p:sp>
      <p:sp>
        <p:nvSpPr>
          <p:cNvPr id="7" name="Textfeld 6"/>
          <p:cNvSpPr txBox="1">
            <a:spLocks/>
          </p:cNvSpPr>
          <p:nvPr/>
        </p:nvSpPr>
        <p:spPr>
          <a:xfrm rot="2700000">
            <a:off x="1199362" y="7777803"/>
            <a:ext cx="1260000" cy="322160"/>
          </a:xfrm>
          <a:prstGeom prst="rect">
            <a:avLst/>
          </a:prstGeom>
          <a:noFill/>
        </p:spPr>
        <p:txBody>
          <a:bodyPr wrap="square" lIns="105684" tIns="52842" rIns="105684" bIns="52842" rtlCol="0">
            <a:spAutoFit/>
          </a:bodyPr>
          <a:lstStyle/>
          <a:p>
            <a:r>
              <a:rPr lang="de-DE" sz="1400">
                <a:solidFill>
                  <a:prstClr val="black"/>
                </a:solidFill>
              </a:rPr>
              <a:t>Transmission</a:t>
            </a:r>
          </a:p>
        </p:txBody>
      </p:sp>
      <p:sp>
        <p:nvSpPr>
          <p:cNvPr id="8" name="Textfeld 7"/>
          <p:cNvSpPr txBox="1">
            <a:spLocks/>
          </p:cNvSpPr>
          <p:nvPr/>
        </p:nvSpPr>
        <p:spPr>
          <a:xfrm rot="2700000">
            <a:off x="2307090" y="7777802"/>
            <a:ext cx="1260000" cy="322160"/>
          </a:xfrm>
          <a:prstGeom prst="rect">
            <a:avLst/>
          </a:prstGeom>
          <a:noFill/>
        </p:spPr>
        <p:txBody>
          <a:bodyPr wrap="square" lIns="105684" tIns="52842" rIns="105684" bIns="52842" rtlCol="0">
            <a:spAutoFit/>
          </a:bodyPr>
          <a:lstStyle/>
          <a:p>
            <a:r>
              <a:rPr lang="de-DE" sz="1400" b="1">
                <a:solidFill>
                  <a:prstClr val="black"/>
                </a:solidFill>
              </a:rPr>
              <a:t>Distribution</a:t>
            </a:r>
          </a:p>
        </p:txBody>
      </p:sp>
      <p:sp>
        <p:nvSpPr>
          <p:cNvPr id="9" name="Textfeld 8"/>
          <p:cNvSpPr txBox="1">
            <a:spLocks/>
          </p:cNvSpPr>
          <p:nvPr/>
        </p:nvSpPr>
        <p:spPr>
          <a:xfrm rot="2700000">
            <a:off x="3392647" y="7695879"/>
            <a:ext cx="1026000" cy="322160"/>
          </a:xfrm>
          <a:prstGeom prst="rect">
            <a:avLst/>
          </a:prstGeom>
          <a:noFill/>
        </p:spPr>
        <p:txBody>
          <a:bodyPr wrap="square" lIns="105684" tIns="52842" rIns="105684" bIns="52842" rtlCol="0">
            <a:spAutoFit/>
          </a:bodyPr>
          <a:lstStyle/>
          <a:p>
            <a:r>
              <a:rPr lang="de-DE" sz="1400" b="1">
                <a:solidFill>
                  <a:prstClr val="black"/>
                </a:solidFill>
              </a:rPr>
              <a:t>DER</a:t>
            </a:r>
          </a:p>
        </p:txBody>
      </p:sp>
      <p:sp>
        <p:nvSpPr>
          <p:cNvPr id="10" name="Textfeld 9"/>
          <p:cNvSpPr txBox="1">
            <a:spLocks/>
          </p:cNvSpPr>
          <p:nvPr/>
        </p:nvSpPr>
        <p:spPr>
          <a:xfrm rot="2700000">
            <a:off x="4357490" y="7666174"/>
            <a:ext cx="1026000" cy="537603"/>
          </a:xfrm>
          <a:prstGeom prst="rect">
            <a:avLst/>
          </a:prstGeom>
          <a:noFill/>
        </p:spPr>
        <p:txBody>
          <a:bodyPr wrap="square" lIns="105684" tIns="52842" rIns="105684" bIns="52842" rtlCol="0">
            <a:spAutoFit/>
          </a:bodyPr>
          <a:lstStyle/>
          <a:p>
            <a:r>
              <a:rPr lang="de-DE" sz="1400" b="1">
                <a:solidFill>
                  <a:prstClr val="black"/>
                </a:solidFill>
              </a:rPr>
              <a:t>Customer </a:t>
            </a:r>
            <a:r>
              <a:rPr lang="de-DE" sz="1400" b="1" err="1">
                <a:solidFill>
                  <a:prstClr val="black"/>
                </a:solidFill>
              </a:rPr>
              <a:t>Premise</a:t>
            </a:r>
            <a:endParaRPr lang="de-DE" sz="1400" b="1">
              <a:solidFill>
                <a:prstClr val="black"/>
              </a:solidFill>
            </a:endParaRPr>
          </a:p>
        </p:txBody>
      </p:sp>
      <p:graphicFrame>
        <p:nvGraphicFramePr>
          <p:cNvPr id="13" name="Tabelle 12"/>
          <p:cNvGraphicFramePr>
            <a:graphicFrameLocks noGrp="1"/>
          </p:cNvGraphicFramePr>
          <p:nvPr/>
        </p:nvGraphicFramePr>
        <p:xfrm>
          <a:off x="5517232" y="2123729"/>
          <a:ext cx="1080120" cy="4821766"/>
        </p:xfrm>
        <a:graphic>
          <a:graphicData uri="http://schemas.openxmlformats.org/drawingml/2006/table">
            <a:tbl>
              <a:tblPr firstRow="1" bandRow="1">
                <a:tableStyleId>{2D5ABB26-0587-4C30-8999-92F81FD0307C}</a:tableStyleId>
              </a:tblPr>
              <a:tblGrid>
                <a:gridCol w="1080120">
                  <a:extLst>
                    <a:ext uri="{9D8B030D-6E8A-4147-A177-3AD203B41FA5}">
                      <a16:colId xmlns:a16="http://schemas.microsoft.com/office/drawing/2014/main" val="20000"/>
                    </a:ext>
                  </a:extLst>
                </a:gridCol>
              </a:tblGrid>
              <a:tr h="792088">
                <a:tc>
                  <a:txBody>
                    <a:bodyPr/>
                    <a:lstStyle/>
                    <a:p>
                      <a:r>
                        <a:rPr lang="de-DE" sz="1400"/>
                        <a:t>Market</a:t>
                      </a:r>
                    </a:p>
                  </a:txBody>
                  <a:tcPr marL="103680" marR="103680" marT="54261" marB="54261" anchor="ctr"/>
                </a:tc>
                <a:extLst>
                  <a:ext uri="{0D108BD9-81ED-4DB2-BD59-A6C34878D82A}">
                    <a16:rowId xmlns:a16="http://schemas.microsoft.com/office/drawing/2014/main" val="10000"/>
                  </a:ext>
                </a:extLst>
              </a:tr>
              <a:tr h="792088">
                <a:tc>
                  <a:txBody>
                    <a:bodyPr/>
                    <a:lstStyle/>
                    <a:p>
                      <a:r>
                        <a:rPr lang="de-DE" sz="1400"/>
                        <a:t>Enterprise</a:t>
                      </a:r>
                    </a:p>
                  </a:txBody>
                  <a:tcPr marL="103680" marR="103680" marT="54261" marB="54261" anchor="ctr"/>
                </a:tc>
                <a:extLst>
                  <a:ext uri="{0D108BD9-81ED-4DB2-BD59-A6C34878D82A}">
                    <a16:rowId xmlns:a16="http://schemas.microsoft.com/office/drawing/2014/main" val="10001"/>
                  </a:ext>
                </a:extLst>
              </a:tr>
              <a:tr h="792088">
                <a:tc>
                  <a:txBody>
                    <a:bodyPr/>
                    <a:lstStyle/>
                    <a:p>
                      <a:r>
                        <a:rPr lang="de-DE" sz="1400"/>
                        <a:t>Operation</a:t>
                      </a:r>
                    </a:p>
                  </a:txBody>
                  <a:tcPr marL="103680" marR="103680" marT="54261" marB="54261" anchor="ctr"/>
                </a:tc>
                <a:extLst>
                  <a:ext uri="{0D108BD9-81ED-4DB2-BD59-A6C34878D82A}">
                    <a16:rowId xmlns:a16="http://schemas.microsoft.com/office/drawing/2014/main" val="10002"/>
                  </a:ext>
                </a:extLst>
              </a:tr>
              <a:tr h="792088">
                <a:tc>
                  <a:txBody>
                    <a:bodyPr/>
                    <a:lstStyle/>
                    <a:p>
                      <a:r>
                        <a:rPr lang="de-DE" sz="1400"/>
                        <a:t>Station</a:t>
                      </a:r>
                    </a:p>
                  </a:txBody>
                  <a:tcPr marL="103680" marR="103680" marT="54261" marB="54261" anchor="ctr"/>
                </a:tc>
                <a:extLst>
                  <a:ext uri="{0D108BD9-81ED-4DB2-BD59-A6C34878D82A}">
                    <a16:rowId xmlns:a16="http://schemas.microsoft.com/office/drawing/2014/main" val="10003"/>
                  </a:ext>
                </a:extLst>
              </a:tr>
              <a:tr h="864096">
                <a:tc>
                  <a:txBody>
                    <a:bodyPr/>
                    <a:lstStyle/>
                    <a:p>
                      <a:r>
                        <a:rPr lang="de-DE" sz="1400"/>
                        <a:t>Field</a:t>
                      </a:r>
                    </a:p>
                  </a:txBody>
                  <a:tcPr marL="103680" marR="103680" marT="54261" marB="54261" anchor="ctr"/>
                </a:tc>
                <a:extLst>
                  <a:ext uri="{0D108BD9-81ED-4DB2-BD59-A6C34878D82A}">
                    <a16:rowId xmlns:a16="http://schemas.microsoft.com/office/drawing/2014/main" val="10004"/>
                  </a:ext>
                </a:extLst>
              </a:tr>
              <a:tr h="789318">
                <a:tc>
                  <a:txBody>
                    <a:bodyPr/>
                    <a:lstStyle/>
                    <a:p>
                      <a:r>
                        <a:rPr lang="de-DE" sz="1400" err="1"/>
                        <a:t>Process</a:t>
                      </a:r>
                      <a:endParaRPr lang="de-DE" sz="1400"/>
                    </a:p>
                  </a:txBody>
                  <a:tcPr marL="103680" marR="103680" marT="54261" marB="54261" anchor="ctr"/>
                </a:tc>
                <a:extLst>
                  <a:ext uri="{0D108BD9-81ED-4DB2-BD59-A6C34878D82A}">
                    <a16:rowId xmlns:a16="http://schemas.microsoft.com/office/drawing/2014/main" val="10005"/>
                  </a:ext>
                </a:extLst>
              </a:tr>
            </a:tbl>
          </a:graphicData>
        </a:graphic>
      </p:graphicFrame>
      <p:graphicFrame>
        <p:nvGraphicFramePr>
          <p:cNvPr id="14" name="Tabelle 13"/>
          <p:cNvGraphicFramePr>
            <a:graphicFrameLocks noGrp="1"/>
          </p:cNvGraphicFramePr>
          <p:nvPr/>
        </p:nvGraphicFramePr>
        <p:xfrm>
          <a:off x="332657" y="7020273"/>
          <a:ext cx="4824535" cy="384071"/>
        </p:xfrm>
        <a:graphic>
          <a:graphicData uri="http://schemas.openxmlformats.org/drawingml/2006/table">
            <a:tbl>
              <a:tblPr firstRow="1" bandRow="1">
                <a:tableStyleId>{2D5ABB26-0587-4C30-8999-92F81FD0307C}</a:tableStyleId>
              </a:tblPr>
              <a:tblGrid>
                <a:gridCol w="964907">
                  <a:extLst>
                    <a:ext uri="{9D8B030D-6E8A-4147-A177-3AD203B41FA5}">
                      <a16:colId xmlns:a16="http://schemas.microsoft.com/office/drawing/2014/main" val="20000"/>
                    </a:ext>
                  </a:extLst>
                </a:gridCol>
                <a:gridCol w="964907">
                  <a:extLst>
                    <a:ext uri="{9D8B030D-6E8A-4147-A177-3AD203B41FA5}">
                      <a16:colId xmlns:a16="http://schemas.microsoft.com/office/drawing/2014/main" val="20001"/>
                    </a:ext>
                  </a:extLst>
                </a:gridCol>
                <a:gridCol w="964907">
                  <a:extLst>
                    <a:ext uri="{9D8B030D-6E8A-4147-A177-3AD203B41FA5}">
                      <a16:colId xmlns:a16="http://schemas.microsoft.com/office/drawing/2014/main" val="20002"/>
                    </a:ext>
                  </a:extLst>
                </a:gridCol>
                <a:gridCol w="964907">
                  <a:extLst>
                    <a:ext uri="{9D8B030D-6E8A-4147-A177-3AD203B41FA5}">
                      <a16:colId xmlns:a16="http://schemas.microsoft.com/office/drawing/2014/main" val="20003"/>
                    </a:ext>
                  </a:extLst>
                </a:gridCol>
                <a:gridCol w="964907">
                  <a:extLst>
                    <a:ext uri="{9D8B030D-6E8A-4147-A177-3AD203B41FA5}">
                      <a16:colId xmlns:a16="http://schemas.microsoft.com/office/drawing/2014/main" val="20004"/>
                    </a:ext>
                  </a:extLst>
                </a:gridCol>
              </a:tblGrid>
              <a:tr h="384071">
                <a:tc>
                  <a:txBody>
                    <a:bodyPr/>
                    <a:lstStyle/>
                    <a:p>
                      <a:pPr algn="ctr"/>
                      <a:r>
                        <a:rPr lang="de-DE" sz="1400"/>
                        <a:t>1</a:t>
                      </a:r>
                    </a:p>
                  </a:txBody>
                  <a:tcPr marL="103680" marR="103680" marT="54261" marB="54261" anchor="ctr"/>
                </a:tc>
                <a:tc>
                  <a:txBody>
                    <a:bodyPr/>
                    <a:lstStyle/>
                    <a:p>
                      <a:pPr algn="ctr"/>
                      <a:r>
                        <a:rPr lang="de-DE" sz="1400"/>
                        <a:t>2</a:t>
                      </a:r>
                    </a:p>
                  </a:txBody>
                  <a:tcPr marL="103680" marR="103680" marT="54261" marB="54261" anchor="ctr"/>
                </a:tc>
                <a:tc>
                  <a:txBody>
                    <a:bodyPr/>
                    <a:lstStyle/>
                    <a:p>
                      <a:pPr algn="ctr"/>
                      <a:r>
                        <a:rPr lang="de-DE" sz="1400"/>
                        <a:t>3</a:t>
                      </a:r>
                    </a:p>
                  </a:txBody>
                  <a:tcPr marL="103680" marR="103680" marT="54261" marB="54261" anchor="ctr"/>
                </a:tc>
                <a:tc>
                  <a:txBody>
                    <a:bodyPr/>
                    <a:lstStyle/>
                    <a:p>
                      <a:pPr algn="ctr"/>
                      <a:r>
                        <a:rPr lang="de-DE" sz="1400"/>
                        <a:t>4</a:t>
                      </a:r>
                    </a:p>
                  </a:txBody>
                  <a:tcPr marL="103680" marR="103680" marT="54261" marB="54261" anchor="ctr"/>
                </a:tc>
                <a:tc>
                  <a:txBody>
                    <a:bodyPr/>
                    <a:lstStyle/>
                    <a:p>
                      <a:pPr algn="ctr"/>
                      <a:r>
                        <a:rPr lang="de-DE" sz="1400"/>
                        <a:t>5</a:t>
                      </a:r>
                    </a:p>
                  </a:txBody>
                  <a:tcPr marL="103680" marR="103680" marT="54261" marB="54261" anchor="ctr"/>
                </a:tc>
                <a:extLst>
                  <a:ext uri="{0D108BD9-81ED-4DB2-BD59-A6C34878D82A}">
                    <a16:rowId xmlns:a16="http://schemas.microsoft.com/office/drawing/2014/main" val="10000"/>
                  </a:ext>
                </a:extLst>
              </a:tr>
            </a:tbl>
          </a:graphicData>
        </a:graphic>
      </p:graphicFrame>
      <p:graphicFrame>
        <p:nvGraphicFramePr>
          <p:cNvPr id="15" name="Tabelle 14"/>
          <p:cNvGraphicFramePr>
            <a:graphicFrameLocks noGrp="1"/>
          </p:cNvGraphicFramePr>
          <p:nvPr/>
        </p:nvGraphicFramePr>
        <p:xfrm>
          <a:off x="5157193" y="2123729"/>
          <a:ext cx="337535" cy="4821766"/>
        </p:xfrm>
        <a:graphic>
          <a:graphicData uri="http://schemas.openxmlformats.org/drawingml/2006/table">
            <a:tbl>
              <a:tblPr firstRow="1" bandRow="1">
                <a:tableStyleId>{2D5ABB26-0587-4C30-8999-92F81FD0307C}</a:tableStyleId>
              </a:tblPr>
              <a:tblGrid>
                <a:gridCol w="337535">
                  <a:extLst>
                    <a:ext uri="{9D8B030D-6E8A-4147-A177-3AD203B41FA5}">
                      <a16:colId xmlns:a16="http://schemas.microsoft.com/office/drawing/2014/main" val="20000"/>
                    </a:ext>
                  </a:extLst>
                </a:gridCol>
              </a:tblGrid>
              <a:tr h="792088">
                <a:tc>
                  <a:txBody>
                    <a:bodyPr/>
                    <a:lstStyle/>
                    <a:p>
                      <a:r>
                        <a:rPr lang="de-DE" sz="1400"/>
                        <a:t>f</a:t>
                      </a:r>
                    </a:p>
                  </a:txBody>
                  <a:tcPr marL="103680" marR="103680" marT="54261" marB="54261" anchor="ctr"/>
                </a:tc>
                <a:extLst>
                  <a:ext uri="{0D108BD9-81ED-4DB2-BD59-A6C34878D82A}">
                    <a16:rowId xmlns:a16="http://schemas.microsoft.com/office/drawing/2014/main" val="10000"/>
                  </a:ext>
                </a:extLst>
              </a:tr>
              <a:tr h="792088">
                <a:tc>
                  <a:txBody>
                    <a:bodyPr/>
                    <a:lstStyle/>
                    <a:p>
                      <a:r>
                        <a:rPr lang="de-DE" sz="1400"/>
                        <a:t>e</a:t>
                      </a:r>
                    </a:p>
                  </a:txBody>
                  <a:tcPr marL="103680" marR="103680" marT="54261" marB="54261" anchor="ctr"/>
                </a:tc>
                <a:extLst>
                  <a:ext uri="{0D108BD9-81ED-4DB2-BD59-A6C34878D82A}">
                    <a16:rowId xmlns:a16="http://schemas.microsoft.com/office/drawing/2014/main" val="10001"/>
                  </a:ext>
                </a:extLst>
              </a:tr>
              <a:tr h="792088">
                <a:tc>
                  <a:txBody>
                    <a:bodyPr/>
                    <a:lstStyle/>
                    <a:p>
                      <a:r>
                        <a:rPr lang="de-DE" sz="1400"/>
                        <a:t>d</a:t>
                      </a:r>
                    </a:p>
                  </a:txBody>
                  <a:tcPr marL="103680" marR="103680" marT="54261" marB="54261" anchor="ctr"/>
                </a:tc>
                <a:extLst>
                  <a:ext uri="{0D108BD9-81ED-4DB2-BD59-A6C34878D82A}">
                    <a16:rowId xmlns:a16="http://schemas.microsoft.com/office/drawing/2014/main" val="10002"/>
                  </a:ext>
                </a:extLst>
              </a:tr>
              <a:tr h="792088">
                <a:tc>
                  <a:txBody>
                    <a:bodyPr/>
                    <a:lstStyle/>
                    <a:p>
                      <a:r>
                        <a:rPr lang="de-DE" sz="1400"/>
                        <a:t>c</a:t>
                      </a:r>
                    </a:p>
                  </a:txBody>
                  <a:tcPr marL="103680" marR="103680" marT="54261" marB="54261" anchor="ctr"/>
                </a:tc>
                <a:extLst>
                  <a:ext uri="{0D108BD9-81ED-4DB2-BD59-A6C34878D82A}">
                    <a16:rowId xmlns:a16="http://schemas.microsoft.com/office/drawing/2014/main" val="10003"/>
                  </a:ext>
                </a:extLst>
              </a:tr>
              <a:tr h="864096">
                <a:tc>
                  <a:txBody>
                    <a:bodyPr/>
                    <a:lstStyle/>
                    <a:p>
                      <a:r>
                        <a:rPr lang="de-DE" sz="1400"/>
                        <a:t>b</a:t>
                      </a:r>
                    </a:p>
                  </a:txBody>
                  <a:tcPr marL="103680" marR="103680" marT="54261" marB="54261" anchor="ctr"/>
                </a:tc>
                <a:extLst>
                  <a:ext uri="{0D108BD9-81ED-4DB2-BD59-A6C34878D82A}">
                    <a16:rowId xmlns:a16="http://schemas.microsoft.com/office/drawing/2014/main" val="10004"/>
                  </a:ext>
                </a:extLst>
              </a:tr>
              <a:tr h="789318">
                <a:tc>
                  <a:txBody>
                    <a:bodyPr/>
                    <a:lstStyle/>
                    <a:p>
                      <a:r>
                        <a:rPr lang="de-DE" sz="1400"/>
                        <a:t>a</a:t>
                      </a:r>
                    </a:p>
                  </a:txBody>
                  <a:tcPr marL="103680" marR="103680" marT="54261" marB="54261"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138665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3"/>
          <p:cNvSpPr/>
          <p:nvPr/>
        </p:nvSpPr>
        <p:spPr>
          <a:xfrm>
            <a:off x="404664" y="395536"/>
            <a:ext cx="6048672" cy="369332"/>
          </a:xfrm>
          <a:prstGeom prst="rect">
            <a:avLst/>
          </a:prstGeom>
        </p:spPr>
        <p:txBody>
          <a:bodyPr wrap="square">
            <a:spAutoFit/>
          </a:bodyPr>
          <a:lstStyle/>
          <a:p>
            <a:pPr algn="just"/>
            <a:r>
              <a:rPr lang="de-DE" b="1">
                <a:solidFill>
                  <a:prstClr val="black"/>
                </a:solidFill>
              </a:rPr>
              <a:t>Legend Layer B:</a:t>
            </a:r>
            <a:endParaRPr lang="en-US">
              <a:solidFill>
                <a:prstClr val="black"/>
              </a:solidFill>
            </a:endParaRPr>
          </a:p>
        </p:txBody>
      </p:sp>
      <p:graphicFrame>
        <p:nvGraphicFramePr>
          <p:cNvPr id="3" name="Tabelle 2"/>
          <p:cNvGraphicFramePr>
            <a:graphicFrameLocks noGrp="1"/>
          </p:cNvGraphicFramePr>
          <p:nvPr/>
        </p:nvGraphicFramePr>
        <p:xfrm>
          <a:off x="281136" y="1043608"/>
          <a:ext cx="6172200" cy="3168352"/>
        </p:xfrm>
        <a:graphic>
          <a:graphicData uri="http://schemas.openxmlformats.org/drawingml/2006/table">
            <a:tbl>
              <a:tblPr firstRow="1" firstCol="1" bandRow="1">
                <a:tableStyleId>{5940675A-B579-460E-94D1-54222C63F5DA}</a:tableStyleId>
              </a:tblPr>
              <a:tblGrid>
                <a:gridCol w="1347664">
                  <a:extLst>
                    <a:ext uri="{9D8B030D-6E8A-4147-A177-3AD203B41FA5}">
                      <a16:colId xmlns:a16="http://schemas.microsoft.com/office/drawing/2014/main" val="20000"/>
                    </a:ext>
                  </a:extLst>
                </a:gridCol>
                <a:gridCol w="4824536">
                  <a:extLst>
                    <a:ext uri="{9D8B030D-6E8A-4147-A177-3AD203B41FA5}">
                      <a16:colId xmlns:a16="http://schemas.microsoft.com/office/drawing/2014/main" val="20001"/>
                    </a:ext>
                  </a:extLst>
                </a:gridCol>
              </a:tblGrid>
              <a:tr h="182880">
                <a:tc>
                  <a:txBody>
                    <a:bodyPr/>
                    <a:lstStyle/>
                    <a:p>
                      <a:pPr>
                        <a:spcAft>
                          <a:spcPts val="0"/>
                        </a:spcAft>
                      </a:pPr>
                      <a:r>
                        <a:rPr lang="en-US" sz="1200" b="1">
                          <a:effectLst/>
                        </a:rPr>
                        <a:t>Symbol</a:t>
                      </a:r>
                      <a:endParaRPr lang="en-US" sz="1200" b="1">
                        <a:effectLst/>
                        <a:latin typeface="Arial"/>
                        <a:ea typeface="Times New Roman"/>
                        <a:cs typeface="Times New Roman"/>
                      </a:endParaRPr>
                    </a:p>
                  </a:txBody>
                  <a:tcPr marL="68166" marR="68166" marT="0" marB="0"/>
                </a:tc>
                <a:tc>
                  <a:txBody>
                    <a:bodyPr/>
                    <a:lstStyle/>
                    <a:p>
                      <a:pPr>
                        <a:spcAft>
                          <a:spcPts val="0"/>
                        </a:spcAft>
                      </a:pPr>
                      <a:r>
                        <a:rPr lang="en-US" sz="1200" b="1">
                          <a:effectLst/>
                        </a:rPr>
                        <a:t>Description</a:t>
                      </a:r>
                      <a:endParaRPr lang="en-US" sz="1200" b="1">
                        <a:effectLst/>
                        <a:latin typeface="Arial"/>
                        <a:ea typeface="Times New Roman"/>
                        <a:cs typeface="Times New Roman"/>
                      </a:endParaRPr>
                    </a:p>
                  </a:txBody>
                  <a:tcPr marL="68166" marR="68166" marT="0" marB="0"/>
                </a:tc>
                <a:extLst>
                  <a:ext uri="{0D108BD9-81ED-4DB2-BD59-A6C34878D82A}">
                    <a16:rowId xmlns:a16="http://schemas.microsoft.com/office/drawing/2014/main" val="10000"/>
                  </a:ext>
                </a:extLst>
              </a:tr>
              <a:tr h="1545312">
                <a:tc>
                  <a:txBody>
                    <a:bodyPr/>
                    <a:lstStyle/>
                    <a:p>
                      <a:pPr>
                        <a:spcAft>
                          <a:spcPts val="0"/>
                        </a:spcAft>
                      </a:pPr>
                      <a:endParaRPr lang="en-US" sz="1200">
                        <a:effectLst/>
                        <a:latin typeface="Arial"/>
                        <a:ea typeface="Times New Roman"/>
                        <a:cs typeface="Times New Roman"/>
                      </a:endParaRPr>
                    </a:p>
                  </a:txBody>
                  <a:tcPr marL="68166" marR="68166" marT="0" marB="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err="1">
                          <a:effectLst/>
                          <a:latin typeface="Arial"/>
                          <a:ea typeface="Times New Roman"/>
                          <a:cs typeface="Times New Roman"/>
                        </a:rPr>
                        <a:t>component</a:t>
                      </a:r>
                      <a:r>
                        <a:rPr lang="de-DE" sz="1200">
                          <a:effectLst/>
                          <a:latin typeface="Arial"/>
                          <a:ea typeface="Times New Roman"/>
                          <a:cs typeface="Times New Roman"/>
                        </a:rPr>
                        <a:t> (</a:t>
                      </a:r>
                      <a:r>
                        <a:rPr lang="de-DE" sz="1200" err="1">
                          <a:effectLst/>
                          <a:latin typeface="Arial"/>
                          <a:ea typeface="Times New Roman"/>
                          <a:cs typeface="Times New Roman"/>
                        </a:rPr>
                        <a:t>from</a:t>
                      </a:r>
                      <a:r>
                        <a:rPr lang="de-DE" sz="1200" baseline="0">
                          <a:effectLst/>
                          <a:latin typeface="Arial"/>
                          <a:ea typeface="Times New Roman"/>
                          <a:cs typeface="Times New Roman"/>
                        </a:rPr>
                        <a:t> </a:t>
                      </a:r>
                      <a:r>
                        <a:rPr lang="de-DE" sz="1200" baseline="0" err="1">
                          <a:effectLst/>
                          <a:latin typeface="Arial"/>
                          <a:ea typeface="Times New Roman"/>
                          <a:cs typeface="Times New Roman"/>
                        </a:rPr>
                        <a:t>Component</a:t>
                      </a:r>
                      <a:r>
                        <a:rPr lang="de-DE" sz="1200" baseline="0">
                          <a:effectLst/>
                          <a:latin typeface="Arial"/>
                          <a:ea typeface="Times New Roman"/>
                          <a:cs typeface="Times New Roman"/>
                        </a:rPr>
                        <a:t> Layer)</a:t>
                      </a:r>
                      <a:endParaRPr lang="en-US" sz="1200">
                        <a:effectLst/>
                        <a:latin typeface="Arial"/>
                        <a:ea typeface="Times New Roman"/>
                        <a:cs typeface="Times New Roman"/>
                      </a:endParaRPr>
                    </a:p>
                  </a:txBody>
                  <a:tcPr marL="68166" marR="68166" marT="0" marB="0" anchor="ctr"/>
                </a:tc>
                <a:extLst>
                  <a:ext uri="{0D108BD9-81ED-4DB2-BD59-A6C34878D82A}">
                    <a16:rowId xmlns:a16="http://schemas.microsoft.com/office/drawing/2014/main" val="10001"/>
                  </a:ext>
                </a:extLst>
              </a:tr>
              <a:tr h="648072">
                <a:tc>
                  <a:txBody>
                    <a:bodyPr/>
                    <a:lstStyle/>
                    <a:p>
                      <a:pPr>
                        <a:spcAft>
                          <a:spcPts val="0"/>
                        </a:spcAft>
                      </a:pPr>
                      <a:endParaRPr lang="en-US" sz="1200">
                        <a:effectLst/>
                        <a:latin typeface="Arial"/>
                        <a:ea typeface="Times New Roman"/>
                        <a:cs typeface="Times New Roman"/>
                      </a:endParaRPr>
                    </a:p>
                  </a:txBody>
                  <a:tcPr marL="68166" marR="68166" marT="0" marB="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a:effectLst/>
                          <a:latin typeface="Arial"/>
                          <a:ea typeface="Times New Roman"/>
                          <a:cs typeface="Times New Roman"/>
                        </a:rPr>
                        <a:t>communication protocols for the data exchange</a:t>
                      </a:r>
                      <a:r>
                        <a:rPr lang="en-US" sz="1200" baseline="0">
                          <a:effectLst/>
                          <a:latin typeface="Arial"/>
                          <a:ea typeface="Times New Roman"/>
                          <a:cs typeface="Times New Roman"/>
                        </a:rPr>
                        <a:t> (area)</a:t>
                      </a:r>
                      <a:r>
                        <a:rPr lang="de-DE" sz="1200" baseline="0">
                          <a:effectLst/>
                          <a:latin typeface="Arial"/>
                          <a:ea typeface="Times New Roman"/>
                          <a:cs typeface="Times New Roman"/>
                        </a:rPr>
                        <a:t> </a:t>
                      </a:r>
                      <a:endParaRPr lang="en-US" sz="1200">
                        <a:effectLst/>
                        <a:latin typeface="Arial"/>
                        <a:ea typeface="Times New Roman"/>
                        <a:cs typeface="Times New Roman"/>
                      </a:endParaRPr>
                    </a:p>
                  </a:txBody>
                  <a:tcPr marL="68166" marR="68166" marT="0" marB="0" anchor="ctr"/>
                </a:tc>
                <a:extLst>
                  <a:ext uri="{0D108BD9-81ED-4DB2-BD59-A6C34878D82A}">
                    <a16:rowId xmlns:a16="http://schemas.microsoft.com/office/drawing/2014/main" val="10002"/>
                  </a:ext>
                </a:extLst>
              </a:tr>
              <a:tr h="792088">
                <a:tc>
                  <a:txBody>
                    <a:bodyPr/>
                    <a:lstStyle/>
                    <a:p>
                      <a:pPr>
                        <a:spcAft>
                          <a:spcPts val="0"/>
                        </a:spcAft>
                      </a:pPr>
                      <a:endParaRPr lang="en-US" sz="1200">
                        <a:effectLst/>
                        <a:latin typeface="Arial"/>
                        <a:ea typeface="Times New Roman"/>
                        <a:cs typeface="Times New Roman"/>
                      </a:endParaRPr>
                    </a:p>
                  </a:txBody>
                  <a:tcPr marL="68166" marR="68166" marT="0" marB="0"/>
                </a:tc>
                <a:tc>
                  <a:txBody>
                    <a:bodyPr/>
                    <a:lstStyle/>
                    <a:p>
                      <a:pPr>
                        <a:spcAft>
                          <a:spcPts val="0"/>
                        </a:spcAft>
                      </a:pPr>
                      <a:r>
                        <a:rPr lang="en-US" sz="1200">
                          <a:effectLst/>
                          <a:latin typeface="Arial"/>
                          <a:ea typeface="Times New Roman"/>
                          <a:cs typeface="Times New Roman"/>
                        </a:rPr>
                        <a:t>communication protocols for the data exchange (point-to-point)</a:t>
                      </a:r>
                    </a:p>
                  </a:txBody>
                  <a:tcPr marL="68166" marR="68166" marT="0" marB="0" anchor="ctr"/>
                </a:tc>
                <a:extLst>
                  <a:ext uri="{0D108BD9-81ED-4DB2-BD59-A6C34878D82A}">
                    <a16:rowId xmlns:a16="http://schemas.microsoft.com/office/drawing/2014/main" val="10003"/>
                  </a:ext>
                </a:extLst>
              </a:tr>
            </a:tbl>
          </a:graphicData>
        </a:graphic>
      </p:graphicFrame>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664" y="1331640"/>
            <a:ext cx="4953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4666" y="1750740"/>
            <a:ext cx="485775"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2738" y="1293540"/>
            <a:ext cx="35242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504" y="2291235"/>
            <a:ext cx="47625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1461" y="1824511"/>
            <a:ext cx="514350" cy="466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5"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2336" y="2915819"/>
            <a:ext cx="1133475"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6"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2823" y="3491882"/>
            <a:ext cx="952500" cy="6286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47953323"/>
      </p:ext>
    </p:extLst>
  </p:cSld>
  <p:clrMapOvr>
    <a:masterClrMapping/>
  </p:clrMapOvr>
</p:sld>
</file>

<file path=ppt/theme/theme1.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rnd" cmpd="sng" algn="ctr">
          <a:solidFill>
            <a:schemeClr val="phClr">
              <a:shade val="95000"/>
              <a:satMod val="105000"/>
            </a:schemeClr>
          </a:solidFill>
          <a:prstDash val="solid"/>
        </a:ln>
        <a:ln w="25400" cap="rnd" cmpd="sng" algn="ctr">
          <a:solidFill>
            <a:schemeClr val="phClr"/>
          </a:solidFill>
          <a:prstDash val="solid"/>
        </a:ln>
        <a:ln w="38100" cap="rnd" cmpd="sng" algn="ctr">
          <a:solidFill>
            <a:schemeClr val="phClr"/>
          </a:solidFill>
          <a:prstDash val="solid"/>
        </a:ln>
      </a:lnStyleLst>
      <a:effectStyleLst>
        <a:effectStyle>
          <a:effectLst>
            <a:outerShdw blurRad="40000" dist="20000" dir="5400000">
              <a:srgbClr val="000000">
                <a:alpha val="38000"/>
              </a:srgbClr>
            </a:outerShdw>
          </a:effectLst>
        </a:effectStyle>
        <a:effectStyle>
          <a:effectLst>
            <a:outerShdw blurRad="40000" dist="23000" dir="5400000">
              <a:srgbClr val="000000">
                <a:alpha val="35000"/>
              </a:srgbClr>
            </a:outerShdw>
          </a:effectLst>
        </a:effectStyle>
        <a:effectStyle>
          <a:effectLst>
            <a:outerShdw blurRad="40000" dist="23000" dir="540000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1399</TotalTime>
  <Words>872</Words>
  <Application>Microsoft Office PowerPoint</Application>
  <PresentationFormat>全屏显示(4:3)</PresentationFormat>
  <Paragraphs>262</Paragraphs>
  <Slides>17</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17</vt:i4>
      </vt:variant>
    </vt:vector>
  </HeadingPairs>
  <TitlesOfParts>
    <vt:vector size="20" baseType="lpstr">
      <vt:lpstr>Arial</vt:lpstr>
      <vt:lpstr>Calibri</vt:lpstr>
      <vt:lpstr>Larissa-Design</vt:lpstr>
      <vt:lpstr>Project template use case/SGAM</vt:lpstr>
      <vt:lpstr>Use case/SGAM-Template</vt:lpstr>
      <vt:lpstr>Scope and objectives of [BUC1 Unlock renewable generation potential in heritage-protected urban areas</vt:lpstr>
      <vt:lpstr>Scope and objectives of [UC name] </vt:lpstr>
      <vt:lpstr>Narratives of [UC name]</vt:lpstr>
      <vt:lpstr>PowerPoint 演示文稿</vt:lpstr>
      <vt:lpstr>PowerPoint 演示文稿</vt:lpstr>
      <vt:lpstr>Layer A: Component</vt:lpstr>
      <vt:lpstr>PowerPoint 演示文稿</vt:lpstr>
      <vt:lpstr>Layer E: Business</vt:lpstr>
      <vt:lpstr>PowerPoint 演示文稿</vt:lpstr>
      <vt:lpstr>Layer D: Function</vt:lpstr>
      <vt:lpstr>PowerPoint 演示文稿</vt:lpstr>
      <vt:lpstr>Layer C: Information</vt:lpstr>
      <vt:lpstr>PowerPoint 演示文稿</vt:lpstr>
      <vt:lpstr>Layer B: Communication</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Jörn Trefke</dc:creator>
  <cp:lastModifiedBy>Xutao Chen</cp:lastModifiedBy>
  <cp:revision>95</cp:revision>
  <dcterms:created xsi:type="dcterms:W3CDTF">2013-03-20T12:26:06Z</dcterms:created>
  <dcterms:modified xsi:type="dcterms:W3CDTF">2025-12-17T12:23:15Z</dcterms:modified>
</cp:coreProperties>
</file>