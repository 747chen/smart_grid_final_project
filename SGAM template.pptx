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5"/>
  </p:notesMasterIdLst>
  <p:handoutMasterIdLst>
    <p:handoutMasterId r:id="rId16"/>
  </p:handoutMasterIdLst>
  <p:sldIdLst>
    <p:sldId id="441" r:id="rId2"/>
    <p:sldId id="1282" r:id="rId3"/>
    <p:sldId id="1596" r:id="rId4"/>
    <p:sldId id="1420" r:id="rId5"/>
    <p:sldId id="1409" r:id="rId6"/>
    <p:sldId id="1361" r:id="rId7"/>
    <p:sldId id="1362" r:id="rId8"/>
    <p:sldId id="1616" r:id="rId9"/>
    <p:sldId id="1366" r:id="rId10"/>
    <p:sldId id="1615" r:id="rId11"/>
    <p:sldId id="1602" r:id="rId12"/>
    <p:sldId id="1613" r:id="rId13"/>
    <p:sldId id="1453" r:id="rId14"/>
  </p:sldIdLst>
  <p:sldSz cx="9144000" cy="6858000" type="screen4x3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 2" id="{A95D77C8-08A1-42DB-8C04-2B798C012B90}">
          <p14:sldIdLst>
            <p14:sldId id="441"/>
          </p14:sldIdLst>
        </p14:section>
        <p14:section name="SGAM" id="{490B8006-CF4E-460C-AFA6-37AE114E7482}">
          <p14:sldIdLst>
            <p14:sldId id="1282"/>
            <p14:sldId id="1596"/>
          </p14:sldIdLst>
        </p14:section>
        <p14:section name="SGAM methodology" id="{13448551-5CCC-4574-8E65-16BCB86F8375}">
          <p14:sldIdLst>
            <p14:sldId id="1420"/>
            <p14:sldId id="1409"/>
          </p14:sldIdLst>
        </p14:section>
        <p14:section name="Mapping example" id="{8CB2E7B9-BF7A-4DFF-A18C-97E324A16E93}">
          <p14:sldIdLst>
            <p14:sldId id="1361"/>
            <p14:sldId id="1362"/>
            <p14:sldId id="1616"/>
            <p14:sldId id="1366"/>
            <p14:sldId id="1615"/>
            <p14:sldId id="1602"/>
            <p14:sldId id="1613"/>
            <p14:sldId id="14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341">
          <p15:clr>
            <a:srgbClr val="A4A3A4"/>
          </p15:clr>
        </p15:guide>
        <p15:guide id="4" orient="horz" pos="261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 Olivella-Rosell" initials="PO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020" autoAdjust="0"/>
  </p:normalViewPr>
  <p:slideViewPr>
    <p:cSldViewPr>
      <p:cViewPr varScale="1">
        <p:scale>
          <a:sx n="103" d="100"/>
          <a:sy n="103" d="100"/>
        </p:scale>
        <p:origin x="1156" y="48"/>
      </p:cViewPr>
      <p:guideLst>
        <p:guide orient="horz" pos="2160"/>
        <p:guide pos="2880"/>
        <p:guide orient="horz" pos="2341"/>
        <p:guide orient="horz" pos="2613"/>
      </p:guideLst>
    </p:cSldViewPr>
  </p:slideViewPr>
  <p:outlineViewPr>
    <p:cViewPr>
      <p:scale>
        <a:sx n="33" d="100"/>
        <a:sy n="33" d="100"/>
      </p:scale>
      <p:origin x="0" y="-1605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2"/>
    </p:cViewPr>
  </p:sorterViewPr>
  <p:notesViewPr>
    <p:cSldViewPr>
      <p:cViewPr varScale="1">
        <p:scale>
          <a:sx n="54" d="100"/>
          <a:sy n="54" d="100"/>
        </p:scale>
        <p:origin x="286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2A792-0D51-4E46-8BE4-F6B04DDDCC48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2FC47-D02F-469B-B36C-DD3F4DDC5CED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38189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EE95E23-926D-4A35-B778-E4EFC57C0655}" type="datetimeFigureOut">
              <a:rPr lang="es-ES" smtClean="0"/>
              <a:pPr/>
              <a:t>17/12/2025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148488C-52A7-43CB-B9FA-6C0463BAF2E7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697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48488C-52A7-43CB-B9FA-6C0463BAF2E7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685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8488C-52A7-43CB-B9FA-6C0463BAF2E7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1320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8039-DC86-4AF9-8183-F32BBD5294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3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8488C-52A7-43CB-B9FA-6C0463BAF2E7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50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8488C-52A7-43CB-B9FA-6C0463BAF2E7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8945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8039-DC86-4AF9-8183-F32BBD5294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04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8039-DC86-4AF9-8183-F32BBD5294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40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5E16F9A-DF9F-0FFD-3BDA-2E62CBFCF3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7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l="28959" t="3540" r="688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2 Marcador de texto">
            <a:extLst>
              <a:ext uri="{FF2B5EF4-FFF2-40B4-BE49-F238E27FC236}">
                <a16:creationId xmlns:a16="http://schemas.microsoft.com/office/drawing/2014/main" id="{3E836868-1AE7-6A32-D88D-6338142D1C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800" y="5904095"/>
            <a:ext cx="7772400" cy="7801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13851A5-EAFC-259F-4A1A-1AFA7924F3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317" y="173798"/>
            <a:ext cx="6076950" cy="1619250"/>
          </a:xfrm>
          <a:prstGeom prst="rect">
            <a:avLst/>
          </a:prstGeom>
        </p:spPr>
      </p:pic>
      <p:sp>
        <p:nvSpPr>
          <p:cNvPr id="45" name="1 Título">
            <a:extLst>
              <a:ext uri="{FF2B5EF4-FFF2-40B4-BE49-F238E27FC236}">
                <a16:creationId xmlns:a16="http://schemas.microsoft.com/office/drawing/2014/main" id="{A1B47A1E-A1C4-C8AF-DB22-49676E0B4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1730" y="2372903"/>
            <a:ext cx="4860540" cy="1056097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n-GB" noProof="0" dirty="0"/>
              <a:t>Smart Grids</a:t>
            </a:r>
          </a:p>
        </p:txBody>
      </p:sp>
    </p:spTree>
    <p:extLst>
      <p:ext uri="{BB962C8B-B14F-4D97-AF65-F5344CB8AC3E}">
        <p14:creationId xmlns:p14="http://schemas.microsoft.com/office/powerpoint/2010/main" val="3636960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027F8B3-BBF5-5053-51E3-991F270E1C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1012" y="883188"/>
            <a:ext cx="3401975" cy="509162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74262B7-FF64-3054-1DB3-519912B7E84D}"/>
              </a:ext>
            </a:extLst>
          </p:cNvPr>
          <p:cNvSpPr/>
          <p:nvPr userDrawn="1"/>
        </p:nvSpPr>
        <p:spPr>
          <a:xfrm>
            <a:off x="2123728" y="6638926"/>
            <a:ext cx="5019617" cy="216694"/>
          </a:xfrm>
          <a:prstGeom prst="rect">
            <a:avLst/>
          </a:prstGeom>
          <a:solidFill>
            <a:srgbClr val="A6D1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A38279-22BF-B825-CD70-A417214F6CBE}"/>
              </a:ext>
            </a:extLst>
          </p:cNvPr>
          <p:cNvSpPr/>
          <p:nvPr userDrawn="1"/>
        </p:nvSpPr>
        <p:spPr>
          <a:xfrm>
            <a:off x="0" y="6639347"/>
            <a:ext cx="2123727" cy="218653"/>
          </a:xfrm>
          <a:prstGeom prst="rect">
            <a:avLst/>
          </a:prstGeom>
          <a:solidFill>
            <a:srgbClr val="E6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BBC328-4624-F120-9241-D46C20AB1154}"/>
              </a:ext>
            </a:extLst>
          </p:cNvPr>
          <p:cNvSpPr/>
          <p:nvPr userDrawn="1"/>
        </p:nvSpPr>
        <p:spPr>
          <a:xfrm>
            <a:off x="7143344" y="6638925"/>
            <a:ext cx="2000655" cy="216694"/>
          </a:xfrm>
          <a:prstGeom prst="rect">
            <a:avLst/>
          </a:prstGeom>
          <a:solidFill>
            <a:srgbClr val="7FB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bject 11">
            <a:extLst>
              <a:ext uri="{FF2B5EF4-FFF2-40B4-BE49-F238E27FC236}">
                <a16:creationId xmlns:a16="http://schemas.microsoft.com/office/drawing/2014/main" id="{A474BD47-0097-825F-6AB2-F7EFE5BFE88E}"/>
              </a:ext>
            </a:extLst>
          </p:cNvPr>
          <p:cNvSpPr txBox="1">
            <a:spLocks/>
          </p:cNvSpPr>
          <p:nvPr userDrawn="1"/>
        </p:nvSpPr>
        <p:spPr>
          <a:xfrm>
            <a:off x="205316" y="6655973"/>
            <a:ext cx="2286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Paula G. Font de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Rubinat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36" name="Obraz 7">
            <a:extLst>
              <a:ext uri="{FF2B5EF4-FFF2-40B4-BE49-F238E27FC236}">
                <a16:creationId xmlns:a16="http://schemas.microsoft.com/office/drawing/2014/main" id="{1EE414E8-064B-AFAB-29B2-BAC3F1C840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262" y="6620972"/>
            <a:ext cx="4203476" cy="2674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54DB9BA-58EA-0FD7-40BF-68E107A9D20D}"/>
              </a:ext>
            </a:extLst>
          </p:cNvPr>
          <p:cNvSpPr txBox="1"/>
          <p:nvPr userDrawn="1"/>
        </p:nvSpPr>
        <p:spPr>
          <a:xfrm>
            <a:off x="8694168" y="6616219"/>
            <a:ext cx="449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21F0147-F947-410B-AF3F-7C6EC3C15107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‹#›</a:t>
            </a:fld>
            <a:endParaRPr lang="en-US" sz="12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229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668F35-D837-8B70-1555-D64529A335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1012" y="883188"/>
            <a:ext cx="3401975" cy="509162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C8B3644-0140-FF5E-D259-2102B8DFE845}"/>
              </a:ext>
            </a:extLst>
          </p:cNvPr>
          <p:cNvSpPr/>
          <p:nvPr userDrawn="1"/>
        </p:nvSpPr>
        <p:spPr>
          <a:xfrm>
            <a:off x="2123728" y="6638926"/>
            <a:ext cx="5019617" cy="216694"/>
          </a:xfrm>
          <a:prstGeom prst="rect">
            <a:avLst/>
          </a:prstGeom>
          <a:solidFill>
            <a:srgbClr val="A6D1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2A587F-B0C6-4A5E-AEE9-ECD685E85DA5}"/>
              </a:ext>
            </a:extLst>
          </p:cNvPr>
          <p:cNvSpPr/>
          <p:nvPr userDrawn="1"/>
        </p:nvSpPr>
        <p:spPr>
          <a:xfrm>
            <a:off x="0" y="6639347"/>
            <a:ext cx="2123727" cy="218653"/>
          </a:xfrm>
          <a:prstGeom prst="rect">
            <a:avLst/>
          </a:prstGeom>
          <a:solidFill>
            <a:srgbClr val="E6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865DB2-2A69-7D5F-3F9D-574A0ABF50F7}"/>
              </a:ext>
            </a:extLst>
          </p:cNvPr>
          <p:cNvSpPr/>
          <p:nvPr userDrawn="1"/>
        </p:nvSpPr>
        <p:spPr>
          <a:xfrm>
            <a:off x="7143344" y="6638925"/>
            <a:ext cx="2000655" cy="216694"/>
          </a:xfrm>
          <a:prstGeom prst="rect">
            <a:avLst/>
          </a:prstGeom>
          <a:solidFill>
            <a:srgbClr val="7FB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Obraz 7">
            <a:extLst>
              <a:ext uri="{FF2B5EF4-FFF2-40B4-BE49-F238E27FC236}">
                <a16:creationId xmlns:a16="http://schemas.microsoft.com/office/drawing/2014/main" id="{9317D8D7-685C-1889-377B-6C3B5B9F1B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262" y="6620972"/>
            <a:ext cx="4203476" cy="26749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5C71728-DF4A-C068-E4F1-644CF090FE17}"/>
              </a:ext>
            </a:extLst>
          </p:cNvPr>
          <p:cNvSpPr txBox="1"/>
          <p:nvPr userDrawn="1"/>
        </p:nvSpPr>
        <p:spPr>
          <a:xfrm>
            <a:off x="8694168" y="6616219"/>
            <a:ext cx="449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21F0147-F947-410B-AF3F-7C6EC3C15107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‹#›</a:t>
            </a:fld>
            <a:endParaRPr lang="en-US" sz="12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0568B184-6B3C-B23D-E021-7AF7399FD951}"/>
              </a:ext>
            </a:extLst>
          </p:cNvPr>
          <p:cNvSpPr txBox="1">
            <a:spLocks/>
          </p:cNvSpPr>
          <p:nvPr userDrawn="1"/>
        </p:nvSpPr>
        <p:spPr>
          <a:xfrm>
            <a:off x="205316" y="6655973"/>
            <a:ext cx="2286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Paula G. Font de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Rubinat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884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E94F-AD75-9C08-E640-D8CDDE8D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2F159-213A-C97B-B7B3-E8F2E3CB7D0F}"/>
              </a:ext>
            </a:extLst>
          </p:cNvPr>
          <p:cNvSpPr/>
          <p:nvPr userDrawn="1"/>
        </p:nvSpPr>
        <p:spPr>
          <a:xfrm>
            <a:off x="2123728" y="6638926"/>
            <a:ext cx="5019617" cy="216694"/>
          </a:xfrm>
          <a:prstGeom prst="rect">
            <a:avLst/>
          </a:prstGeom>
          <a:solidFill>
            <a:srgbClr val="A6D1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C377FE-A532-1CFC-5785-F909564B7D51}"/>
              </a:ext>
            </a:extLst>
          </p:cNvPr>
          <p:cNvSpPr/>
          <p:nvPr userDrawn="1"/>
        </p:nvSpPr>
        <p:spPr>
          <a:xfrm>
            <a:off x="0" y="6639347"/>
            <a:ext cx="2123727" cy="218653"/>
          </a:xfrm>
          <a:prstGeom prst="rect">
            <a:avLst/>
          </a:prstGeom>
          <a:solidFill>
            <a:srgbClr val="E6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C3305E-EEE1-41CB-CCEC-050A5D2963B6}"/>
              </a:ext>
            </a:extLst>
          </p:cNvPr>
          <p:cNvSpPr/>
          <p:nvPr userDrawn="1"/>
        </p:nvSpPr>
        <p:spPr>
          <a:xfrm>
            <a:off x="7143344" y="6638925"/>
            <a:ext cx="2000655" cy="216694"/>
          </a:xfrm>
          <a:prstGeom prst="rect">
            <a:avLst/>
          </a:prstGeom>
          <a:solidFill>
            <a:srgbClr val="7FB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7">
            <a:extLst>
              <a:ext uri="{FF2B5EF4-FFF2-40B4-BE49-F238E27FC236}">
                <a16:creationId xmlns:a16="http://schemas.microsoft.com/office/drawing/2014/main" id="{6F97A0E4-C7BE-DDAA-ABF5-C531B0EFB1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262" y="6620972"/>
            <a:ext cx="4203476" cy="2674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C40748-EC26-3727-8068-6A569A3510C0}"/>
              </a:ext>
            </a:extLst>
          </p:cNvPr>
          <p:cNvSpPr txBox="1"/>
          <p:nvPr userDrawn="1"/>
        </p:nvSpPr>
        <p:spPr>
          <a:xfrm>
            <a:off x="8694168" y="6616219"/>
            <a:ext cx="449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021F0147-F947-410B-AF3F-7C6EC3C15107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‹#›</a:t>
            </a:fld>
            <a:endParaRPr lang="en-US" sz="12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A386E9E1-0685-7CED-42CD-E3C7FE604D0B}"/>
              </a:ext>
            </a:extLst>
          </p:cNvPr>
          <p:cNvSpPr txBox="1">
            <a:spLocks/>
          </p:cNvSpPr>
          <p:nvPr userDrawn="1"/>
        </p:nvSpPr>
        <p:spPr>
          <a:xfrm>
            <a:off x="205316" y="6655973"/>
            <a:ext cx="2286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Paula G. Font de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Rubinat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262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98560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0B2995-CF35-9975-52AB-9CA1A11418A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32298" y="6095149"/>
            <a:ext cx="4679404" cy="56408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Paula González Font de </a:t>
            </a:r>
            <a:r>
              <a:rPr lang="es-ES" dirty="0" err="1">
                <a:solidFill>
                  <a:schemeClr val="tx1"/>
                </a:solidFill>
              </a:rPr>
              <a:t>Rubinat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0B441F-9A19-D900-ECF6-42AB6E24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502" y="2586686"/>
            <a:ext cx="5492842" cy="1368151"/>
          </a:xfrm>
        </p:spPr>
        <p:txBody>
          <a:bodyPr>
            <a:normAutofit/>
          </a:bodyPr>
          <a:lstStyle/>
          <a:p>
            <a:r>
              <a:rPr lang="pt-BR" sz="6000" dirty="0"/>
              <a:t>Smart Grids</a:t>
            </a:r>
            <a:endParaRPr lang="en-US" sz="600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4BA3D35-423E-8453-ED39-A7C6B6DF45B0}"/>
              </a:ext>
            </a:extLst>
          </p:cNvPr>
          <p:cNvSpPr txBox="1">
            <a:spLocks/>
          </p:cNvSpPr>
          <p:nvPr/>
        </p:nvSpPr>
        <p:spPr>
          <a:xfrm>
            <a:off x="683568" y="3949167"/>
            <a:ext cx="7704856" cy="19281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j-ea"/>
                <a:cs typeface="+mj-cs"/>
              </a:rPr>
              <a:t>SGAM Mapping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Ubuntu"/>
              </a:rPr>
              <a:t>templates</a:t>
            </a:r>
            <a:endParaRPr kumimoji="0" lang="en-US" sz="40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040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/>
          <a:srcRect t="2314" r="5145" b="498"/>
          <a:stretch>
            <a:fillRect/>
          </a:stretch>
        </p:blipFill>
        <p:spPr bwMode="auto">
          <a:xfrm>
            <a:off x="2311888" y="1340769"/>
            <a:ext cx="6076536" cy="4708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SGAM Framework</a:t>
            </a:r>
          </a:p>
        </p:txBody>
      </p:sp>
      <p:sp>
        <p:nvSpPr>
          <p:cNvPr id="10" name="CuadroTexto 6"/>
          <p:cNvSpPr txBox="1"/>
          <p:nvPr/>
        </p:nvSpPr>
        <p:spPr>
          <a:xfrm>
            <a:off x="3419872" y="6165304"/>
            <a:ext cx="5530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Source</a:t>
            </a:r>
            <a:r>
              <a:rPr lang="es-ES" sz="1000" dirty="0"/>
              <a:t>: Smart </a:t>
            </a:r>
            <a:r>
              <a:rPr lang="es-ES" sz="1000" dirty="0" err="1"/>
              <a:t>Grid</a:t>
            </a:r>
            <a:r>
              <a:rPr lang="es-ES" sz="1000" dirty="0"/>
              <a:t> Reference </a:t>
            </a:r>
            <a:r>
              <a:rPr lang="es-ES" sz="1000" dirty="0" err="1"/>
              <a:t>Architecture</a:t>
            </a:r>
            <a:r>
              <a:rPr lang="es-ES" sz="1000" dirty="0"/>
              <a:t>,</a:t>
            </a:r>
            <a:r>
              <a:rPr lang="en-US" sz="1000" dirty="0"/>
              <a:t> CEN-</a:t>
            </a:r>
            <a:r>
              <a:rPr lang="en-US" sz="1000" dirty="0" err="1"/>
              <a:t>CENELEC</a:t>
            </a:r>
            <a:r>
              <a:rPr lang="en-US" sz="1000" dirty="0"/>
              <a:t>-</a:t>
            </a:r>
            <a:r>
              <a:rPr lang="en-US" sz="1000" dirty="0" err="1"/>
              <a:t>ETSI</a:t>
            </a:r>
            <a:r>
              <a:rPr lang="en-US" sz="1000" dirty="0"/>
              <a:t> Smart Grid Coordination Group</a:t>
            </a:r>
            <a:r>
              <a:rPr lang="es-ES" sz="1000" dirty="0"/>
              <a:t> 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034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C9E56C1-68DE-D441-BA86-62CA1066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Layers abstraction level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6956714-1F63-E04C-BB0B-689A10859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68" y="1484784"/>
            <a:ext cx="7413864" cy="4758974"/>
          </a:xfr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C36DB3F-C15E-1341-8174-3934FC4BA2CD}"/>
              </a:ext>
            </a:extLst>
          </p:cNvPr>
          <p:cNvSpPr txBox="1"/>
          <p:nvPr/>
        </p:nvSpPr>
        <p:spPr>
          <a:xfrm>
            <a:off x="1763688" y="6125517"/>
            <a:ext cx="6205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SGAM User Manual - Applying, testing &amp; refining the Smart Grid Architecture Model (SGAM) 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65391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SGAM Methodology</a:t>
            </a:r>
            <a:endParaRPr lang="en-US" dirty="0"/>
          </a:p>
        </p:txBody>
      </p:sp>
      <p:pic>
        <p:nvPicPr>
          <p:cNvPr id="4" name="Picture 228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1475"/>
            <a:ext cx="8229600" cy="4403413"/>
          </a:xfr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9C2429C-F3E9-CC4A-92E8-5F020560CCDB}"/>
              </a:ext>
            </a:extLst>
          </p:cNvPr>
          <p:cNvSpPr txBox="1"/>
          <p:nvPr/>
        </p:nvSpPr>
        <p:spPr>
          <a:xfrm>
            <a:off x="1689519" y="6162965"/>
            <a:ext cx="5764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Source: D1.3 </a:t>
            </a:r>
            <a:r>
              <a:rPr lang="en-US" sz="1200" dirty="0"/>
              <a:t>Interoperability and Integration Analysis and Requirements</a:t>
            </a:r>
            <a:r>
              <a:rPr lang="en-GB" sz="1200" dirty="0"/>
              <a:t> - </a:t>
            </a:r>
            <a:r>
              <a:rPr lang="en-GB" sz="1200" dirty="0" err="1"/>
              <a:t>Resolvd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03677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D226E-FB71-F643-934E-141AB09B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Use case mapping process to SGAM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CC52DA-2BC2-4281-B6D5-2FF0EDB63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8DC0CED2-0069-944D-8152-42B839215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636410"/>
            <a:ext cx="8577286" cy="4103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3382CBC-AFA3-B249-9795-4E13947B84E8}"/>
              </a:ext>
            </a:extLst>
          </p:cNvPr>
          <p:cNvSpPr txBox="1"/>
          <p:nvPr/>
        </p:nvSpPr>
        <p:spPr>
          <a:xfrm>
            <a:off x="1475656" y="5931540"/>
            <a:ext cx="6863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Source: SGAM User Manual - Applying, testing &amp; refining the Smart Grid Architecture Model (SGAM) </a:t>
            </a:r>
          </a:p>
          <a:p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259632" y="1844824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0232" y="184482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SGAM</a:t>
            </a:r>
          </a:p>
        </p:txBody>
      </p:sp>
    </p:spTree>
    <p:extLst>
      <p:ext uri="{BB962C8B-B14F-4D97-AF65-F5344CB8AC3E}">
        <p14:creationId xmlns:p14="http://schemas.microsoft.com/office/powerpoint/2010/main" val="424396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/>
              <a:t>Use case </a:t>
            </a:r>
            <a:r>
              <a:rPr lang="es-ES" dirty="0" err="1"/>
              <a:t>template</a:t>
            </a:r>
            <a:endParaRPr lang="en-US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781050" y="2950029"/>
            <a:ext cx="7886700" cy="3379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319408"/>
              </p:ext>
            </p:extLst>
          </p:nvPr>
        </p:nvGraphicFramePr>
        <p:xfrm>
          <a:off x="778100" y="1844824"/>
          <a:ext cx="7501629" cy="3447784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630710">
                  <a:extLst>
                    <a:ext uri="{9D8B030D-6E8A-4147-A177-3AD203B41FA5}">
                      <a16:colId xmlns:a16="http://schemas.microsoft.com/office/drawing/2014/main" val="2807003524"/>
                    </a:ext>
                  </a:extLst>
                </a:gridCol>
                <a:gridCol w="5870919">
                  <a:extLst>
                    <a:ext uri="{9D8B030D-6E8A-4147-A177-3AD203B41FA5}">
                      <a16:colId xmlns:a16="http://schemas.microsoft.com/office/drawing/2014/main" val="2428584916"/>
                    </a:ext>
                  </a:extLst>
                </a:gridCol>
              </a:tblGrid>
              <a:tr h="46003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noProof="0" dirty="0">
                          <a:effectLst/>
                        </a:rPr>
                        <a:t>Name</a:t>
                      </a:r>
                      <a:endParaRPr lang="en-GB" sz="1200" b="1" noProof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GB" sz="1200" noProof="0" dirty="0">
                        <a:effectLst/>
                      </a:endParaRPr>
                    </a:p>
                  </a:txBody>
                  <a:tcPr marL="67579" marR="67579" marT="0" marB="0" anchor="ctr"/>
                </a:tc>
                <a:extLst>
                  <a:ext uri="{0D108BD9-81ED-4DB2-BD59-A6C34878D82A}">
                    <a16:rowId xmlns:a16="http://schemas.microsoft.com/office/drawing/2014/main" val="955243667"/>
                  </a:ext>
                </a:extLst>
              </a:tr>
              <a:tr h="21415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noProof="0" dirty="0">
                          <a:effectLst/>
                        </a:rPr>
                        <a:t>Objective</a:t>
                      </a:r>
                      <a:endParaRPr lang="en-GB" sz="1200" b="1" noProof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GB" sz="1200" b="0" noProof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extLst>
                  <a:ext uri="{0D108BD9-81ED-4DB2-BD59-A6C34878D82A}">
                    <a16:rowId xmlns:a16="http://schemas.microsoft.com/office/drawing/2014/main" val="554355573"/>
                  </a:ext>
                </a:extLst>
              </a:tr>
              <a:tr h="31726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noProof="0" dirty="0">
                          <a:effectLst/>
                        </a:rPr>
                        <a:t>Actors</a:t>
                      </a:r>
                      <a:endParaRPr lang="en-GB" sz="1200" b="1" noProof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GB" sz="1200" b="0" noProof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extLst>
                  <a:ext uri="{0D108BD9-81ED-4DB2-BD59-A6C34878D82A}">
                    <a16:rowId xmlns:a16="http://schemas.microsoft.com/office/drawing/2014/main" val="1253868972"/>
                  </a:ext>
                </a:extLst>
              </a:tr>
              <a:tr h="42831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noProof="0" dirty="0">
                          <a:effectLst/>
                        </a:rPr>
                        <a:t>Relation to other use cases</a:t>
                      </a:r>
                      <a:endParaRPr lang="en-GB" sz="1200" b="1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GB" sz="1200" b="0" noProof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extLst>
                  <a:ext uri="{0D108BD9-81ED-4DB2-BD59-A6C34878D82A}">
                    <a16:rowId xmlns:a16="http://schemas.microsoft.com/office/drawing/2014/main" val="1744676820"/>
                  </a:ext>
                </a:extLst>
              </a:tr>
              <a:tr h="25878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b="1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Viewpoint and type</a:t>
                      </a:r>
                    </a:p>
                  </a:txBody>
                  <a:tcPr marL="67579" marR="6757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GB" sz="120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579" marR="67579" marT="0" marB="0" anchor="ctr"/>
                </a:tc>
                <a:extLst>
                  <a:ext uri="{0D108BD9-81ED-4DB2-BD59-A6C34878D82A}">
                    <a16:rowId xmlns:a16="http://schemas.microsoft.com/office/drawing/2014/main" val="59777551"/>
                  </a:ext>
                </a:extLst>
              </a:tr>
              <a:tr h="178869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200" noProof="0" dirty="0">
                          <a:effectLst/>
                        </a:rPr>
                        <a:t>Description</a:t>
                      </a:r>
                      <a:endParaRPr lang="en-GB" sz="1200" b="1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79" marR="67579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768220"/>
                  </a:ext>
                </a:extLst>
              </a:tr>
              <a:tr h="1586344"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GB" sz="1200" b="0" baseline="0" noProof="0" dirty="0">
                        <a:effectLst/>
                      </a:endParaRPr>
                    </a:p>
                  </a:txBody>
                  <a:tcPr marL="67579" marR="67579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98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49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/>
              <a:t>Business </a:t>
            </a:r>
            <a:r>
              <a:rPr lang="es-ES" dirty="0" err="1"/>
              <a:t>layer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B19BD9-F47E-46B4-BAA6-AEC31CE69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44" y="1926950"/>
            <a:ext cx="6817860" cy="431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F640EE-480C-4AED-B5F7-4BB20FBB8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0" y="846138"/>
            <a:ext cx="1310640" cy="66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/>
              <a:t>Business </a:t>
            </a:r>
            <a:r>
              <a:rPr lang="es-ES" dirty="0" err="1"/>
              <a:t>layer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B0C1B-1C0F-41FA-BD41-B81A0C45E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4" y="1989138"/>
            <a:ext cx="8820472" cy="3878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1BE5AC-3E5D-4501-9914-EF401270B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910" y="1139555"/>
            <a:ext cx="4607330" cy="5561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50C2BD-72E8-4EA2-AB8A-E7DB07CB9E2D}"/>
              </a:ext>
            </a:extLst>
          </p:cNvPr>
          <p:cNvSpPr txBox="1"/>
          <p:nvPr/>
        </p:nvSpPr>
        <p:spPr>
          <a:xfrm>
            <a:off x="4540450" y="1232972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600" dirty="0"/>
              <a:t>BUC 1: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9862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 err="1"/>
              <a:t>Function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424481-F575-459B-98F6-0E8A3C675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36" y="1417638"/>
            <a:ext cx="7464127" cy="4732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5899BB-0112-4E6F-A304-14A6B1216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64" y="514668"/>
            <a:ext cx="1310640" cy="66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78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 err="1"/>
              <a:t>Function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66905-269D-4487-93CB-9B3263F77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53" y="2420888"/>
            <a:ext cx="8672094" cy="3813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CC11F6-BB0B-4940-8829-72C4FB8C4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1" y="1391370"/>
            <a:ext cx="8820472" cy="79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6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 err="1"/>
              <a:t>Components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2A99A7-C513-488A-9278-EED2479D1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68" y="1772816"/>
            <a:ext cx="8460432" cy="372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2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 err="1"/>
              <a:t>Components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9648B0-DC13-4DA3-ADAA-CC277F9A8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9346"/>
            <a:ext cx="7596336" cy="482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47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0B441F-9A19-D900-ECF6-42AB6E24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502" y="2586686"/>
            <a:ext cx="5220580" cy="1368151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Smart Grids</a:t>
            </a:r>
            <a:endParaRPr lang="en-US" sz="6000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EEBBE6A7-BE68-4FA8-B13A-09536F464F2A}"/>
              </a:ext>
            </a:extLst>
          </p:cNvPr>
          <p:cNvSpPr txBox="1">
            <a:spLocks/>
          </p:cNvSpPr>
          <p:nvPr/>
        </p:nvSpPr>
        <p:spPr>
          <a:xfrm>
            <a:off x="2232298" y="6095149"/>
            <a:ext cx="4679404" cy="5640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>
                <a:solidFill>
                  <a:schemeClr val="tx1"/>
                </a:solidFill>
              </a:rPr>
              <a:t>Paula González Font de </a:t>
            </a:r>
            <a:r>
              <a:rPr lang="es-ES" dirty="0" err="1">
                <a:solidFill>
                  <a:schemeClr val="tx1"/>
                </a:solidFill>
              </a:rPr>
              <a:t>Rubinat</a:t>
            </a: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22548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buntu">
      <a:majorFont>
        <a:latin typeface="Ubuntu"/>
        <a:ea typeface=""/>
        <a:cs typeface=""/>
      </a:majorFont>
      <a:minorFont>
        <a:latin typeface="Ubuntu"/>
        <a:ea typeface=""/>
        <a:cs typeface="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62283</TotalTime>
  <Words>130</Words>
  <Application>Microsoft Office PowerPoint</Application>
  <PresentationFormat>全屏显示(4:3)</PresentationFormat>
  <Paragraphs>37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Ubuntu</vt:lpstr>
      <vt:lpstr>1_Tema de Office</vt:lpstr>
      <vt:lpstr>Smart Grids</vt:lpstr>
      <vt:lpstr>SGAM Framework</vt:lpstr>
      <vt:lpstr>Layers abstraction level</vt:lpstr>
      <vt:lpstr>SGAM Methodology</vt:lpstr>
      <vt:lpstr>Use case mapping process to SGAM</vt:lpstr>
      <vt:lpstr>Use case template</vt:lpstr>
      <vt:lpstr>Business layer</vt:lpstr>
      <vt:lpstr>Business layer</vt:lpstr>
      <vt:lpstr>Function layer</vt:lpstr>
      <vt:lpstr>Function layer</vt:lpstr>
      <vt:lpstr>Components layer</vt:lpstr>
      <vt:lpstr>Components layer</vt:lpstr>
      <vt:lpstr>Smart Grids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Sara</dc:creator>
  <cp:lastModifiedBy>Xutao Chen</cp:lastModifiedBy>
  <cp:revision>716</cp:revision>
  <cp:lastPrinted>2020-10-07T08:38:32Z</cp:lastPrinted>
  <dcterms:created xsi:type="dcterms:W3CDTF">2009-02-28T10:46:54Z</dcterms:created>
  <dcterms:modified xsi:type="dcterms:W3CDTF">2025-12-17T12:23:11Z</dcterms:modified>
</cp:coreProperties>
</file>